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бори завдань" id="{74141569-1B6A-EED6-E520-7019B3387B8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25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T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371600"/>
            <a:ext cx="11094415" cy="1929384"/>
          </a:xfrm>
          <a:prstGeom prst="roundRect">
            <a:avLst>
              <a:gd name="adj" fmla="val 473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 </a:t>
            </a:r>
            <a:r>
              <a:rPr lang="en-US" sz="3600" dirty="0">
                <a:solidFill>
                  <a:schemeClr val="tx1"/>
                </a:solidFill>
              </a:rPr>
              <a:t>Камінь кинули вертикально вгору. Яке прискорення він має під час руху вгору? А під час падіння?</a:t>
            </a:r>
            <a:endParaRPr lang="en-US" sz="3600" dirty="0"/>
          </a:p>
        </p:txBody>
      </p:sp>
      <p:sp>
        <p:nvSpPr>
          <p:cNvPr id="4" name="q2"/>
          <p:cNvSpPr txBox="1"/>
          <p:nvPr/>
        </p:nvSpPr>
        <p:spPr>
          <a:xfrm>
            <a:off x="548640" y="3712464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2. </a:t>
            </a:r>
            <a:r>
              <a:rPr lang="en-US" sz="3600" dirty="0">
                <a:solidFill>
                  <a:schemeClr val="tx1"/>
                </a:solidFill>
              </a:rPr>
              <a:t>Знайдіть та виправте помилку: під час зіткнення двох тіл імпульс кожного тіла окремо зберігається.</a:t>
            </a:r>
            <a:endParaRPr lang="en-US" sz="3600" dirty="0"/>
          </a:p>
        </p:txBody>
      </p:sp>
      <p:sp>
        <p:nvSpPr>
          <p:cNvPr id="5" name="q3"/>
          <p:cNvSpPr txBox="1"/>
          <p:nvPr/>
        </p:nvSpPr>
        <p:spPr>
          <a:xfrm>
            <a:off x="548640" y="5495544"/>
            <a:ext cx="11094415" cy="813816"/>
          </a:xfrm>
          <a:prstGeom prst="roundRect">
            <a:avLst>
              <a:gd name="adj" fmla="val 1123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 </a:t>
            </a:r>
            <a:r>
              <a:rPr lang="en-US" sz="3600" dirty="0">
                <a:solidFill>
                  <a:schemeClr val="tx1"/>
                </a:solidFill>
              </a:rPr>
              <a:t>Запишіть рівняння Менделєєва–Клапейрона.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11094415" cy="1247648"/>
          </a:xfrm>
          <a:prstGeom prst="roundRect">
            <a:avLst>
              <a:gd name="adj" fmla="val 732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1. </a:t>
            </a:r>
            <a:r>
              <a:rPr lang="en-US" sz="3200" dirty="0">
                <a:solidFill>
                  <a:schemeClr val="tx1"/>
                </a:solidFill>
              </a:rPr>
              <a:t>Знайдіть та виправте помилку: при рівномірному русі по колу швидкість стала, тому прискорення відсутнє.</a:t>
            </a:r>
            <a:endParaRPr lang="en-US" sz="32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720848"/>
            <a:ext cx="11094415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2. </a:t>
            </a:r>
            <a:r>
              <a:rPr lang="en-US" sz="3200" dirty="0">
                <a:solidFill>
                  <a:schemeClr val="tx1"/>
                </a:solidFill>
              </a:rPr>
              <a:t>Знайдіть та виправте помилку: якщо система замкнена, кінетична енергія системи завжди зберігається.</a:t>
            </a:r>
            <a:endParaRPr lang="en-US" sz="32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748784"/>
            <a:ext cx="11094415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3. </a:t>
            </a:r>
            <a:r>
              <a:rPr lang="en-US" sz="3200" dirty="0">
                <a:solidFill>
                  <a:schemeClr val="tx1"/>
                </a:solidFill>
              </a:rPr>
              <a:t>Знайдіть та виправте помилку: при ізохорному нагріванні ідеального газу його внутрішня енергія не змінюється.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3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55395"/>
            <a:ext cx="6873088" cy="1278636"/>
          </a:xfrm>
          <a:prstGeom prst="roundRect">
            <a:avLst>
              <a:gd name="adj" fmla="val 71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chemeClr val="accent1"/>
                </a:solidFill>
              </a:rPr>
              <a:t>1. </a:t>
            </a:r>
            <a:r>
              <a:rPr lang="en-US" sz="3300" dirty="0">
                <a:solidFill>
                  <a:schemeClr val="tx1"/>
                </a:solidFill>
              </a:rPr>
              <a:t>Від чого залежить час падіння тіла при горизонтальному кидку?</a:t>
            </a:r>
            <a:endParaRPr lang="en-US" sz="33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8" y="2692866"/>
            <a:ext cx="3901288" cy="2295228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2945511"/>
            <a:ext cx="6873088" cy="1278636"/>
          </a:xfrm>
          <a:prstGeom prst="roundRect">
            <a:avLst>
              <a:gd name="adj" fmla="val 71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chemeClr val="accent1"/>
                </a:solidFill>
              </a:rPr>
              <a:t>2. </a:t>
            </a:r>
            <a:r>
              <a:rPr lang="en-US" sz="3300" dirty="0">
                <a:solidFill>
                  <a:schemeClr val="tx1"/>
                </a:solidFill>
              </a:rPr>
              <a:t>Від чого залежить момент інерції тіла?</a:t>
            </a:r>
            <a:endParaRPr lang="en-US" sz="3300" dirty="0"/>
          </a:p>
        </p:txBody>
      </p:sp>
      <p:sp>
        <p:nvSpPr>
          <p:cNvPr id="6" name="q3"/>
          <p:cNvSpPr txBox="1"/>
          <p:nvPr/>
        </p:nvSpPr>
        <p:spPr>
          <a:xfrm>
            <a:off x="548640" y="4635627"/>
            <a:ext cx="6873088" cy="1789938"/>
          </a:xfrm>
          <a:prstGeom prst="roundRect">
            <a:avLst>
              <a:gd name="adj" fmla="val 510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chemeClr val="accent1"/>
                </a:solidFill>
              </a:rPr>
              <a:t>3. </a:t>
            </a:r>
            <a:r>
              <a:rPr lang="en-US" sz="3300" dirty="0">
                <a:solidFill>
                  <a:schemeClr val="tx1"/>
                </a:solidFill>
              </a:rPr>
              <a:t>При ізотермічному процесі ідеального газу чому дорівнює ΔU?</a:t>
            </a:r>
            <a:endParaRPr lang="en-US" sz="3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4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 </a:t>
            </a:r>
            <a:r>
              <a:rPr lang="en-US" sz="3600" dirty="0">
                <a:solidFill>
                  <a:schemeClr val="tx1"/>
                </a:solidFill>
              </a:rPr>
              <a:t>Чому сила нормальної реакції не завжди дорівнює mg?</a:t>
            </a:r>
            <a:endParaRPr lang="en-US" sz="36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875788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2. </a:t>
            </a:r>
            <a:r>
              <a:rPr lang="en-US" sz="3600" dirty="0">
                <a:solidFill>
                  <a:schemeClr val="tx1"/>
                </a:solidFill>
              </a:rPr>
              <a:t>Запишіть основне рівняння динаміки обертального руху.</a:t>
            </a:r>
            <a:endParaRPr lang="en-US" sz="36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562856"/>
            <a:ext cx="11094415" cy="1929384"/>
          </a:xfrm>
          <a:prstGeom prst="roundRect">
            <a:avLst>
              <a:gd name="adj" fmla="val 473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 </a:t>
            </a:r>
            <a:r>
              <a:rPr lang="en-US" sz="3600" dirty="0">
                <a:solidFill>
                  <a:schemeClr val="tx1"/>
                </a:solidFill>
              </a:rPr>
              <a:t>Знайдіть та виправте помилку: робота газу на pV-діаграмі визначається довжиною траєкторії процесу.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5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37160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 </a:t>
            </a:r>
            <a:r>
              <a:rPr lang="en-US" sz="3600" dirty="0">
                <a:solidFill>
                  <a:schemeClr val="tx1"/>
                </a:solidFill>
              </a:rPr>
              <a:t>Знайдіть та виправте помилку: якщо рівнодійна сил дорівнює нулю, тіло обов'язково нерухоме.</a:t>
            </a:r>
            <a:endParaRPr lang="en-US" sz="3600" dirty="0"/>
          </a:p>
        </p:txBody>
      </p:sp>
      <p:sp>
        <p:nvSpPr>
          <p:cNvPr id="4" name="q2"/>
          <p:cNvSpPr txBox="1"/>
          <p:nvPr/>
        </p:nvSpPr>
        <p:spPr>
          <a:xfrm>
            <a:off x="548640" y="315468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2. </a:t>
            </a:r>
            <a:r>
              <a:rPr lang="en-US" sz="3600" dirty="0">
                <a:solidFill>
                  <a:schemeClr val="tx1"/>
                </a:solidFill>
              </a:rPr>
              <a:t>Запишіть потенціальну енергію стиснутої пружини.</a:t>
            </a:r>
            <a:endParaRPr lang="en-US" sz="36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93776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 </a:t>
            </a:r>
            <a:r>
              <a:rPr lang="en-US" sz="3600" dirty="0">
                <a:solidFill>
                  <a:schemeClr val="tx1"/>
                </a:solidFill>
              </a:rPr>
              <a:t>Як залежить середня квадратична швидкість молекул від температури?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6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6141568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1. </a:t>
            </a:r>
            <a:r>
              <a:rPr lang="en-US" sz="3200" dirty="0">
                <a:solidFill>
                  <a:schemeClr val="tx1"/>
                </a:solidFill>
              </a:rPr>
              <a:t>Тіло кинули під кутом до горизонту. Від чого залежить дальність польоту?</a:t>
            </a:r>
            <a:endParaRPr lang="en-US" sz="32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248" y="2579174"/>
            <a:ext cx="4632808" cy="2522612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3216656"/>
            <a:ext cx="6141568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2. </a:t>
            </a:r>
            <a:r>
              <a:rPr lang="en-US" sz="3200" dirty="0">
                <a:solidFill>
                  <a:schemeClr val="tx1"/>
                </a:solidFill>
              </a:rPr>
              <a:t>Знайдіть та виправте помилку: момент інерції тіла залежить тільки від його маси.</a:t>
            </a:r>
            <a:endParaRPr lang="en-US" sz="3200" dirty="0"/>
          </a:p>
        </p:txBody>
      </p:sp>
      <p:sp>
        <p:nvSpPr>
          <p:cNvPr id="6" name="q3"/>
          <p:cNvSpPr txBox="1"/>
          <p:nvPr/>
        </p:nvSpPr>
        <p:spPr>
          <a:xfrm>
            <a:off x="548640" y="5244592"/>
            <a:ext cx="6141568" cy="1247648"/>
          </a:xfrm>
          <a:prstGeom prst="roundRect">
            <a:avLst>
              <a:gd name="adj" fmla="val 732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3. </a:t>
            </a:r>
            <a:r>
              <a:rPr lang="en-US" sz="3200" dirty="0">
                <a:solidFill>
                  <a:schemeClr val="tx1"/>
                </a:solidFill>
              </a:rPr>
              <a:t>Що показує функція розподілу Максвелла?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7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01166"/>
            <a:ext cx="11094415" cy="1309624"/>
          </a:xfrm>
          <a:prstGeom prst="roundRect">
            <a:avLst>
              <a:gd name="adj" fmla="val 6982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1. </a:t>
            </a:r>
            <a:r>
              <a:rPr lang="en-US" sz="3400" dirty="0">
                <a:solidFill>
                  <a:schemeClr val="tx1"/>
                </a:solidFill>
              </a:rPr>
              <a:t>Яка швидкість тіла у верхній точці вертикального кидка? Чому дорівнює його прискорення в цій точці?</a:t>
            </a:r>
            <a:endParaRPr lang="en-US" sz="34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922270"/>
            <a:ext cx="11094415" cy="1836420"/>
          </a:xfrm>
          <a:prstGeom prst="roundRect">
            <a:avLst>
              <a:gd name="adj" fmla="val 497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2. </a:t>
            </a:r>
            <a:r>
              <a:rPr lang="en-US" sz="3400" dirty="0">
                <a:solidFill>
                  <a:schemeClr val="tx1"/>
                </a:solidFill>
              </a:rPr>
              <a:t>Яку роботу виконує сила тяжіння при піднятті тіла масою m на висоту h? На скільки при цьому змінюється потенціальна енергія тіла?</a:t>
            </a:r>
            <a:endParaRPr lang="en-US" sz="3400" dirty="0"/>
          </a:p>
        </p:txBody>
      </p:sp>
      <p:sp>
        <p:nvSpPr>
          <p:cNvPr id="5" name="q3"/>
          <p:cNvSpPr txBox="1"/>
          <p:nvPr/>
        </p:nvSpPr>
        <p:spPr>
          <a:xfrm>
            <a:off x="548640" y="5170170"/>
            <a:ext cx="11094415" cy="1309624"/>
          </a:xfrm>
          <a:prstGeom prst="roundRect">
            <a:avLst>
              <a:gd name="adj" fmla="val 6982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3. </a:t>
            </a:r>
            <a:r>
              <a:rPr lang="en-US" sz="3400" dirty="0">
                <a:solidFill>
                  <a:schemeClr val="tx1"/>
                </a:solidFill>
              </a:rPr>
              <a:t>Що станеться з тиском газу в герметичній посудині при підвищенні температури?</a:t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8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6690208" cy="1123696"/>
          </a:xfrm>
          <a:prstGeom prst="roundRect">
            <a:avLst>
              <a:gd name="adj" fmla="val 813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1. </a:t>
            </a:r>
            <a:r>
              <a:rPr lang="en-US" sz="2800" dirty="0">
                <a:solidFill>
                  <a:schemeClr val="tx1"/>
                </a:solidFill>
              </a:rPr>
              <a:t>Запишіть другий закон Ньютона для бруска, що рухається по горизонталі.</a:t>
            </a:r>
            <a:endParaRPr lang="en-US" sz="28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888" y="3351964"/>
            <a:ext cx="4084168" cy="977031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2627884"/>
            <a:ext cx="6690208" cy="1991360"/>
          </a:xfrm>
          <a:prstGeom prst="roundRect">
            <a:avLst>
              <a:gd name="adj" fmla="val 4592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2. </a:t>
            </a:r>
            <a:r>
              <a:rPr lang="en-US" sz="2800" dirty="0">
                <a:solidFill>
                  <a:schemeClr val="tx1"/>
                </a:solidFill>
              </a:rPr>
              <a:t>Знайдіть та виправте помилку: якщо сила прикладена до точки, що лежить на осі обертання, вона створює максимальний момент.</a:t>
            </a:r>
            <a:endParaRPr lang="en-US" sz="2800" dirty="0"/>
          </a:p>
        </p:txBody>
      </p:sp>
      <p:sp>
        <p:nvSpPr>
          <p:cNvPr id="6" name="q3"/>
          <p:cNvSpPr txBox="1"/>
          <p:nvPr/>
        </p:nvSpPr>
        <p:spPr>
          <a:xfrm>
            <a:off x="548640" y="4934712"/>
            <a:ext cx="6690208" cy="1557528"/>
          </a:xfrm>
          <a:prstGeom prst="roundRect">
            <a:avLst>
              <a:gd name="adj" fmla="val 587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3. </a:t>
            </a:r>
            <a:r>
              <a:rPr lang="en-US" sz="2800" dirty="0">
                <a:solidFill>
                  <a:schemeClr val="tx1"/>
                </a:solidFill>
              </a:rPr>
              <a:t>Що відбувається з внутрішньою енергією ідеального газу при нагріванні?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9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7174643" cy="1247648"/>
          </a:xfrm>
          <a:prstGeom prst="roundRect">
            <a:avLst>
              <a:gd name="adj" fmla="val 732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1. </a:t>
            </a:r>
            <a:r>
              <a:rPr lang="en-US" sz="3200" dirty="0">
                <a:solidFill>
                  <a:schemeClr val="tx1"/>
                </a:solidFill>
              </a:rPr>
              <a:t>Від чого залежить напрямок руху системи тіл?</a:t>
            </a:r>
            <a:endParaRPr lang="en-US" sz="32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323" y="1188720"/>
            <a:ext cx="3599732" cy="5303520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2720848"/>
            <a:ext cx="7174643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2. </a:t>
            </a:r>
            <a:r>
              <a:rPr lang="en-US" sz="3200" dirty="0">
                <a:solidFill>
                  <a:schemeClr val="tx1"/>
                </a:solidFill>
              </a:rPr>
              <a:t>Намалюйте ситуацію, коли сила не виконує роботи. Поясніть, чому це відбувається.</a:t>
            </a:r>
            <a:endParaRPr lang="en-US" sz="3200" dirty="0"/>
          </a:p>
        </p:txBody>
      </p:sp>
      <p:sp>
        <p:nvSpPr>
          <p:cNvPr id="6" name="q3"/>
          <p:cNvSpPr txBox="1"/>
          <p:nvPr/>
        </p:nvSpPr>
        <p:spPr>
          <a:xfrm>
            <a:off x="548640" y="4748784"/>
            <a:ext cx="7174643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3. </a:t>
            </a:r>
            <a:r>
              <a:rPr lang="en-US" sz="3200" dirty="0">
                <a:solidFill>
                  <a:schemeClr val="tx1"/>
                </a:solidFill>
              </a:rPr>
              <a:t>Куди йде теплота при ізотермічному розширенні ідеального газу?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10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322959"/>
            <a:ext cx="6558497" cy="1216660"/>
          </a:xfrm>
          <a:prstGeom prst="roundRect">
            <a:avLst>
              <a:gd name="adj" fmla="val 751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chemeClr val="accent1"/>
                </a:solidFill>
              </a:rPr>
              <a:t>1. </a:t>
            </a:r>
            <a:r>
              <a:rPr lang="en-US" sz="3100" dirty="0">
                <a:solidFill>
                  <a:schemeClr val="tx1"/>
                </a:solidFill>
              </a:rPr>
              <a:t>Рука тягне вгору за мотузку з силою F. Які сили діють на тіло?</a:t>
            </a:r>
            <a:endParaRPr lang="en-US" sz="31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744" y="1188720"/>
            <a:ext cx="944744" cy="1485138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2886075"/>
            <a:ext cx="6558497" cy="1696974"/>
          </a:xfrm>
          <a:prstGeom prst="roundRect">
            <a:avLst>
              <a:gd name="adj" fmla="val 5388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chemeClr val="accent1"/>
                </a:solidFill>
              </a:rPr>
              <a:t>2. </a:t>
            </a:r>
            <a:r>
              <a:rPr lang="en-US" sz="3100" dirty="0">
                <a:solidFill>
                  <a:schemeClr val="tx1"/>
                </a:solidFill>
              </a:rPr>
              <a:t>Запишіть повну кінетичну енергію циліндра, що котиться без проковзування.</a:t>
            </a:r>
            <a:endParaRPr lang="en-US" sz="3100" dirty="0"/>
          </a:p>
        </p:txBody>
      </p:sp>
      <p:pic>
        <p:nvPicPr>
          <p:cNvPr id="6" name="img2" descr="Рисунок до запитання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629" y="2875026"/>
            <a:ext cx="2584975" cy="1719072"/>
          </a:xfrm>
          <a:prstGeom prst="rect">
            <a:avLst/>
          </a:prstGeom>
        </p:spPr>
      </p:pic>
      <p:sp>
        <p:nvSpPr>
          <p:cNvPr id="7" name="q3"/>
          <p:cNvSpPr txBox="1"/>
          <p:nvPr/>
        </p:nvSpPr>
        <p:spPr>
          <a:xfrm>
            <a:off x="548640" y="4795266"/>
            <a:ext cx="6558497" cy="1696974"/>
          </a:xfrm>
          <a:prstGeom prst="roundRect">
            <a:avLst>
              <a:gd name="adj" fmla="val 5388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chemeClr val="accent1"/>
                </a:solidFill>
              </a:rPr>
              <a:t>3. </a:t>
            </a:r>
            <a:r>
              <a:rPr lang="en-US" sz="3100" dirty="0">
                <a:solidFill>
                  <a:schemeClr val="tx1"/>
                </a:solidFill>
              </a:rPr>
              <a:t>Знайдіть та виправте помилку: під час ізотермічного розширення ідеального газу Q = 0.</a:t>
            </a:r>
            <a:endParaRPr lang="en-US" sz="3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11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11094415" cy="1247648"/>
          </a:xfrm>
          <a:prstGeom prst="roundRect">
            <a:avLst>
              <a:gd name="adj" fmla="val 732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1. </a:t>
            </a:r>
            <a:r>
              <a:rPr lang="en-US" sz="3200" dirty="0">
                <a:solidFill>
                  <a:schemeClr val="tx1"/>
                </a:solidFill>
              </a:rPr>
              <a:t>Чи може тіло рухатися рівномірно, якщо на нього діють сили?</a:t>
            </a:r>
            <a:endParaRPr lang="en-US" sz="32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720848"/>
            <a:ext cx="11094415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2. </a:t>
            </a:r>
            <a:r>
              <a:rPr lang="en-US" sz="3200" dirty="0">
                <a:solidFill>
                  <a:schemeClr val="tx1"/>
                </a:solidFill>
              </a:rPr>
              <a:t>Знайдіть та виправте помилку: якщо швидкість тіла збільшилася вдвічі, його кінетична енергія збільшилася вдвічі.</a:t>
            </a:r>
            <a:endParaRPr lang="en-US" sz="32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748784"/>
            <a:ext cx="11094415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3. </a:t>
            </a:r>
            <a:r>
              <a:rPr lang="en-US" sz="3200" dirty="0">
                <a:solidFill>
                  <a:schemeClr val="tx1"/>
                </a:solidFill>
              </a:rPr>
              <a:t>Знайдіть та виправте помилку: при ізотермічному розширенні ідеального газу його внутрішня енергія збільшується.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12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32154"/>
            <a:ext cx="7400635" cy="1867408"/>
          </a:xfrm>
          <a:prstGeom prst="roundRect">
            <a:avLst>
              <a:gd name="adj" fmla="val 489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1. </a:t>
            </a:r>
            <a:r>
              <a:rPr lang="en-US" sz="2600" dirty="0">
                <a:solidFill>
                  <a:schemeClr val="tx1"/>
                </a:solidFill>
              </a:rPr>
              <a:t>Рука тягне вгору за мотузку з силою F. Якщо тіло рухається вгору з прискоренням a, яка сила більша: F чи mg? Як зміниться результат, якщо тіло піднімається рівномірно?</a:t>
            </a:r>
            <a:endParaRPr lang="en-US" sz="26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315" y="1188720"/>
            <a:ext cx="3373740" cy="5303520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3511042"/>
            <a:ext cx="7400635" cy="1061720"/>
          </a:xfrm>
          <a:prstGeom prst="roundRect">
            <a:avLst>
              <a:gd name="adj" fmla="val 8612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2. </a:t>
            </a:r>
            <a:r>
              <a:rPr lang="en-US" sz="2600" dirty="0">
                <a:solidFill>
                  <a:schemeClr val="tx1"/>
                </a:solidFill>
              </a:rPr>
              <a:t>Що називається моментом сили? Запишіть формулу.</a:t>
            </a:r>
            <a:endParaRPr lang="en-US" sz="2600" dirty="0"/>
          </a:p>
        </p:txBody>
      </p:sp>
      <p:sp>
        <p:nvSpPr>
          <p:cNvPr id="6" name="q3"/>
          <p:cNvSpPr txBox="1"/>
          <p:nvPr/>
        </p:nvSpPr>
        <p:spPr>
          <a:xfrm>
            <a:off x="548640" y="4984242"/>
            <a:ext cx="7400635" cy="1464564"/>
          </a:xfrm>
          <a:prstGeom prst="roundRect">
            <a:avLst>
              <a:gd name="adj" fmla="val 624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3. </a:t>
            </a:r>
            <a:r>
              <a:rPr lang="en-US" sz="2600" dirty="0">
                <a:solidFill>
                  <a:schemeClr val="tx1"/>
                </a:solidFill>
              </a:rPr>
              <a:t>Знайдіть та виправте помилку: при ізобарному розширенні ідеального газу його температура не змінюється.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13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6964528" cy="1650492"/>
          </a:xfrm>
          <a:prstGeom prst="roundRect">
            <a:avLst>
              <a:gd name="adj" fmla="val 554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1. </a:t>
            </a:r>
            <a:r>
              <a:rPr lang="en-US" sz="3000" dirty="0">
                <a:solidFill>
                  <a:schemeClr val="tx1"/>
                </a:solidFill>
              </a:rPr>
              <a:t>Знайдіть та виправте помилку: сила тертя ковзання завжди дорівнює μmg.</a:t>
            </a:r>
            <a:endParaRPr lang="en-US" sz="3000" dirty="0"/>
          </a:p>
        </p:txBody>
      </p:sp>
      <p:sp>
        <p:nvSpPr>
          <p:cNvPr id="4" name="q2"/>
          <p:cNvSpPr txBox="1"/>
          <p:nvPr/>
        </p:nvSpPr>
        <p:spPr>
          <a:xfrm>
            <a:off x="548640" y="3247644"/>
            <a:ext cx="6964528" cy="1650492"/>
          </a:xfrm>
          <a:prstGeom prst="roundRect">
            <a:avLst>
              <a:gd name="adj" fmla="val 554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2. </a:t>
            </a:r>
            <a:r>
              <a:rPr lang="en-US" sz="3000" dirty="0">
                <a:solidFill>
                  <a:schemeClr val="tx1"/>
                </a:solidFill>
              </a:rPr>
              <a:t>Знайдіть та виправте помилку: при абсолютно непружному зіткненні зберігається механічна енергія.</a:t>
            </a:r>
            <a:endParaRPr lang="en-US" sz="3000" dirty="0"/>
          </a:p>
        </p:txBody>
      </p:sp>
      <p:sp>
        <p:nvSpPr>
          <p:cNvPr id="5" name="q3"/>
          <p:cNvSpPr txBox="1"/>
          <p:nvPr/>
        </p:nvSpPr>
        <p:spPr>
          <a:xfrm>
            <a:off x="548640" y="5306568"/>
            <a:ext cx="6964528" cy="1185672"/>
          </a:xfrm>
          <a:prstGeom prst="roundRect">
            <a:avLst>
              <a:gd name="adj" fmla="val 7712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3. </a:t>
            </a:r>
            <a:r>
              <a:rPr lang="en-US" sz="3000" dirty="0">
                <a:solidFill>
                  <a:schemeClr val="tx1"/>
                </a:solidFill>
              </a:rPr>
              <a:t>Як змінюється температура при переході 1 → 2?</a:t>
            </a:r>
            <a:endParaRPr lang="en-US" sz="3000" dirty="0"/>
          </a:p>
        </p:txBody>
      </p:sp>
      <p:pic>
        <p:nvPicPr>
          <p:cNvPr id="6" name="img3" descr="Рисунок до запитання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208" y="2144830"/>
            <a:ext cx="3809848" cy="3391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14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340612"/>
            <a:ext cx="11094415" cy="937768"/>
          </a:xfrm>
          <a:prstGeom prst="roundRect">
            <a:avLst>
              <a:gd name="adj" fmla="val 97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1. </a:t>
            </a:r>
            <a:r>
              <a:rPr lang="en-US" sz="4400" dirty="0">
                <a:solidFill>
                  <a:schemeClr val="tx1"/>
                </a:solidFill>
              </a:rPr>
              <a:t>Що таке кутова швидкість?</a:t>
            </a:r>
            <a:endParaRPr lang="en-US" sz="44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689860"/>
            <a:ext cx="11094415" cy="1619504"/>
          </a:xfrm>
          <a:prstGeom prst="roundRect">
            <a:avLst>
              <a:gd name="adj" fmla="val 564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2. </a:t>
            </a:r>
            <a:r>
              <a:rPr lang="en-US" sz="4400" dirty="0">
                <a:solidFill>
                  <a:schemeClr val="tx1"/>
                </a:solidFill>
              </a:rPr>
              <a:t>Як змінюється кінетична енергія при збільшенні швидкості вдвічі?</a:t>
            </a:r>
            <a:endParaRPr lang="en-US" sz="44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720844"/>
            <a:ext cx="11094415" cy="1619504"/>
          </a:xfrm>
          <a:prstGeom prst="roundRect">
            <a:avLst>
              <a:gd name="adj" fmla="val 564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3. </a:t>
            </a:r>
            <a:r>
              <a:rPr lang="en-US" sz="4400" dirty="0">
                <a:solidFill>
                  <a:schemeClr val="tx1"/>
                </a:solidFill>
              </a:rPr>
              <a:t>Запишіть роботу газу при ізобарному розширенні.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15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92733"/>
            <a:ext cx="6780386" cy="1511046"/>
          </a:xfrm>
          <a:prstGeom prst="roundRect">
            <a:avLst>
              <a:gd name="adj" fmla="val 60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accent1"/>
                </a:solidFill>
              </a:rPr>
              <a:t>1. </a:t>
            </a:r>
            <a:r>
              <a:rPr lang="en-US" sz="2700" dirty="0">
                <a:solidFill>
                  <a:schemeClr val="tx1"/>
                </a:solidFill>
              </a:rPr>
              <a:t>Тіло кинули під кутом до горизонту. У якій точці траєкторії вертикальна компонента швидкості дорівнює нулю?</a:t>
            </a:r>
            <a:endParaRPr lang="en-US" sz="27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512" y="1188720"/>
            <a:ext cx="3157097" cy="1719072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3607308"/>
            <a:ext cx="6780386" cy="674370"/>
          </a:xfrm>
          <a:prstGeom prst="roundRect">
            <a:avLst>
              <a:gd name="adj" fmla="val 1355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accent1"/>
                </a:solidFill>
              </a:rPr>
              <a:t>2. </a:t>
            </a:r>
            <a:r>
              <a:rPr lang="en-US" sz="2700" dirty="0">
                <a:solidFill>
                  <a:schemeClr val="tx1"/>
                </a:solidFill>
              </a:rPr>
              <a:t>Чому при пострілі виникає віддача?</a:t>
            </a:r>
            <a:endParaRPr lang="en-US" sz="2700" dirty="0"/>
          </a:p>
        </p:txBody>
      </p:sp>
      <p:pic>
        <p:nvPicPr>
          <p:cNvPr id="6" name="img2" descr="Рисунок до запитання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542" y="3108960"/>
            <a:ext cx="3215037" cy="1671066"/>
          </a:xfrm>
          <a:prstGeom prst="rect">
            <a:avLst/>
          </a:prstGeom>
        </p:spPr>
      </p:pic>
      <p:sp>
        <p:nvSpPr>
          <p:cNvPr id="7" name="q3"/>
          <p:cNvSpPr txBox="1"/>
          <p:nvPr/>
        </p:nvSpPr>
        <p:spPr>
          <a:xfrm>
            <a:off x="548640" y="4981194"/>
            <a:ext cx="6780386" cy="1511046"/>
          </a:xfrm>
          <a:prstGeom prst="roundRect">
            <a:avLst>
              <a:gd name="adj" fmla="val 60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accent1"/>
                </a:solidFill>
              </a:rPr>
              <a:t>3. </a:t>
            </a:r>
            <a:r>
              <a:rPr lang="en-US" sz="2700" dirty="0">
                <a:solidFill>
                  <a:schemeClr val="tx1"/>
                </a:solidFill>
              </a:rPr>
              <a:t>При однаковій температурі у кого більша середня квадратична швидкість: у гелію чи азоту?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16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03579"/>
            <a:ext cx="6780386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1. </a:t>
            </a:r>
            <a:r>
              <a:rPr lang="en-US" sz="2900" dirty="0">
                <a:solidFill>
                  <a:schemeClr val="tx1"/>
                </a:solidFill>
              </a:rPr>
              <a:t>Чи однакові сили натягу нитки на обох тілах? Чи однакові прискорення тіл?</a:t>
            </a:r>
            <a:endParaRPr lang="en-US" sz="29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619" y="1188720"/>
            <a:ext cx="1108883" cy="1633728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3038475"/>
            <a:ext cx="6780386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2. </a:t>
            </a:r>
            <a:r>
              <a:rPr lang="en-US" sz="2900" dirty="0">
                <a:solidFill>
                  <a:schemeClr val="tx1"/>
                </a:solidFill>
              </a:rPr>
              <a:t>Якщо маса снаряда значно менша за масу гармати, що можна сказати про їхні швидкості після пострілу?</a:t>
            </a:r>
            <a:endParaRPr lang="en-US" sz="2900" dirty="0"/>
          </a:p>
        </p:txBody>
      </p:sp>
      <p:pic>
        <p:nvPicPr>
          <p:cNvPr id="6" name="img2" descr="Рисунок до запитання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460" y="3023616"/>
            <a:ext cx="3143201" cy="1633728"/>
          </a:xfrm>
          <a:prstGeom prst="rect">
            <a:avLst/>
          </a:prstGeom>
        </p:spPr>
      </p:pic>
      <p:sp>
        <p:nvSpPr>
          <p:cNvPr id="7" name="q3"/>
          <p:cNvSpPr txBox="1"/>
          <p:nvPr/>
        </p:nvSpPr>
        <p:spPr>
          <a:xfrm>
            <a:off x="548640" y="4873371"/>
            <a:ext cx="6780386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3. </a:t>
            </a:r>
            <a:r>
              <a:rPr lang="en-US" sz="2900" dirty="0">
                <a:solidFill>
                  <a:schemeClr val="tx1"/>
                </a:solidFill>
              </a:rPr>
              <a:t>Який процес відбувається при переході 1 → 2? Як змінюється температура при цьому переході?</a:t>
            </a:r>
            <a:endParaRPr lang="en-US" sz="2900" dirty="0"/>
          </a:p>
        </p:txBody>
      </p:sp>
      <p:pic>
        <p:nvPicPr>
          <p:cNvPr id="8" name="img3" descr="Рисунок до запитання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5762" y="4858512"/>
            <a:ext cx="1840596" cy="1633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17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47648"/>
            <a:ext cx="6873088" cy="1154684"/>
          </a:xfrm>
          <a:prstGeom prst="roundRect">
            <a:avLst>
              <a:gd name="adj" fmla="val 791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1. </a:t>
            </a:r>
            <a:r>
              <a:rPr lang="en-US" sz="2900" dirty="0">
                <a:solidFill>
                  <a:schemeClr val="tx1"/>
                </a:solidFill>
              </a:rPr>
              <a:t>Знайдіть та виправте помилку: сила реакції опори завжди дорівнює mg.</a:t>
            </a:r>
            <a:endParaRPr lang="en-US" sz="29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813812"/>
            <a:ext cx="6873088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2. </a:t>
            </a:r>
            <a:r>
              <a:rPr lang="en-US" sz="2900" dirty="0">
                <a:solidFill>
                  <a:schemeClr val="tx1"/>
                </a:solidFill>
              </a:rPr>
              <a:t>Гармата стріляє снарядом. У який бік спрямований імпульс, що отримує гармата? Чому?</a:t>
            </a:r>
            <a:endParaRPr lang="en-US" sz="2900" dirty="0"/>
          </a:p>
        </p:txBody>
      </p:sp>
      <p:pic>
        <p:nvPicPr>
          <p:cNvPr id="5" name="img2" descr="Рисунок до запитання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8" y="2826602"/>
            <a:ext cx="3901288" cy="2027756"/>
          </a:xfrm>
          <a:prstGeom prst="rect">
            <a:avLst/>
          </a:prstGeom>
        </p:spPr>
      </p:pic>
      <p:sp>
        <p:nvSpPr>
          <p:cNvPr id="6" name="q3"/>
          <p:cNvSpPr txBox="1"/>
          <p:nvPr/>
        </p:nvSpPr>
        <p:spPr>
          <a:xfrm>
            <a:off x="548640" y="4829302"/>
            <a:ext cx="6873088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3. </a:t>
            </a:r>
            <a:r>
              <a:rPr lang="en-US" sz="2900" dirty="0">
                <a:solidFill>
                  <a:schemeClr val="tx1"/>
                </a:solidFill>
              </a:rPr>
              <a:t>Який закон описує процес, що відбувається з постійною масою газу при сталому об'ємі?</a:t>
            </a:r>
            <a:endParaRPr lang="en-US" sz="2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18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6964528" cy="1123696"/>
          </a:xfrm>
          <a:prstGeom prst="roundRect">
            <a:avLst>
              <a:gd name="adj" fmla="val 813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1. </a:t>
            </a:r>
            <a:r>
              <a:rPr lang="en-US" sz="2800" dirty="0">
                <a:solidFill>
                  <a:schemeClr val="tx1"/>
                </a:solidFill>
              </a:rPr>
              <a:t>Як зміниться прискорення тіла на похилій площині при збільшенні кута α?</a:t>
            </a:r>
            <a:endParaRPr lang="en-US" sz="28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208" y="2826701"/>
            <a:ext cx="3809848" cy="2027558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2627884"/>
            <a:ext cx="6964528" cy="1557528"/>
          </a:xfrm>
          <a:prstGeom prst="roundRect">
            <a:avLst>
              <a:gd name="adj" fmla="val 587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2. </a:t>
            </a:r>
            <a:r>
              <a:rPr lang="en-US" sz="2800" dirty="0">
                <a:solidFill>
                  <a:schemeClr val="tx1"/>
                </a:solidFill>
              </a:rPr>
              <a:t>Яку роботу треба виконати, щоб швидкість тіла масою m збільшилася від v₁ до v₂, якщо тертя немає?</a:t>
            </a:r>
            <a:endParaRPr lang="en-US" sz="2800" dirty="0"/>
          </a:p>
        </p:txBody>
      </p:sp>
      <p:sp>
        <p:nvSpPr>
          <p:cNvPr id="6" name="q3"/>
          <p:cNvSpPr txBox="1"/>
          <p:nvPr/>
        </p:nvSpPr>
        <p:spPr>
          <a:xfrm>
            <a:off x="548640" y="4500880"/>
            <a:ext cx="6964528" cy="1991360"/>
          </a:xfrm>
          <a:prstGeom prst="roundRect">
            <a:avLst>
              <a:gd name="adj" fmla="val 4592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3. </a:t>
            </a:r>
            <a:r>
              <a:rPr lang="en-US" sz="2800" dirty="0">
                <a:solidFill>
                  <a:schemeClr val="tx1"/>
                </a:solidFill>
              </a:rPr>
              <a:t>Знайдіть та виправте помилку: при однаковій температурі молекули всіх газів мають однакову середню швидкість.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19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11094415" cy="1247648"/>
          </a:xfrm>
          <a:prstGeom prst="roundRect">
            <a:avLst>
              <a:gd name="adj" fmla="val 732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1. </a:t>
            </a:r>
            <a:r>
              <a:rPr lang="en-US" sz="3200" dirty="0">
                <a:solidFill>
                  <a:schemeClr val="tx1"/>
                </a:solidFill>
              </a:rPr>
              <a:t>Чи можуть дві сили, що діють на тіло, мати рівнодійну, яка дорівнює нулю?</a:t>
            </a:r>
            <a:endParaRPr lang="en-US" sz="32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720848"/>
            <a:ext cx="11094415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2. </a:t>
            </a:r>
            <a:r>
              <a:rPr lang="en-US" sz="3200" dirty="0">
                <a:solidFill>
                  <a:schemeClr val="tx1"/>
                </a:solidFill>
              </a:rPr>
              <a:t>Знайдіть та виправте помилку: якщо диск і кільце мають однакові маси та радіуси і котяться з однаковою швидкістю, їхні кінетичні енергії однакові.</a:t>
            </a:r>
            <a:endParaRPr lang="en-US" sz="32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748784"/>
            <a:ext cx="11094415" cy="1743456"/>
          </a:xfrm>
          <a:prstGeom prst="roundRect">
            <a:avLst>
              <a:gd name="adj" fmla="val 524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3. </a:t>
            </a:r>
            <a:r>
              <a:rPr lang="en-US" sz="3200" dirty="0">
                <a:solidFill>
                  <a:schemeClr val="tx1"/>
                </a:solidFill>
              </a:rPr>
              <a:t>Знайдіть та виправте помилку: підвищення температури газу означає, що кожна молекула рухається швидше.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20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6873088" cy="2425192"/>
          </a:xfrm>
          <a:prstGeom prst="roundRect">
            <a:avLst>
              <a:gd name="adj" fmla="val 377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accent1"/>
                </a:solidFill>
              </a:rPr>
              <a:t>1. </a:t>
            </a:r>
            <a:r>
              <a:rPr lang="en-US" sz="3500" dirty="0">
                <a:solidFill>
                  <a:schemeClr val="tx1"/>
                </a:solidFill>
              </a:rPr>
              <a:t>Тіло кинули під кутом до горизонту. Які компоненти швидкості має тіло в момент падіння?</a:t>
            </a:r>
            <a:endParaRPr lang="en-US" sz="35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8" y="2778334"/>
            <a:ext cx="3901288" cy="2124292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3983609"/>
            <a:ext cx="6873088" cy="798322"/>
          </a:xfrm>
          <a:prstGeom prst="roundRect">
            <a:avLst>
              <a:gd name="adj" fmla="val 11454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accent1"/>
                </a:solidFill>
              </a:rPr>
              <a:t>2. </a:t>
            </a:r>
            <a:r>
              <a:rPr lang="en-US" sz="3500" dirty="0">
                <a:solidFill>
                  <a:schemeClr val="tx1"/>
                </a:solidFill>
              </a:rPr>
              <a:t>Що таке плече сили?</a:t>
            </a:r>
            <a:endParaRPr lang="en-US" sz="3500" dirty="0"/>
          </a:p>
        </p:txBody>
      </p:sp>
      <p:sp>
        <p:nvSpPr>
          <p:cNvPr id="6" name="q3"/>
          <p:cNvSpPr txBox="1"/>
          <p:nvPr/>
        </p:nvSpPr>
        <p:spPr>
          <a:xfrm>
            <a:off x="548640" y="5151628"/>
            <a:ext cx="6873088" cy="1340612"/>
          </a:xfrm>
          <a:prstGeom prst="roundRect">
            <a:avLst>
              <a:gd name="adj" fmla="val 68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accent1"/>
                </a:solidFill>
              </a:rPr>
              <a:t>3. </a:t>
            </a:r>
            <a:r>
              <a:rPr lang="en-US" sz="3500" dirty="0">
                <a:solidFill>
                  <a:schemeClr val="tx1"/>
                </a:solidFill>
              </a:rPr>
              <a:t>Чому при ізохорному процесі робота газу дорівнює нулю?</a:t>
            </a:r>
            <a:endParaRPr lang="en-US" sz="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21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32154"/>
            <a:ext cx="11094415" cy="1464564"/>
          </a:xfrm>
          <a:prstGeom prst="roundRect">
            <a:avLst>
              <a:gd name="adj" fmla="val 624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chemeClr val="accent1"/>
                </a:solidFill>
              </a:rPr>
              <a:t>1. </a:t>
            </a:r>
            <a:r>
              <a:rPr lang="en-US" sz="3900" dirty="0">
                <a:solidFill>
                  <a:schemeClr val="tx1"/>
                </a:solidFill>
              </a:rPr>
              <a:t>Знайдіть та виправте помилку: дія і протидія прикладені до одного й того самого тіла.</a:t>
            </a:r>
            <a:endParaRPr lang="en-US" sz="3900" dirty="0"/>
          </a:p>
        </p:txBody>
      </p:sp>
      <p:sp>
        <p:nvSpPr>
          <p:cNvPr id="4" name="q2"/>
          <p:cNvSpPr txBox="1"/>
          <p:nvPr/>
        </p:nvSpPr>
        <p:spPr>
          <a:xfrm>
            <a:off x="548640" y="3108198"/>
            <a:ext cx="11094415" cy="1464564"/>
          </a:xfrm>
          <a:prstGeom prst="roundRect">
            <a:avLst>
              <a:gd name="adj" fmla="val 624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chemeClr val="accent1"/>
                </a:solidFill>
              </a:rPr>
              <a:t>2. </a:t>
            </a:r>
            <a:r>
              <a:rPr lang="en-US" sz="3900" dirty="0">
                <a:solidFill>
                  <a:schemeClr val="tx1"/>
                </a:solidFill>
              </a:rPr>
              <a:t>Запишіть потенціальну енергію тіла масою m в полі тяжіння.</a:t>
            </a:r>
            <a:endParaRPr lang="en-US" sz="39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984242"/>
            <a:ext cx="11094415" cy="1464564"/>
          </a:xfrm>
          <a:prstGeom prst="roundRect">
            <a:avLst>
              <a:gd name="adj" fmla="val 624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chemeClr val="accent1"/>
                </a:solidFill>
              </a:rPr>
              <a:t>3. </a:t>
            </a:r>
            <a:r>
              <a:rPr lang="en-US" sz="3900" dirty="0">
                <a:solidFill>
                  <a:schemeClr val="tx1"/>
                </a:solidFill>
              </a:rPr>
              <a:t>Яка швидкість називається найбільш імовірною?</a:t>
            </a:r>
            <a:endParaRPr lang="en-US" sz="3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22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11094415" cy="813816"/>
          </a:xfrm>
          <a:prstGeom prst="roundRect">
            <a:avLst>
              <a:gd name="adj" fmla="val 1123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 </a:t>
            </a:r>
            <a:r>
              <a:rPr lang="en-US" sz="3600" dirty="0">
                <a:solidFill>
                  <a:schemeClr val="tx1"/>
                </a:solidFill>
              </a:rPr>
              <a:t>Як із залежності S = C t² визначити прискорення?</a:t>
            </a:r>
            <a:endParaRPr lang="en-US" sz="36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318004"/>
            <a:ext cx="11094415" cy="2487168"/>
          </a:xfrm>
          <a:prstGeom prst="roundRect">
            <a:avLst>
              <a:gd name="adj" fmla="val 367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2. </a:t>
            </a:r>
            <a:r>
              <a:rPr lang="en-US" sz="3600" dirty="0">
                <a:solidFill>
                  <a:schemeClr val="tx1"/>
                </a:solidFill>
              </a:rPr>
              <a:t>Знайдіть та виправте помилку: якщо диск і кільце мають однакові маси та радіуси і котяться з однаковою швидкістю, їхні кінетичні енергії однакові.</a:t>
            </a:r>
            <a:endParaRPr lang="en-US" sz="3600" dirty="0"/>
          </a:p>
        </p:txBody>
      </p:sp>
      <p:sp>
        <p:nvSpPr>
          <p:cNvPr id="5" name="q3"/>
          <p:cNvSpPr txBox="1"/>
          <p:nvPr/>
        </p:nvSpPr>
        <p:spPr>
          <a:xfrm>
            <a:off x="548640" y="512064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 </a:t>
            </a:r>
            <a:r>
              <a:rPr lang="en-US" sz="3600" dirty="0">
                <a:solidFill>
                  <a:schemeClr val="tx1"/>
                </a:solidFill>
              </a:rPr>
              <a:t>Як виразити кількість речовини через масу та молярну масу?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23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6964528" cy="1511046"/>
          </a:xfrm>
          <a:prstGeom prst="roundRect">
            <a:avLst>
              <a:gd name="adj" fmla="val 60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accent1"/>
                </a:solidFill>
              </a:rPr>
              <a:t>1. </a:t>
            </a:r>
            <a:r>
              <a:rPr lang="en-US" sz="2700" dirty="0">
                <a:solidFill>
                  <a:schemeClr val="tx1"/>
                </a:solidFill>
              </a:rPr>
              <a:t>Тіло рухається по колу зі сталою за модулем швидкістю. Чи має воно прискорення?</a:t>
            </a:r>
            <a:endParaRPr lang="en-US" sz="2700" dirty="0"/>
          </a:p>
        </p:txBody>
      </p:sp>
      <p:sp>
        <p:nvSpPr>
          <p:cNvPr id="4" name="q2"/>
          <p:cNvSpPr txBox="1"/>
          <p:nvPr/>
        </p:nvSpPr>
        <p:spPr>
          <a:xfrm>
            <a:off x="548640" y="3084957"/>
            <a:ext cx="6964528" cy="1511046"/>
          </a:xfrm>
          <a:prstGeom prst="roundRect">
            <a:avLst>
              <a:gd name="adj" fmla="val 60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accent1"/>
                </a:solidFill>
              </a:rPr>
              <a:t>2. </a:t>
            </a:r>
            <a:r>
              <a:rPr lang="en-US" sz="2700" dirty="0">
                <a:solidFill>
                  <a:schemeClr val="tx1"/>
                </a:solidFill>
              </a:rPr>
              <a:t>Якщо маса снаряда значно менша за масу гармати, що можна сказати про їхні швидкості після пострілу?</a:t>
            </a:r>
            <a:endParaRPr lang="en-US" sz="2700" dirty="0"/>
          </a:p>
        </p:txBody>
      </p:sp>
      <p:pic>
        <p:nvPicPr>
          <p:cNvPr id="5" name="img2" descr="Рисунок до запитання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208" y="2850366"/>
            <a:ext cx="3809848" cy="1980228"/>
          </a:xfrm>
          <a:prstGeom prst="rect">
            <a:avLst/>
          </a:prstGeom>
        </p:spPr>
      </p:pic>
      <p:sp>
        <p:nvSpPr>
          <p:cNvPr id="6" name="q3"/>
          <p:cNvSpPr txBox="1"/>
          <p:nvPr/>
        </p:nvSpPr>
        <p:spPr>
          <a:xfrm>
            <a:off x="548640" y="4981194"/>
            <a:ext cx="6964528" cy="1511046"/>
          </a:xfrm>
          <a:prstGeom prst="roundRect">
            <a:avLst>
              <a:gd name="adj" fmla="val 60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accent1"/>
                </a:solidFill>
              </a:rPr>
              <a:t>3. </a:t>
            </a:r>
            <a:r>
              <a:rPr lang="en-US" sz="2700" dirty="0">
                <a:solidFill>
                  <a:schemeClr val="tx1"/>
                </a:solidFill>
              </a:rPr>
              <a:t>Знайдіть та виправте помилку: середньоквадратична швидкість молекул прямо пропорційна температурі.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24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01166"/>
            <a:ext cx="11094415" cy="1309624"/>
          </a:xfrm>
          <a:prstGeom prst="roundRect">
            <a:avLst>
              <a:gd name="adj" fmla="val 6982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1. </a:t>
            </a:r>
            <a:r>
              <a:rPr lang="en-US" sz="3400" dirty="0">
                <a:solidFill>
                  <a:schemeClr val="tx1"/>
                </a:solidFill>
              </a:rPr>
              <a:t>«Якщо тіло рухається рівномірно, на нього взагалі не діють сили». Чи правильне це твердження?</a:t>
            </a:r>
            <a:endParaRPr lang="en-US" sz="34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922270"/>
            <a:ext cx="11094415" cy="1309624"/>
          </a:xfrm>
          <a:prstGeom prst="roundRect">
            <a:avLst>
              <a:gd name="adj" fmla="val 6982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2. </a:t>
            </a:r>
            <a:r>
              <a:rPr lang="en-US" sz="3400" dirty="0">
                <a:solidFill>
                  <a:schemeClr val="tx1"/>
                </a:solidFill>
              </a:rPr>
              <a:t>Яку роботу треба виконати, щоб швидкість тіла масою m збільшилася від v₁ до v₂, якщо тертя немає?</a:t>
            </a:r>
            <a:endParaRPr lang="en-US" sz="34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643374"/>
            <a:ext cx="11094415" cy="1836420"/>
          </a:xfrm>
          <a:prstGeom prst="roundRect">
            <a:avLst>
              <a:gd name="adj" fmla="val 497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3. </a:t>
            </a:r>
            <a:r>
              <a:rPr lang="en-US" sz="3400" dirty="0">
                <a:solidFill>
                  <a:schemeClr val="tx1"/>
                </a:solidFill>
              </a:rPr>
              <a:t>Знайдіть та виправте помилку: площа під кривою розподілу Максвелла збільшується при нагріванні газу.</a:t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25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37160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 </a:t>
            </a:r>
            <a:r>
              <a:rPr lang="en-US" sz="3600" dirty="0">
                <a:solidFill>
                  <a:schemeClr val="tx1"/>
                </a:solidFill>
              </a:rPr>
              <a:t>Намалюйте графік v(t) для рівномірного гальмування.</a:t>
            </a:r>
            <a:endParaRPr lang="en-US" sz="3600" dirty="0"/>
          </a:p>
        </p:txBody>
      </p:sp>
      <p:sp>
        <p:nvSpPr>
          <p:cNvPr id="4" name="q2"/>
          <p:cNvSpPr txBox="1"/>
          <p:nvPr/>
        </p:nvSpPr>
        <p:spPr>
          <a:xfrm>
            <a:off x="548640" y="315468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2. </a:t>
            </a:r>
            <a:r>
              <a:rPr lang="en-US" sz="3600" dirty="0">
                <a:solidFill>
                  <a:schemeClr val="tx1"/>
                </a:solidFill>
              </a:rPr>
              <a:t>Запишіть основне рівняння динаміки обертального руху.</a:t>
            </a:r>
            <a:endParaRPr lang="en-US" sz="3600" dirty="0"/>
          </a:p>
        </p:txBody>
      </p:sp>
      <p:sp>
        <p:nvSpPr>
          <p:cNvPr id="5" name="q3"/>
          <p:cNvSpPr txBox="1"/>
          <p:nvPr/>
        </p:nvSpPr>
        <p:spPr>
          <a:xfrm>
            <a:off x="548640" y="493776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 </a:t>
            </a:r>
            <a:r>
              <a:rPr lang="en-US" sz="3600" dirty="0">
                <a:solidFill>
                  <a:schemeClr val="tx1"/>
                </a:solidFill>
              </a:rPr>
              <a:t>Знайдіть та виправте помилку: площа замкненої петлі на pV-діаграмі завжди дорівнює нулю.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26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11094415" cy="1340612"/>
          </a:xfrm>
          <a:prstGeom prst="roundRect">
            <a:avLst>
              <a:gd name="adj" fmla="val 68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accent1"/>
                </a:solidFill>
              </a:rPr>
              <a:t>1. </a:t>
            </a:r>
            <a:r>
              <a:rPr lang="en-US" sz="3500" dirty="0">
                <a:solidFill>
                  <a:schemeClr val="tx1"/>
                </a:solidFill>
              </a:rPr>
              <a:t>Запишіть формулу шляху при рівноприскореному русі з нульовою початковою швидкістю.</a:t>
            </a:r>
            <a:endParaRPr lang="en-US" sz="3500" dirty="0"/>
          </a:p>
        </p:txBody>
      </p:sp>
      <p:sp>
        <p:nvSpPr>
          <p:cNvPr id="4" name="q2"/>
          <p:cNvSpPr txBox="1"/>
          <p:nvPr/>
        </p:nvSpPr>
        <p:spPr>
          <a:xfrm>
            <a:off x="548640" y="2899029"/>
            <a:ext cx="11094415" cy="1882902"/>
          </a:xfrm>
          <a:prstGeom prst="roundRect">
            <a:avLst>
              <a:gd name="adj" fmla="val 485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accent1"/>
                </a:solidFill>
              </a:rPr>
              <a:t>2. </a:t>
            </a:r>
            <a:r>
              <a:rPr lang="en-US" sz="3500" dirty="0">
                <a:solidFill>
                  <a:schemeClr val="tx1"/>
                </a:solidFill>
              </a:rPr>
              <a:t>Знайдіть та виправте помилку: якщо швидкість тіла збільшилася вдвічі, його кінетична енергія збільшилася вдвічі.</a:t>
            </a:r>
            <a:endParaRPr lang="en-US" sz="3500" dirty="0"/>
          </a:p>
        </p:txBody>
      </p:sp>
      <p:sp>
        <p:nvSpPr>
          <p:cNvPr id="5" name="q3"/>
          <p:cNvSpPr txBox="1"/>
          <p:nvPr/>
        </p:nvSpPr>
        <p:spPr>
          <a:xfrm>
            <a:off x="548640" y="5151628"/>
            <a:ext cx="11094415" cy="1340612"/>
          </a:xfrm>
          <a:prstGeom prst="roundRect">
            <a:avLst>
              <a:gd name="adj" fmla="val 68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chemeClr val="accent1"/>
                </a:solidFill>
              </a:rPr>
              <a:t>3. </a:t>
            </a:r>
            <a:r>
              <a:rPr lang="en-US" sz="3500" dirty="0">
                <a:solidFill>
                  <a:schemeClr val="tx1"/>
                </a:solidFill>
              </a:rPr>
              <a:t>Як змінюється форма кривої розподілу Максвелла при підвищенні температури?</a:t>
            </a:r>
            <a:endParaRPr lang="en-US" sz="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27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6964528" cy="1650492"/>
          </a:xfrm>
          <a:prstGeom prst="roundRect">
            <a:avLst>
              <a:gd name="adj" fmla="val 554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1. </a:t>
            </a:r>
            <a:r>
              <a:rPr lang="en-US" sz="3000" dirty="0">
                <a:solidFill>
                  <a:schemeClr val="tx1"/>
                </a:solidFill>
              </a:rPr>
              <a:t>Покажіть усі сили, що діють на тіло, яке знаходиться на похилій площині.</a:t>
            </a:r>
            <a:endParaRPr lang="en-US" sz="30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208" y="2826701"/>
            <a:ext cx="3809848" cy="2027558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3015234"/>
            <a:ext cx="6964528" cy="1650492"/>
          </a:xfrm>
          <a:prstGeom prst="roundRect">
            <a:avLst>
              <a:gd name="adj" fmla="val 554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2. </a:t>
            </a:r>
            <a:r>
              <a:rPr lang="en-US" sz="3000" dirty="0">
                <a:solidFill>
                  <a:schemeClr val="tx1"/>
                </a:solidFill>
              </a:rPr>
              <a:t>Знайдіть та виправте помилку: момент інерції тіла залежить тільки від його маси.</a:t>
            </a:r>
            <a:endParaRPr lang="en-US" sz="3000" dirty="0"/>
          </a:p>
        </p:txBody>
      </p:sp>
      <p:sp>
        <p:nvSpPr>
          <p:cNvPr id="6" name="q3"/>
          <p:cNvSpPr txBox="1"/>
          <p:nvPr/>
        </p:nvSpPr>
        <p:spPr>
          <a:xfrm>
            <a:off x="548640" y="4841748"/>
            <a:ext cx="6964528" cy="1650492"/>
          </a:xfrm>
          <a:prstGeom prst="roundRect">
            <a:avLst>
              <a:gd name="adj" fmla="val 554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3. </a:t>
            </a:r>
            <a:r>
              <a:rPr lang="en-US" sz="3000" dirty="0">
                <a:solidFill>
                  <a:schemeClr val="tx1"/>
                </a:solidFill>
              </a:rPr>
              <a:t>Для ізотермічного розширення студент записав: ΔU &gt; 0. Чи правильна його відповідь?</a:t>
            </a:r>
            <a:endParaRPr 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28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47648"/>
            <a:ext cx="6873088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1. </a:t>
            </a:r>
            <a:r>
              <a:rPr lang="en-US" sz="2900" dirty="0">
                <a:solidFill>
                  <a:schemeClr val="tx1"/>
                </a:solidFill>
              </a:rPr>
              <a:t>«Якщо тіло рухається, на нього обов'язково діє ненульова рівнодійна сила». Чи правильне це твердження?</a:t>
            </a:r>
            <a:endParaRPr lang="en-US" sz="2900" dirty="0"/>
          </a:p>
        </p:txBody>
      </p:sp>
      <p:sp>
        <p:nvSpPr>
          <p:cNvPr id="4" name="q2"/>
          <p:cNvSpPr txBox="1"/>
          <p:nvPr/>
        </p:nvSpPr>
        <p:spPr>
          <a:xfrm>
            <a:off x="548640" y="3263138"/>
            <a:ext cx="6873088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2. </a:t>
            </a:r>
            <a:r>
              <a:rPr lang="en-US" sz="2900" dirty="0">
                <a:solidFill>
                  <a:schemeClr val="tx1"/>
                </a:solidFill>
              </a:rPr>
              <a:t>Запишіть повну кінетичну енергію циліндра, що котиться без проковзування.</a:t>
            </a:r>
            <a:endParaRPr lang="en-US" sz="2900" dirty="0"/>
          </a:p>
        </p:txBody>
      </p:sp>
      <p:pic>
        <p:nvPicPr>
          <p:cNvPr id="5" name="img2" descr="Рисунок до запитання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8" y="2543254"/>
            <a:ext cx="3901288" cy="2594452"/>
          </a:xfrm>
          <a:prstGeom prst="rect">
            <a:avLst/>
          </a:prstGeom>
        </p:spPr>
      </p:pic>
      <p:sp>
        <p:nvSpPr>
          <p:cNvPr id="6" name="q3"/>
          <p:cNvSpPr txBox="1"/>
          <p:nvPr/>
        </p:nvSpPr>
        <p:spPr>
          <a:xfrm>
            <a:off x="548640" y="5278628"/>
            <a:ext cx="6873088" cy="1154684"/>
          </a:xfrm>
          <a:prstGeom prst="roundRect">
            <a:avLst>
              <a:gd name="adj" fmla="val 791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3. </a:t>
            </a:r>
            <a:r>
              <a:rPr lang="en-US" sz="2900" dirty="0">
                <a:solidFill>
                  <a:schemeClr val="tx1"/>
                </a:solidFill>
              </a:rPr>
              <a:t>Який вигляд має ізохора на (pV)-діаграмі?</a:t>
            </a:r>
            <a:endParaRPr lang="en-US" sz="2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29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188720"/>
            <a:ext cx="6050128" cy="2425192"/>
          </a:xfrm>
          <a:prstGeom prst="roundRect">
            <a:avLst>
              <a:gd name="adj" fmla="val 377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1. </a:t>
            </a:r>
            <a:r>
              <a:rPr lang="en-US" sz="2800" dirty="0">
                <a:solidFill>
                  <a:schemeClr val="tx1"/>
                </a:solidFill>
              </a:rPr>
              <a:t>Тіло знаходиться на похилій площині, що утворює кут α з горизонтом. Розкладіть силу тяжіння на компоненти вздовж та перпендикулярно площині.</a:t>
            </a:r>
            <a:endParaRPr lang="en-US" sz="28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808" y="2583384"/>
            <a:ext cx="4724248" cy="2514192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3929380"/>
            <a:ext cx="6050128" cy="689864"/>
          </a:xfrm>
          <a:prstGeom prst="roundRect">
            <a:avLst>
              <a:gd name="adj" fmla="val 1325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2. </a:t>
            </a:r>
            <a:r>
              <a:rPr lang="en-US" sz="2800" dirty="0">
                <a:solidFill>
                  <a:schemeClr val="tx1"/>
                </a:solidFill>
              </a:rPr>
              <a:t>Що таке плече сили?</a:t>
            </a:r>
            <a:endParaRPr lang="en-US" sz="2800" dirty="0"/>
          </a:p>
        </p:txBody>
      </p:sp>
      <p:sp>
        <p:nvSpPr>
          <p:cNvPr id="6" name="q3"/>
          <p:cNvSpPr txBox="1"/>
          <p:nvPr/>
        </p:nvSpPr>
        <p:spPr>
          <a:xfrm>
            <a:off x="548640" y="4934712"/>
            <a:ext cx="6050128" cy="1557528"/>
          </a:xfrm>
          <a:prstGeom prst="roundRect">
            <a:avLst>
              <a:gd name="adj" fmla="val 587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3. </a:t>
            </a:r>
            <a:r>
              <a:rPr lang="en-US" sz="2800" dirty="0">
                <a:solidFill>
                  <a:schemeClr val="tx1"/>
                </a:solidFill>
              </a:rPr>
              <a:t>Намалюйте графік процесу, під час якого газ отримує теплоту, але його температура не змінюється.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Набір завдань № 30</a:t>
            </a:r>
            <a:endParaRPr lang="en-US" sz="3200" dirty="0"/>
          </a:p>
        </p:txBody>
      </p:sp>
      <p:sp>
        <p:nvSpPr>
          <p:cNvPr id="3" name="q1"/>
          <p:cNvSpPr txBox="1"/>
          <p:nvPr/>
        </p:nvSpPr>
        <p:spPr>
          <a:xfrm>
            <a:off x="548640" y="1247648"/>
            <a:ext cx="6873088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1. </a:t>
            </a:r>
            <a:r>
              <a:rPr lang="en-US" sz="2900" dirty="0">
                <a:solidFill>
                  <a:schemeClr val="tx1"/>
                </a:solidFill>
              </a:rPr>
              <a:t>Що можна сказати про горизонтальну компоненту швидкості при польоті тіла без опору повітря?</a:t>
            </a:r>
            <a:endParaRPr lang="en-US" sz="2900" dirty="0"/>
          </a:p>
        </p:txBody>
      </p:sp>
      <p:pic>
        <p:nvPicPr>
          <p:cNvPr id="4" name="img1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68" y="2778334"/>
            <a:ext cx="3901288" cy="2124292"/>
          </a:xfrm>
          <a:prstGeom prst="rect">
            <a:avLst/>
          </a:prstGeom>
        </p:spPr>
      </p:pic>
      <p:sp>
        <p:nvSpPr>
          <p:cNvPr id="5" name="q2"/>
          <p:cNvSpPr txBox="1"/>
          <p:nvPr/>
        </p:nvSpPr>
        <p:spPr>
          <a:xfrm>
            <a:off x="548640" y="3263138"/>
            <a:ext cx="6873088" cy="1154684"/>
          </a:xfrm>
          <a:prstGeom prst="roundRect">
            <a:avLst>
              <a:gd name="adj" fmla="val 7919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2. </a:t>
            </a:r>
            <a:r>
              <a:rPr lang="en-US" sz="2900" dirty="0">
                <a:solidFill>
                  <a:schemeClr val="tx1"/>
                </a:solidFill>
              </a:rPr>
              <a:t>Від чого залежить момент інерції тіла?</a:t>
            </a:r>
            <a:endParaRPr lang="en-US" sz="2900" dirty="0"/>
          </a:p>
        </p:txBody>
      </p:sp>
      <p:sp>
        <p:nvSpPr>
          <p:cNvPr id="6" name="q3"/>
          <p:cNvSpPr txBox="1"/>
          <p:nvPr/>
        </p:nvSpPr>
        <p:spPr>
          <a:xfrm>
            <a:off x="548640" y="4829302"/>
            <a:ext cx="6873088" cy="1604010"/>
          </a:xfrm>
          <a:prstGeom prst="roundRect">
            <a:avLst>
              <a:gd name="adj" fmla="val 570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chemeClr val="accent1"/>
                </a:solidFill>
              </a:rPr>
              <a:t>3. </a:t>
            </a:r>
            <a:r>
              <a:rPr lang="en-US" sz="2900" dirty="0">
                <a:solidFill>
                  <a:schemeClr val="tx1"/>
                </a:solidFill>
              </a:rPr>
              <a:t>Що таке теплоємність газу при сталому тиску? Від чого вона залежить?</a:t>
            </a:r>
            <a:endParaRPr lang="en-US" sz="2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Фізика">
  <a:themeElements>
    <a:clrScheme name="Фізика">
      <a:dk1>
        <a:srgbClr val="1F2937"/>
      </a:dk1>
      <a:lt1>
        <a:srgbClr val="FFFFFF"/>
      </a:lt1>
      <a:dk2>
        <a:srgbClr val="1B2A49"/>
      </a:dk2>
      <a:lt2>
        <a:srgbClr val="EAF0F8"/>
      </a:lt2>
      <a:accent1>
        <a:srgbClr val="C2410C"/>
      </a:accent1>
      <a:accent2>
        <a:srgbClr val="0F766E"/>
      </a:accent2>
      <a:accent3>
        <a:srgbClr val="1D4ED8"/>
      </a:accent3>
      <a:accent4>
        <a:srgbClr val="7C3AED"/>
      </a:accent4>
      <a:accent5>
        <a:srgbClr val="B45309"/>
      </a:accent5>
      <a:accent6>
        <a:srgbClr val="475569"/>
      </a:accent6>
      <a:hlink>
        <a:srgbClr val="1D4ED8"/>
      </a:hlink>
      <a:folHlink>
        <a:srgbClr val="7C3AED"/>
      </a:folHlink>
    </a:clrScheme>
    <a:fontScheme name="Фізика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1538</Words>
  <Application>Microsoft Office PowerPoint</Application>
  <PresentationFormat>Широкий екран</PresentationFormat>
  <Paragraphs>150</Paragraphs>
  <Slides>30</Slides>
  <Notes>30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30</vt:i4>
      </vt:variant>
    </vt:vector>
  </HeadingPairs>
  <TitlesOfParts>
    <vt:vector size="32" baseType="lpstr">
      <vt:lpstr>Arial</vt:lpstr>
      <vt:lpstr>Фізика</vt:lpstr>
      <vt:lpstr>Набір завдань № 1</vt:lpstr>
      <vt:lpstr>Набір завдань № 2</vt:lpstr>
      <vt:lpstr>Набір завдань № 3</vt:lpstr>
      <vt:lpstr>Набір завдань № 4</vt:lpstr>
      <vt:lpstr>Набір завдань № 5</vt:lpstr>
      <vt:lpstr>Набір завдань № 6</vt:lpstr>
      <vt:lpstr>Набір завдань № 7</vt:lpstr>
      <vt:lpstr>Набір завдань № 8</vt:lpstr>
      <vt:lpstr>Набір завдань № 9</vt:lpstr>
      <vt:lpstr>Набір завдань № 10</vt:lpstr>
      <vt:lpstr>Набір завдань № 11</vt:lpstr>
      <vt:lpstr>Набір завдань № 12</vt:lpstr>
      <vt:lpstr>Набір завдань № 13</vt:lpstr>
      <vt:lpstr>Набір завдань № 14</vt:lpstr>
      <vt:lpstr>Набір завдань № 15</vt:lpstr>
      <vt:lpstr>Набір завдань № 16</vt:lpstr>
      <vt:lpstr>Набір завдань № 17</vt:lpstr>
      <vt:lpstr>Набір завдань № 18</vt:lpstr>
      <vt:lpstr>Набір завдань № 19</vt:lpstr>
      <vt:lpstr>Набір завдань № 20</vt:lpstr>
      <vt:lpstr>Набір завдань № 21</vt:lpstr>
      <vt:lpstr>Набір завдань № 22</vt:lpstr>
      <vt:lpstr>Набір завдань № 23</vt:lpstr>
      <vt:lpstr>Набір завдань № 24</vt:lpstr>
      <vt:lpstr>Набір завдань № 25</vt:lpstr>
      <vt:lpstr>Набір завдань № 26</vt:lpstr>
      <vt:lpstr>Набір завдань № 27</vt:lpstr>
      <vt:lpstr>Набір завдань № 28</vt:lpstr>
      <vt:lpstr>Набір завдань № 29</vt:lpstr>
      <vt:lpstr>Набір завдань №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Набори завдань з фізики</dc:title>
  <dc:subject>PptxGenJS Presentation</dc:subject>
  <dc:creator>PptxGenJS</dc:creator>
  <cp:lastModifiedBy>oleg</cp:lastModifiedBy>
  <cp:revision>1</cp:revision>
  <dcterms:created xsi:type="dcterms:W3CDTF">2026-10-13T15:48:35Z</dcterms:created>
  <dcterms:modified xsi:type="dcterms:W3CDTF">2026-10-13T15:55:34Z</dcterms:modified>
</cp:coreProperties>
</file>