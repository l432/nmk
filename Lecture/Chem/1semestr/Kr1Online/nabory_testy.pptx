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бори завдань (тести)" id="{9A2C8B30-C80E-0CAD-2D8D-120B625F20B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332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249680"/>
          </a:xfrm>
          <a:prstGeom prst="roundRect">
            <a:avLst>
              <a:gd name="adj" fmla="val 439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Камінь кинули вертикально вгору. Яке прискорення він має під час руху вгору? А під час падіння?</a:t>
            </a:r>
            <a:endParaRPr lang="en-US" sz="1800" dirty="0"/>
          </a:p>
        </p:txBody>
      </p:sp>
      <p:sp>
        <p:nvSpPr>
          <p:cNvPr id="4" name="q1_o0"/>
          <p:cNvSpPr/>
          <p:nvPr/>
        </p:nvSpPr>
        <p:spPr>
          <a:xfrm>
            <a:off x="411480" y="2182368"/>
            <a:ext cx="3655466" cy="1524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В обох випадках прискорення одинакове і дорівнює прискоренню вільного падіння g (спрямоване вниз).</a:t>
            </a:r>
            <a:endParaRPr lang="en-US" sz="1800" dirty="0"/>
          </a:p>
        </p:txBody>
      </p:sp>
      <p:sp>
        <p:nvSpPr>
          <p:cNvPr id="5" name="q1_o1"/>
          <p:cNvSpPr/>
          <p:nvPr/>
        </p:nvSpPr>
        <p:spPr>
          <a:xfrm>
            <a:off x="411480" y="3770376"/>
            <a:ext cx="3655466" cy="97536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Під час руху вгору прискорення спрямоване вгору, під час падіння — вниз.</a:t>
            </a:r>
            <a:endParaRPr lang="en-US" sz="1800" dirty="0"/>
          </a:p>
        </p:txBody>
      </p:sp>
      <p:sp>
        <p:nvSpPr>
          <p:cNvPr id="6" name="q1_o2"/>
          <p:cNvSpPr/>
          <p:nvPr/>
        </p:nvSpPr>
        <p:spPr>
          <a:xfrm>
            <a:off x="411480" y="4809744"/>
            <a:ext cx="3655466" cy="841248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Під час руху вгору прискорення більше </a:t>
            </a:r>
            <a:r>
              <a:rPr lang="en-US" sz="1800" dirty="0" err="1">
                <a:solidFill>
                  <a:schemeClr val="tx1"/>
                </a:solidFill>
              </a:rPr>
              <a:t>ніж</a:t>
            </a:r>
            <a:r>
              <a:rPr lang="en-US" sz="1800" dirty="0">
                <a:solidFill>
                  <a:schemeClr val="tx1"/>
                </a:solidFill>
              </a:rPr>
              <a:t> g</a:t>
            </a:r>
            <a:r>
              <a:rPr lang="uk-UA" dirty="0"/>
              <a:t>, під час руху вниз - менше</a:t>
            </a:r>
            <a:endParaRPr lang="en-US" sz="1800" dirty="0"/>
          </a:p>
        </p:txBody>
      </p:sp>
      <p:sp>
        <p:nvSpPr>
          <p:cNvPr id="7" name="q1_o3"/>
          <p:cNvSpPr/>
          <p:nvPr/>
        </p:nvSpPr>
        <p:spPr>
          <a:xfrm>
            <a:off x="411480" y="5715000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uk-UA" dirty="0"/>
              <a:t>П</a:t>
            </a:r>
            <a:r>
              <a:rPr lang="uk-UA" sz="1800" dirty="0">
                <a:solidFill>
                  <a:schemeClr val="tx1"/>
                </a:solidFill>
              </a:rPr>
              <a:t>рискорення в обох випадках дорівнює нулю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q1_ans"/>
          <p:cNvSpPr/>
          <p:nvPr/>
        </p:nvSpPr>
        <p:spPr>
          <a:xfrm>
            <a:off x="411480" y="2182368"/>
            <a:ext cx="3655466" cy="1524000"/>
          </a:xfrm>
          <a:prstGeom prst="roundRect">
            <a:avLst>
              <a:gd name="adj" fmla="val 36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A) В обох випадках прискорення одинакове і дорівнює прискоренню вільного падіння g (спрямоване вниз).</a:t>
            </a:r>
            <a:endParaRPr lang="en-US" sz="18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249680"/>
          </a:xfrm>
          <a:prstGeom prst="roundRect">
            <a:avLst>
              <a:gd name="adj" fmla="val 439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Знайдіть та виправте помилку: під час зіткнення двох тіл імпульс кожного тіла окремо зберігається.</a:t>
            </a:r>
            <a:endParaRPr lang="en-US" sz="1800" dirty="0"/>
          </a:p>
        </p:txBody>
      </p:sp>
      <p:sp>
        <p:nvSpPr>
          <p:cNvPr id="10" name="q2_o0"/>
          <p:cNvSpPr/>
          <p:nvPr/>
        </p:nvSpPr>
        <p:spPr>
          <a:xfrm>
            <a:off x="4268114" y="2182368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Помилки немає, імпульс кожного тіла зберігається.</a:t>
            </a:r>
            <a:endParaRPr lang="en-US" sz="1800" dirty="0"/>
          </a:p>
        </p:txBody>
      </p:sp>
      <p:sp>
        <p:nvSpPr>
          <p:cNvPr id="11" name="q2_o1"/>
          <p:cNvSpPr/>
          <p:nvPr/>
        </p:nvSpPr>
        <p:spPr>
          <a:xfrm>
            <a:off x="4268114" y="2947416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Імпульс всієї системи завжди зменшується.</a:t>
            </a:r>
            <a:endParaRPr lang="en-US" sz="1800" dirty="0"/>
          </a:p>
        </p:txBody>
      </p:sp>
      <p:sp>
        <p:nvSpPr>
          <p:cNvPr id="12" name="q2_o2"/>
          <p:cNvSpPr/>
          <p:nvPr/>
        </p:nvSpPr>
        <p:spPr>
          <a:xfrm>
            <a:off x="4268114" y="3712464"/>
            <a:ext cx="3655466" cy="1524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Зберігається лише векторна сума імпульсів замкненої системи; імпульси окремих тіл змінюються внаслідок взаємодії.</a:t>
            </a:r>
            <a:endParaRPr lang="en-US" sz="1800" dirty="0"/>
          </a:p>
        </p:txBody>
      </p:sp>
      <p:sp>
        <p:nvSpPr>
          <p:cNvPr id="13" name="q2_o3"/>
          <p:cNvSpPr/>
          <p:nvPr/>
        </p:nvSpPr>
        <p:spPr>
          <a:xfrm>
            <a:off x="4268114" y="5300472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Зберігаються лише модулі швидкостей окремих тіл.</a:t>
            </a:r>
            <a:endParaRPr lang="en-US" sz="1800" dirty="0"/>
          </a:p>
        </p:txBody>
      </p:sp>
      <p:sp>
        <p:nvSpPr>
          <p:cNvPr id="14" name="q2_ans"/>
          <p:cNvSpPr/>
          <p:nvPr/>
        </p:nvSpPr>
        <p:spPr>
          <a:xfrm>
            <a:off x="4268114" y="3712464"/>
            <a:ext cx="3655466" cy="1524000"/>
          </a:xfrm>
          <a:prstGeom prst="roundRect">
            <a:avLst>
              <a:gd name="adj" fmla="val 36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C) Зберігається лише векторна сума імпульсів замкненої системи; імпульси окремих тіл змінюються внаслідок взаємодії.</a:t>
            </a:r>
            <a:endParaRPr lang="en-US" sz="18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Запишіть рівняння Менделєєва–Клапейрона.</a:t>
            </a:r>
            <a:endParaRPr lang="en-US" sz="1800" dirty="0"/>
          </a:p>
        </p:txBody>
      </p:sp>
      <p:sp>
        <p:nvSpPr>
          <p:cNvPr id="16" name="q3_o0"/>
          <p:cNvSpPr/>
          <p:nvPr/>
        </p:nvSpPr>
        <p:spPr>
          <a:xfrm>
            <a:off x="8124749" y="1633728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p = n </a:t>
            </a:r>
            <a:r>
              <a:rPr lang="en-US" dirty="0"/>
              <a:t>R</a:t>
            </a:r>
            <a:r>
              <a:rPr lang="en-US" sz="1800" dirty="0">
                <a:solidFill>
                  <a:schemeClr val="tx1"/>
                </a:solidFill>
              </a:rPr>
              <a:t> T</a:t>
            </a:r>
            <a:endParaRPr lang="en-US" sz="1800" dirty="0"/>
          </a:p>
        </p:txBody>
      </p:sp>
      <p:sp>
        <p:nvSpPr>
          <p:cNvPr id="17" name="q3_o1"/>
          <p:cNvSpPr/>
          <p:nvPr/>
        </p:nvSpPr>
        <p:spPr>
          <a:xfrm>
            <a:off x="8124749" y="2124456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pV = (m/M)RT</a:t>
            </a:r>
            <a:endParaRPr lang="en-US" sz="1800" dirty="0"/>
          </a:p>
        </p:txBody>
      </p:sp>
      <p:sp>
        <p:nvSpPr>
          <p:cNvPr id="18" name="q3_o2"/>
          <p:cNvSpPr/>
          <p:nvPr/>
        </p:nvSpPr>
        <p:spPr>
          <a:xfrm>
            <a:off x="8124749" y="2615184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p</a:t>
            </a:r>
            <a:r>
              <a:rPr lang="en-US" sz="1800" baseline="-4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 V</a:t>
            </a:r>
            <a:r>
              <a:rPr lang="en-US" sz="1800" baseline="-40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 = p</a:t>
            </a:r>
            <a:r>
              <a:rPr lang="en-US" sz="1800" baseline="-40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 V</a:t>
            </a:r>
            <a:r>
              <a:rPr lang="en-US" sz="1800" baseline="-40000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q3_o3"/>
          <p:cNvSpPr/>
          <p:nvPr/>
        </p:nvSpPr>
        <p:spPr>
          <a:xfrm>
            <a:off x="8124749" y="3105912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V/T = const</a:t>
            </a:r>
            <a:endParaRPr lang="en-US" sz="1800" dirty="0"/>
          </a:p>
        </p:txBody>
      </p:sp>
      <p:sp>
        <p:nvSpPr>
          <p:cNvPr id="20" name="q3_ans"/>
          <p:cNvSpPr/>
          <p:nvPr/>
        </p:nvSpPr>
        <p:spPr>
          <a:xfrm>
            <a:off x="8124749" y="2124456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B) pV = (m/M)RT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Знайдіть та виправте помилку: при рівномірному русі по колу швидкість стала, тому прискорення відсутнє.</a:t>
            </a:r>
            <a:endParaRPr lang="en-US" sz="1700" dirty="0"/>
          </a:p>
        </p:txBody>
      </p:sp>
      <p:sp>
        <p:nvSpPr>
          <p:cNvPr id="4" name="q1_o0"/>
          <p:cNvSpPr/>
          <p:nvPr/>
        </p:nvSpPr>
        <p:spPr>
          <a:xfrm>
            <a:off x="411480" y="2121408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 err="1">
                <a:solidFill>
                  <a:schemeClr val="tx1"/>
                </a:solidFill>
              </a:rPr>
              <a:t>Прискорення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/>
              <a:t>відсутнє </a:t>
            </a:r>
            <a:r>
              <a:rPr lang="en-US" sz="1700" dirty="0" err="1">
                <a:solidFill>
                  <a:schemeClr val="tx1"/>
                </a:solidFill>
              </a:rPr>
              <a:t>тільки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за</a:t>
            </a:r>
            <a:r>
              <a:rPr lang="uk-UA" sz="1700" dirty="0">
                <a:solidFill>
                  <a:schemeClr val="tx1"/>
                </a:solidFill>
              </a:rPr>
              <a:t> умови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відсутності</a:t>
            </a:r>
            <a:r>
              <a:rPr lang="en-US" sz="1700" dirty="0">
                <a:solidFill>
                  <a:schemeClr val="tx1"/>
                </a:solidFill>
              </a:rPr>
              <a:t> сили тертя.</a:t>
            </a:r>
            <a:endParaRPr lang="en-US" sz="1700" dirty="0"/>
          </a:p>
        </p:txBody>
      </p:sp>
      <p:sp>
        <p:nvSpPr>
          <p:cNvPr id="5" name="q1_o1"/>
          <p:cNvSpPr/>
          <p:nvPr/>
        </p:nvSpPr>
        <p:spPr>
          <a:xfrm>
            <a:off x="411480" y="2855976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Твердження правильне, прискорення відсутнє.</a:t>
            </a:r>
            <a:endParaRPr lang="en-US" sz="1700" dirty="0"/>
          </a:p>
        </p:txBody>
      </p:sp>
      <p:sp>
        <p:nvSpPr>
          <p:cNvPr id="6" name="q1_o2"/>
          <p:cNvSpPr/>
          <p:nvPr/>
        </p:nvSpPr>
        <p:spPr>
          <a:xfrm>
            <a:off x="411480" y="3590544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Прискорення спрямоване вздовж дотичної до кола.</a:t>
            </a:r>
            <a:endParaRPr lang="en-US" sz="1700" dirty="0"/>
          </a:p>
        </p:txBody>
      </p:sp>
      <p:sp>
        <p:nvSpPr>
          <p:cNvPr id="7" name="q1_o3"/>
          <p:cNvSpPr/>
          <p:nvPr/>
        </p:nvSpPr>
        <p:spPr>
          <a:xfrm>
            <a:off x="411480" y="4325112"/>
            <a:ext cx="3655466" cy="1706880"/>
          </a:xfrm>
          <a:prstGeom prst="roundRect">
            <a:avLst>
              <a:gd name="adj" fmla="val 32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Сталим є лише модуль швидкості, а напрямок вектора швидкості змінюється, що зумовлює наявність доцентрового прискорення a = v²/r.</a:t>
            </a:r>
            <a:endParaRPr lang="en-US" sz="1700" dirty="0"/>
          </a:p>
        </p:txBody>
      </p:sp>
      <p:sp>
        <p:nvSpPr>
          <p:cNvPr id="8" name="q1_ans"/>
          <p:cNvSpPr/>
          <p:nvPr/>
        </p:nvSpPr>
        <p:spPr>
          <a:xfrm>
            <a:off x="411480" y="4325112"/>
            <a:ext cx="3655466" cy="1706880"/>
          </a:xfrm>
          <a:prstGeom prst="roundRect">
            <a:avLst>
              <a:gd name="adj" fmla="val 321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Сталим є лише модуль швидкості, а напрямок вектора швидкості змінюється, що зумовлює наявність </a:t>
            </a:r>
            <a:r>
              <a:rPr lang="en-US" sz="1700" b="1" dirty="0" err="1">
                <a:solidFill>
                  <a:schemeClr val="bg1"/>
                </a:solidFill>
              </a:rPr>
              <a:t>доцентрового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прискорення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Знайдіть та виправте помилку: якщо система замкнена, кінетична енергія системи завжди зберігається.</a:t>
            </a:r>
            <a:endParaRPr lang="en-US" sz="1700" dirty="0"/>
          </a:p>
        </p:txBody>
      </p:sp>
      <p:sp>
        <p:nvSpPr>
          <p:cNvPr id="10" name="q2_o0"/>
          <p:cNvSpPr/>
          <p:nvPr/>
        </p:nvSpPr>
        <p:spPr>
          <a:xfrm>
            <a:off x="4268114" y="2121408"/>
            <a:ext cx="3655466" cy="92964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Кінетична енергія зберігається лише у відкритих системах.</a:t>
            </a:r>
            <a:endParaRPr lang="en-US" sz="1700" dirty="0"/>
          </a:p>
        </p:txBody>
      </p:sp>
      <p:sp>
        <p:nvSpPr>
          <p:cNvPr id="11" name="q2_o1"/>
          <p:cNvSpPr/>
          <p:nvPr/>
        </p:nvSpPr>
        <p:spPr>
          <a:xfrm>
            <a:off x="4268267" y="3157728"/>
            <a:ext cx="3655466" cy="929640"/>
          </a:xfrm>
          <a:prstGeom prst="roundRect">
            <a:avLst>
              <a:gd name="adj" fmla="val 32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uk-UA" sz="1700" dirty="0"/>
              <a:t>Для замкненої системи зберігається п</a:t>
            </a:r>
            <a:r>
              <a:rPr lang="en-US" sz="1700" dirty="0" err="1"/>
              <a:t>овна</a:t>
            </a:r>
            <a:r>
              <a:rPr lang="en-US" sz="1700" dirty="0"/>
              <a:t> </a:t>
            </a:r>
            <a:r>
              <a:rPr lang="en-US" sz="1700" dirty="0" err="1"/>
              <a:t>механічна</a:t>
            </a:r>
            <a:r>
              <a:rPr lang="en-US" sz="1700" dirty="0"/>
              <a:t> </a:t>
            </a:r>
            <a:r>
              <a:rPr lang="en-US" sz="1700" dirty="0" err="1"/>
              <a:t>енергія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q2_o2"/>
          <p:cNvSpPr/>
          <p:nvPr/>
        </p:nvSpPr>
        <p:spPr>
          <a:xfrm>
            <a:off x="4268267" y="4151376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Кінетична енергія замкненої системи завжди зростає.</a:t>
            </a:r>
            <a:endParaRPr lang="en-US" sz="1700" dirty="0"/>
          </a:p>
        </p:txBody>
      </p:sp>
      <p:sp>
        <p:nvSpPr>
          <p:cNvPr id="13" name="q2_o3"/>
          <p:cNvSpPr/>
          <p:nvPr/>
        </p:nvSpPr>
        <p:spPr>
          <a:xfrm>
            <a:off x="4268267" y="4885944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Помилки немає, кінетична енергія завжди зберігається.</a:t>
            </a:r>
            <a:endParaRPr lang="en-US" sz="1700" dirty="0"/>
          </a:p>
        </p:txBody>
      </p:sp>
      <p:sp>
        <p:nvSpPr>
          <p:cNvPr id="14" name="q2_ans"/>
          <p:cNvSpPr/>
          <p:nvPr/>
        </p:nvSpPr>
        <p:spPr>
          <a:xfrm>
            <a:off x="4268267" y="3157728"/>
            <a:ext cx="3655466" cy="929640"/>
          </a:xfrm>
          <a:prstGeom prst="roundRect">
            <a:avLst>
              <a:gd name="adj" fmla="val 321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B) </a:t>
            </a:r>
            <a:r>
              <a:rPr lang="uk-UA" sz="1700" b="1" dirty="0">
                <a:solidFill>
                  <a:schemeClr val="bg1"/>
                </a:solidFill>
              </a:rPr>
              <a:t>Для замкненої системи зберігається п</a:t>
            </a:r>
            <a:r>
              <a:rPr lang="en-US" sz="1700" b="1" dirty="0" err="1">
                <a:solidFill>
                  <a:schemeClr val="bg1"/>
                </a:solidFill>
              </a:rPr>
              <a:t>овна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механічна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енергія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Знайдіть та виправте помилку: при ізохорному нагріванні ідеального газу його внутрішня енергія не змінюється.</a:t>
            </a:r>
            <a:endParaRPr lang="en-US" sz="1700" dirty="0"/>
          </a:p>
        </p:txBody>
      </p:sp>
      <p:sp>
        <p:nvSpPr>
          <p:cNvPr id="16" name="q3_o0"/>
          <p:cNvSpPr/>
          <p:nvPr/>
        </p:nvSpPr>
        <p:spPr>
          <a:xfrm>
            <a:off x="8124749" y="2121408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При нагріванні внутрішня енергія </a:t>
            </a:r>
            <a:r>
              <a:rPr lang="en-US" sz="1700" dirty="0" err="1">
                <a:solidFill>
                  <a:schemeClr val="tx1"/>
                </a:solidFill>
              </a:rPr>
              <a:t>завжди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збільшується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q3_o1"/>
          <p:cNvSpPr/>
          <p:nvPr/>
        </p:nvSpPr>
        <p:spPr>
          <a:xfrm>
            <a:off x="8124749" y="2855976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Помилки немає, внутрішня енергія є сталою.</a:t>
            </a:r>
            <a:endParaRPr lang="en-US" sz="1700" dirty="0"/>
          </a:p>
        </p:txBody>
      </p:sp>
      <p:sp>
        <p:nvSpPr>
          <p:cNvPr id="18" name="q3_o2"/>
          <p:cNvSpPr/>
          <p:nvPr/>
        </p:nvSpPr>
        <p:spPr>
          <a:xfrm>
            <a:off x="8124749" y="3590544"/>
            <a:ext cx="3655466" cy="92964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Внутрішня енергія змінюється тільки при ізотермічному процесі.</a:t>
            </a:r>
            <a:endParaRPr lang="en-US" sz="1700" dirty="0"/>
          </a:p>
        </p:txBody>
      </p:sp>
      <p:sp>
        <p:nvSpPr>
          <p:cNvPr id="19" name="q3_o3"/>
          <p:cNvSpPr/>
          <p:nvPr/>
        </p:nvSpPr>
        <p:spPr>
          <a:xfrm>
            <a:off x="8124749" y="4584192"/>
            <a:ext cx="3655466" cy="1447800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При ізохорному процесі (V = const) газ не виконує роботи (A = 0), але при нагріванні зростає температура і внутрішня енергія (ΔU = Q).</a:t>
            </a:r>
            <a:endParaRPr lang="en-US" sz="1700" dirty="0"/>
          </a:p>
        </p:txBody>
      </p:sp>
      <p:sp>
        <p:nvSpPr>
          <p:cNvPr id="20" name="q3_ans"/>
          <p:cNvSpPr/>
          <p:nvPr/>
        </p:nvSpPr>
        <p:spPr>
          <a:xfrm>
            <a:off x="8124749" y="4584192"/>
            <a:ext cx="3655466" cy="1447800"/>
          </a:xfrm>
          <a:prstGeom prst="roundRect">
            <a:avLst>
              <a:gd name="adj" fmla="val 3789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При ізохорному процесі (V = const) газ не виконує роботи (A = 0), але при нагріванні зростає температура і внутрішня енергія (ΔU = Q).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3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29640"/>
            <a:ext cx="3118844" cy="1834896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3713204" y="868680"/>
            <a:ext cx="8067011" cy="426720"/>
          </a:xfrm>
          <a:prstGeom prst="roundRect">
            <a:avLst>
              <a:gd name="adj" fmla="val 1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Від чого залежить час падіння тіла при горизонтальному кидку?</a:t>
            </a:r>
            <a:endParaRPr lang="en-US" sz="1800" dirty="0"/>
          </a:p>
        </p:txBody>
      </p:sp>
      <p:sp>
        <p:nvSpPr>
          <p:cNvPr id="5" name="q1_o0"/>
          <p:cNvSpPr/>
          <p:nvPr/>
        </p:nvSpPr>
        <p:spPr>
          <a:xfrm>
            <a:off x="3713204" y="1359408"/>
            <a:ext cx="4001502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Від кута кидка та маси тіла.</a:t>
            </a:r>
            <a:endParaRPr lang="en-US" sz="1800" dirty="0"/>
          </a:p>
        </p:txBody>
      </p:sp>
      <p:sp>
        <p:nvSpPr>
          <p:cNvPr id="6" name="q1_o1"/>
          <p:cNvSpPr/>
          <p:nvPr/>
        </p:nvSpPr>
        <p:spPr>
          <a:xfrm>
            <a:off x="7778714" y="1359408"/>
            <a:ext cx="4001502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Тільки від початкової горизонтальної швидкості v</a:t>
            </a:r>
            <a:r>
              <a:rPr lang="en-US" sz="1800" baseline="-40000" dirty="0">
                <a:solidFill>
                  <a:schemeClr val="tx1"/>
                </a:solidFill>
              </a:rPr>
              <a:t>0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q1_o2"/>
          <p:cNvSpPr/>
          <p:nvPr/>
        </p:nvSpPr>
        <p:spPr>
          <a:xfrm>
            <a:off x="3713204" y="2124456"/>
            <a:ext cx="4001502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Тільки від початкової висоти </a:t>
            </a:r>
            <a:r>
              <a:rPr lang="en-US" sz="1800" dirty="0" err="1">
                <a:solidFill>
                  <a:schemeClr val="tx1"/>
                </a:solidFill>
              </a:rPr>
              <a:t>кидка</a:t>
            </a:r>
            <a:r>
              <a:rPr lang="en-US" sz="1800" dirty="0">
                <a:solidFill>
                  <a:schemeClr val="tx1"/>
                </a:solidFill>
              </a:rPr>
              <a:t> h.</a:t>
            </a:r>
            <a:endParaRPr lang="en-US" sz="1800" dirty="0"/>
          </a:p>
        </p:txBody>
      </p:sp>
      <p:sp>
        <p:nvSpPr>
          <p:cNvPr id="8" name="q1_o3"/>
          <p:cNvSpPr/>
          <p:nvPr/>
        </p:nvSpPr>
        <p:spPr>
          <a:xfrm>
            <a:off x="7778714" y="2124456"/>
            <a:ext cx="4001502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Від маси тіла та початкової швидкості.</a:t>
            </a:r>
            <a:endParaRPr lang="en-US" sz="1800" dirty="0"/>
          </a:p>
        </p:txBody>
      </p:sp>
      <p:sp>
        <p:nvSpPr>
          <p:cNvPr id="9" name="q1_ans"/>
          <p:cNvSpPr/>
          <p:nvPr/>
        </p:nvSpPr>
        <p:spPr>
          <a:xfrm>
            <a:off x="3708480" y="2124456"/>
            <a:ext cx="4001502" cy="701040"/>
          </a:xfrm>
          <a:prstGeom prst="roundRect">
            <a:avLst>
              <a:gd name="adj" fmla="val 782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C) Тільки від початкової висоти </a:t>
            </a:r>
            <a:r>
              <a:rPr lang="en-US" sz="1800" b="1" dirty="0" err="1">
                <a:solidFill>
                  <a:schemeClr val="bg1"/>
                </a:solidFill>
              </a:rPr>
              <a:t>кидка</a:t>
            </a:r>
            <a:r>
              <a:rPr lang="en-US" sz="1800" b="1" dirty="0">
                <a:solidFill>
                  <a:schemeClr val="bg1"/>
                </a:solidFill>
              </a:rPr>
              <a:t> h.</a:t>
            </a:r>
            <a:endParaRPr lang="en-US" sz="1800" dirty="0"/>
          </a:p>
        </p:txBody>
      </p:sp>
      <p:sp>
        <p:nvSpPr>
          <p:cNvPr id="10" name="q2_q"/>
          <p:cNvSpPr/>
          <p:nvPr/>
        </p:nvSpPr>
        <p:spPr>
          <a:xfrm>
            <a:off x="411480" y="3182112"/>
            <a:ext cx="11368735" cy="426720"/>
          </a:xfrm>
          <a:prstGeom prst="roundRect">
            <a:avLst>
              <a:gd name="adj" fmla="val 1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Від чого залежить момент інерції тіла?</a:t>
            </a:r>
            <a:endParaRPr lang="en-US" sz="1800" dirty="0"/>
          </a:p>
        </p:txBody>
      </p:sp>
      <p:sp>
        <p:nvSpPr>
          <p:cNvPr id="11" name="q2_o0"/>
          <p:cNvSpPr/>
          <p:nvPr/>
        </p:nvSpPr>
        <p:spPr>
          <a:xfrm>
            <a:off x="411480" y="3672840"/>
            <a:ext cx="5652364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Від маси тіла, її розподілу відносно осі обертання та геометричної форми тіла.</a:t>
            </a:r>
            <a:endParaRPr lang="en-US" sz="1800" dirty="0"/>
          </a:p>
        </p:txBody>
      </p:sp>
      <p:sp>
        <p:nvSpPr>
          <p:cNvPr id="12" name="q2_o1"/>
          <p:cNvSpPr/>
          <p:nvPr/>
        </p:nvSpPr>
        <p:spPr>
          <a:xfrm>
            <a:off x="6127852" y="3672840"/>
            <a:ext cx="5652364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Тільки </a:t>
            </a:r>
            <a:r>
              <a:rPr lang="en-US" sz="1800" dirty="0" err="1">
                <a:solidFill>
                  <a:schemeClr val="tx1"/>
                </a:solidFill>
              </a:rPr>
              <a:t>від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маси </a:t>
            </a:r>
            <a:r>
              <a:rPr lang="en-US" sz="1800" dirty="0" err="1">
                <a:solidFill>
                  <a:schemeClr val="tx1"/>
                </a:solidFill>
              </a:rPr>
              <a:t>тіла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q2_o2"/>
          <p:cNvSpPr/>
          <p:nvPr/>
        </p:nvSpPr>
        <p:spPr>
          <a:xfrm>
            <a:off x="411480" y="4437888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Тільки від діючого моменту сил.</a:t>
            </a:r>
            <a:endParaRPr lang="en-US" sz="1800" dirty="0"/>
          </a:p>
        </p:txBody>
      </p:sp>
      <p:sp>
        <p:nvSpPr>
          <p:cNvPr id="14" name="q2_o3"/>
          <p:cNvSpPr/>
          <p:nvPr/>
        </p:nvSpPr>
        <p:spPr>
          <a:xfrm>
            <a:off x="6127852" y="4437888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Від </a:t>
            </a:r>
            <a:r>
              <a:rPr lang="en-US" sz="1800" dirty="0" err="1">
                <a:solidFill>
                  <a:schemeClr val="tx1"/>
                </a:solidFill>
              </a:rPr>
              <a:t>сумарного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моменту </a:t>
            </a:r>
            <a:r>
              <a:rPr lang="en-US" sz="1800" dirty="0" err="1">
                <a:solidFill>
                  <a:schemeClr val="tx1"/>
                </a:solidFill>
              </a:rPr>
              <a:t>імпульсу</a:t>
            </a:r>
            <a:r>
              <a:rPr lang="en-US" sz="1800" dirty="0">
                <a:solidFill>
                  <a:schemeClr val="tx1"/>
                </a:solidFill>
              </a:rPr>
              <a:t> тіла.</a:t>
            </a:r>
            <a:endParaRPr lang="en-US" sz="1800" dirty="0"/>
          </a:p>
        </p:txBody>
      </p:sp>
      <p:sp>
        <p:nvSpPr>
          <p:cNvPr id="15" name="q2_ans"/>
          <p:cNvSpPr/>
          <p:nvPr/>
        </p:nvSpPr>
        <p:spPr>
          <a:xfrm>
            <a:off x="411480" y="3672840"/>
            <a:ext cx="5652364" cy="701040"/>
          </a:xfrm>
          <a:prstGeom prst="roundRect">
            <a:avLst>
              <a:gd name="adj" fmla="val 782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A) Від маси тіла, її розподілу відносно осі обертання та геометричної форми тіла.</a:t>
            </a:r>
            <a:endParaRPr lang="en-US" sz="1800" dirty="0"/>
          </a:p>
        </p:txBody>
      </p:sp>
      <p:sp>
        <p:nvSpPr>
          <p:cNvPr id="16" name="q3_q"/>
          <p:cNvSpPr/>
          <p:nvPr/>
        </p:nvSpPr>
        <p:spPr>
          <a:xfrm>
            <a:off x="411480" y="5221224"/>
            <a:ext cx="11368735" cy="426720"/>
          </a:xfrm>
          <a:prstGeom prst="roundRect">
            <a:avLst>
              <a:gd name="adj" fmla="val 1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При ізотермічному процесі ідеального газу чому дорівнює ΔU?</a:t>
            </a:r>
            <a:endParaRPr lang="en-US" sz="1800" dirty="0"/>
          </a:p>
        </p:txBody>
      </p:sp>
      <p:sp>
        <p:nvSpPr>
          <p:cNvPr id="17" name="q3_o0"/>
          <p:cNvSpPr/>
          <p:nvPr/>
        </p:nvSpPr>
        <p:spPr>
          <a:xfrm>
            <a:off x="411480" y="5711952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ΔU = Q</a:t>
            </a:r>
            <a:endParaRPr lang="en-US" sz="1800" dirty="0"/>
          </a:p>
        </p:txBody>
      </p:sp>
      <p:sp>
        <p:nvSpPr>
          <p:cNvPr id="18" name="q3_o1"/>
          <p:cNvSpPr/>
          <p:nvPr/>
        </p:nvSpPr>
        <p:spPr>
          <a:xfrm>
            <a:off x="6127852" y="5711952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ΔU = A</a:t>
            </a:r>
            <a:endParaRPr lang="en-US" sz="1800" dirty="0"/>
          </a:p>
        </p:txBody>
      </p:sp>
      <p:sp>
        <p:nvSpPr>
          <p:cNvPr id="19" name="q3_o2"/>
          <p:cNvSpPr/>
          <p:nvPr/>
        </p:nvSpPr>
        <p:spPr>
          <a:xfrm>
            <a:off x="411480" y="6202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ΔU = ν R T</a:t>
            </a:r>
            <a:endParaRPr lang="en-US" sz="1800" dirty="0"/>
          </a:p>
        </p:txBody>
      </p:sp>
      <p:sp>
        <p:nvSpPr>
          <p:cNvPr id="20" name="q3_o3"/>
          <p:cNvSpPr/>
          <p:nvPr/>
        </p:nvSpPr>
        <p:spPr>
          <a:xfrm>
            <a:off x="6127852" y="6202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ΔU = 0</a:t>
            </a:r>
            <a:endParaRPr lang="en-US" sz="1800" dirty="0"/>
          </a:p>
        </p:txBody>
      </p:sp>
      <p:sp>
        <p:nvSpPr>
          <p:cNvPr id="21" name="q3_ans"/>
          <p:cNvSpPr/>
          <p:nvPr/>
        </p:nvSpPr>
        <p:spPr>
          <a:xfrm>
            <a:off x="6127852" y="6202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D) ΔU = 0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4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Чому сила нормальної реакції N не завжди дорівнює mg?</a:t>
            </a:r>
            <a:endParaRPr lang="en-US" sz="1900" dirty="0"/>
          </a:p>
        </p:txBody>
      </p:sp>
      <p:sp>
        <p:nvSpPr>
          <p:cNvPr id="4" name="q1_o0"/>
          <p:cNvSpPr/>
          <p:nvPr/>
        </p:nvSpPr>
        <p:spPr>
          <a:xfrm>
            <a:off x="411480" y="1664208"/>
            <a:ext cx="3655466" cy="16002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Вона залежить від нахилу поверхні (N = mg cos α), прискорення системи та наявності інших зовнішніх сил.</a:t>
            </a:r>
            <a:endParaRPr lang="en-US" sz="1900" dirty="0"/>
          </a:p>
        </p:txBody>
      </p:sp>
      <p:sp>
        <p:nvSpPr>
          <p:cNvPr id="5" name="q1_o1"/>
          <p:cNvSpPr/>
          <p:nvPr/>
        </p:nvSpPr>
        <p:spPr>
          <a:xfrm>
            <a:off x="411480" y="3328416"/>
            <a:ext cx="3655466" cy="898144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Вона </a:t>
            </a:r>
            <a:r>
              <a:rPr lang="en-US" sz="1900" dirty="0" err="1">
                <a:solidFill>
                  <a:schemeClr val="tx1"/>
                </a:solidFill>
              </a:rPr>
              <a:t>залежить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від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коефіцієнта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тертя</a:t>
            </a:r>
            <a:r>
              <a:rPr lang="uk-UA" sz="1900" dirty="0">
                <a:solidFill>
                  <a:schemeClr val="tx1"/>
                </a:solidFill>
              </a:rPr>
              <a:t> і тому для різних поверхонь різна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6" name="q1_o2"/>
          <p:cNvSpPr/>
          <p:nvPr/>
        </p:nvSpPr>
        <p:spPr>
          <a:xfrm>
            <a:off x="411480" y="4276344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Вона завжди дорівнює mg за 3-м законом Ньютона.</a:t>
            </a:r>
            <a:endParaRPr lang="en-US" sz="1900" dirty="0"/>
          </a:p>
        </p:txBody>
      </p:sp>
      <p:sp>
        <p:nvSpPr>
          <p:cNvPr id="7" name="q1_o3"/>
          <p:cNvSpPr/>
          <p:nvPr/>
        </p:nvSpPr>
        <p:spPr>
          <a:xfrm>
            <a:off x="411480" y="5071872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Вона </a:t>
            </a:r>
            <a:r>
              <a:rPr lang="en-US" sz="1900" dirty="0" err="1">
                <a:solidFill>
                  <a:schemeClr val="tx1"/>
                </a:solidFill>
              </a:rPr>
              <a:t>залежить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від</a:t>
            </a:r>
            <a:r>
              <a:rPr lang="en-US" sz="1900" dirty="0">
                <a:solidFill>
                  <a:schemeClr val="tx1"/>
                </a:solidFill>
              </a:rPr>
              <a:t> атмосферного тиску.</a:t>
            </a:r>
            <a:endParaRPr lang="en-US" sz="1900" dirty="0"/>
          </a:p>
        </p:txBody>
      </p:sp>
      <p:sp>
        <p:nvSpPr>
          <p:cNvPr id="8" name="q1_ans"/>
          <p:cNvSpPr/>
          <p:nvPr/>
        </p:nvSpPr>
        <p:spPr>
          <a:xfrm>
            <a:off x="411480" y="1664208"/>
            <a:ext cx="3655466" cy="160020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Вона залежить від нахилу поверхні (N = mg cos α), прискорення системи та наявності інших зовнішніх сил.</a:t>
            </a:r>
            <a:endParaRPr lang="en-US" sz="19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Запишіть основне рівняння динаміки обертального руху.</a:t>
            </a:r>
            <a:endParaRPr lang="en-US" sz="1900" dirty="0"/>
          </a:p>
        </p:txBody>
      </p:sp>
      <p:sp>
        <p:nvSpPr>
          <p:cNvPr id="10" name="q2_o0"/>
          <p:cNvSpPr/>
          <p:nvPr/>
        </p:nvSpPr>
        <p:spPr>
          <a:xfrm>
            <a:off x="4268114" y="166420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F = m a</a:t>
            </a:r>
            <a:endParaRPr lang="en-US" sz="1900" dirty="0"/>
          </a:p>
        </p:txBody>
      </p:sp>
      <p:sp>
        <p:nvSpPr>
          <p:cNvPr id="11" name="q2_o1"/>
          <p:cNvSpPr/>
          <p:nvPr/>
        </p:nvSpPr>
        <p:spPr>
          <a:xfrm>
            <a:off x="4268114" y="217017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L = I ω</a:t>
            </a:r>
            <a:endParaRPr lang="en-US" sz="1900" dirty="0"/>
          </a:p>
        </p:txBody>
      </p:sp>
      <p:sp>
        <p:nvSpPr>
          <p:cNvPr id="12" name="q2_o2"/>
          <p:cNvSpPr/>
          <p:nvPr/>
        </p:nvSpPr>
        <p:spPr>
          <a:xfrm>
            <a:off x="4268114" y="267614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Ek = I ω² / 2</a:t>
            </a:r>
            <a:endParaRPr lang="en-US" sz="1900" dirty="0"/>
          </a:p>
        </p:txBody>
      </p:sp>
      <p:sp>
        <p:nvSpPr>
          <p:cNvPr id="13" name="q2_o3"/>
          <p:cNvSpPr/>
          <p:nvPr/>
        </p:nvSpPr>
        <p:spPr>
          <a:xfrm>
            <a:off x="4268114" y="3182112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M = I ε (або M = I dω/dt)</a:t>
            </a:r>
            <a:endParaRPr lang="en-US" sz="1900" dirty="0"/>
          </a:p>
        </p:txBody>
      </p:sp>
      <p:sp>
        <p:nvSpPr>
          <p:cNvPr id="14" name="q2_ans"/>
          <p:cNvSpPr/>
          <p:nvPr/>
        </p:nvSpPr>
        <p:spPr>
          <a:xfrm>
            <a:off x="4268114" y="3182112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D) M = I ε (або M = I dω/dt)</a:t>
            </a:r>
            <a:endParaRPr lang="en-US" sz="19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робота газу на pV-діаграмі визначається довжиною траєкторії процесу.</a:t>
            </a:r>
            <a:endParaRPr lang="en-US" sz="1900" dirty="0"/>
          </a:p>
        </p:txBody>
      </p:sp>
      <p:sp>
        <p:nvSpPr>
          <p:cNvPr id="16" name="q3_o0"/>
          <p:cNvSpPr/>
          <p:nvPr/>
        </p:nvSpPr>
        <p:spPr>
          <a:xfrm>
            <a:off x="8124749" y="224332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Робота залежить тільки від початкового тиску.</a:t>
            </a:r>
            <a:endParaRPr lang="en-US" sz="1900" dirty="0"/>
          </a:p>
        </p:txBody>
      </p:sp>
      <p:sp>
        <p:nvSpPr>
          <p:cNvPr id="17" name="q3_o1"/>
          <p:cNvSpPr/>
          <p:nvPr/>
        </p:nvSpPr>
        <p:spPr>
          <a:xfrm>
            <a:off x="8124749" y="303885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Помилки немає, робота дорівнює довжині кривої.</a:t>
            </a:r>
            <a:endParaRPr lang="en-US" sz="1900" dirty="0"/>
          </a:p>
        </p:txBody>
      </p:sp>
      <p:sp>
        <p:nvSpPr>
          <p:cNvPr id="18" name="q3_o2"/>
          <p:cNvSpPr/>
          <p:nvPr/>
        </p:nvSpPr>
        <p:spPr>
          <a:xfrm>
            <a:off x="8124749" y="3834384"/>
            <a:ext cx="3655466" cy="1052576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Робота газу геометрично визначається площею під кривою процесу </a:t>
            </a:r>
            <a:r>
              <a:rPr lang="en-US" sz="1900" dirty="0" err="1">
                <a:solidFill>
                  <a:schemeClr val="tx1"/>
                </a:solidFill>
              </a:rPr>
              <a:t>на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pV-діаграмі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q3_o3"/>
          <p:cNvSpPr/>
          <p:nvPr/>
        </p:nvSpPr>
        <p:spPr>
          <a:xfrm>
            <a:off x="8124749" y="5021072"/>
            <a:ext cx="3655466" cy="968248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 err="1"/>
              <a:t>Робота</a:t>
            </a:r>
            <a:r>
              <a:rPr lang="en-US" sz="1900" dirty="0"/>
              <a:t> </a:t>
            </a:r>
            <a:r>
              <a:rPr lang="en-US" sz="1900" dirty="0" err="1"/>
              <a:t>залежить</a:t>
            </a:r>
            <a:r>
              <a:rPr lang="en-US" sz="1900" dirty="0"/>
              <a:t> </a:t>
            </a:r>
            <a:r>
              <a:rPr lang="en-US" sz="1900" dirty="0" err="1"/>
              <a:t>тільки</a:t>
            </a:r>
            <a:r>
              <a:rPr lang="en-US" sz="1900" dirty="0"/>
              <a:t> </a:t>
            </a:r>
            <a:r>
              <a:rPr lang="en-US" sz="1900" dirty="0" err="1"/>
              <a:t>від</a:t>
            </a:r>
            <a:r>
              <a:rPr lang="en-US" sz="1900" dirty="0"/>
              <a:t> </a:t>
            </a:r>
            <a:r>
              <a:rPr lang="uk-UA" sz="1900" dirty="0"/>
              <a:t>різниці кінцевого та </a:t>
            </a:r>
            <a:r>
              <a:rPr lang="en-US" sz="1900" dirty="0" err="1"/>
              <a:t>початкового</a:t>
            </a:r>
            <a:r>
              <a:rPr lang="en-US" sz="1900" dirty="0"/>
              <a:t> </a:t>
            </a:r>
            <a:r>
              <a:rPr lang="en-US" sz="1900" dirty="0" err="1"/>
              <a:t>тиск</a:t>
            </a:r>
            <a:r>
              <a:rPr lang="uk-UA" sz="1900" dirty="0" err="1"/>
              <a:t>ів</a:t>
            </a:r>
            <a:r>
              <a:rPr lang="en-US" sz="1900" dirty="0"/>
              <a:t>.</a:t>
            </a:r>
          </a:p>
        </p:txBody>
      </p:sp>
      <p:sp>
        <p:nvSpPr>
          <p:cNvPr id="20" name="q3_ans"/>
          <p:cNvSpPr/>
          <p:nvPr/>
        </p:nvSpPr>
        <p:spPr>
          <a:xfrm>
            <a:off x="8124749" y="3841496"/>
            <a:ext cx="3655466" cy="1052576"/>
          </a:xfrm>
          <a:prstGeom prst="roundRect">
            <a:avLst>
              <a:gd name="adj" fmla="val 418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C) Робота газу геометрично визначається площею під кривою процесу </a:t>
            </a:r>
            <a:r>
              <a:rPr lang="en-US" sz="1900" b="1" dirty="0" err="1">
                <a:solidFill>
                  <a:schemeClr val="bg1"/>
                </a:solidFill>
              </a:rPr>
              <a:t>на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pV-діаграмі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5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якщо рівнодійна сил дорівнює нулю, тіло обов'язково нерухоме.</a:t>
            </a:r>
            <a:endParaRPr lang="en-US" sz="2000" dirty="0"/>
          </a:p>
        </p:txBody>
      </p:sp>
      <p:sp>
        <p:nvSpPr>
          <p:cNvPr id="4" name="q1_o0"/>
          <p:cNvSpPr/>
          <p:nvPr/>
        </p:nvSpPr>
        <p:spPr>
          <a:xfrm>
            <a:off x="411480" y="2304288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Помилки немає, без сил тіло не рухається.</a:t>
            </a:r>
            <a:endParaRPr lang="en-US" sz="2000" dirty="0"/>
          </a:p>
        </p:txBody>
      </p:sp>
      <p:sp>
        <p:nvSpPr>
          <p:cNvPr id="5" name="q1_o1"/>
          <p:cNvSpPr/>
          <p:nvPr/>
        </p:nvSpPr>
        <p:spPr>
          <a:xfrm>
            <a:off x="411480" y="31302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 err="1">
                <a:solidFill>
                  <a:schemeClr val="tx1"/>
                </a:solidFill>
              </a:rPr>
              <a:t>Тіло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може </a:t>
            </a:r>
            <a:r>
              <a:rPr lang="en-US" sz="2000" dirty="0" err="1">
                <a:solidFill>
                  <a:schemeClr val="tx1"/>
                </a:solidFill>
              </a:rPr>
              <a:t>рухат</a:t>
            </a:r>
            <a:r>
              <a:rPr lang="uk-UA" sz="2000" dirty="0">
                <a:solidFill>
                  <a:schemeClr val="tx1"/>
                </a:solidFill>
              </a:rPr>
              <a:t>и</a:t>
            </a:r>
            <a:r>
              <a:rPr lang="en-US" sz="2000" dirty="0" err="1">
                <a:solidFill>
                  <a:schemeClr val="tx1"/>
                </a:solidFill>
              </a:rPr>
              <a:t>ся</a:t>
            </a:r>
            <a:r>
              <a:rPr lang="en-US" sz="2000" dirty="0">
                <a:solidFill>
                  <a:schemeClr val="tx1"/>
                </a:solidFill>
              </a:rPr>
              <a:t> по колу.</a:t>
            </a:r>
            <a:endParaRPr lang="en-US" sz="2000" dirty="0"/>
          </a:p>
        </p:txBody>
      </p:sp>
      <p:sp>
        <p:nvSpPr>
          <p:cNvPr id="6" name="q1_o2"/>
          <p:cNvSpPr/>
          <p:nvPr/>
        </p:nvSpPr>
        <p:spPr>
          <a:xfrm>
            <a:off x="411480" y="3651504"/>
            <a:ext cx="3655466" cy="1271016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За 1-м законом Ньютона тіло може перебувати в спокої АБО рухатися прямолінійно і </a:t>
            </a:r>
            <a:r>
              <a:rPr lang="en-US" sz="2000" dirty="0" err="1">
                <a:solidFill>
                  <a:schemeClr val="tx1"/>
                </a:solidFill>
              </a:rPr>
              <a:t>рівномірно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7" name="q1_o3"/>
          <p:cNvSpPr/>
          <p:nvPr/>
        </p:nvSpPr>
        <p:spPr>
          <a:xfrm>
            <a:off x="411480" y="5053584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Тіло рухається з постійним прискоренням.</a:t>
            </a:r>
            <a:endParaRPr lang="en-US" sz="2000" dirty="0"/>
          </a:p>
        </p:txBody>
      </p:sp>
      <p:sp>
        <p:nvSpPr>
          <p:cNvPr id="8" name="q1_ans"/>
          <p:cNvSpPr/>
          <p:nvPr/>
        </p:nvSpPr>
        <p:spPr>
          <a:xfrm>
            <a:off x="411479" y="3651504"/>
            <a:ext cx="3655466" cy="1271016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C) За 1-м законом Ньютона тіло може перебувати в спокої АБО рухатися прямолінійно і </a:t>
            </a:r>
            <a:r>
              <a:rPr lang="en-US" sz="2000" b="1" dirty="0" err="1">
                <a:solidFill>
                  <a:schemeClr val="bg1"/>
                </a:solidFill>
              </a:rPr>
              <a:t>рівномірно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Запишіть потенціальну енергію стиснутої пружини.</a:t>
            </a:r>
            <a:endParaRPr lang="en-US" sz="2000" dirty="0"/>
          </a:p>
        </p:txBody>
      </p:sp>
      <p:sp>
        <p:nvSpPr>
          <p:cNvPr id="10" name="q2_o0"/>
          <p:cNvSpPr/>
          <p:nvPr/>
        </p:nvSpPr>
        <p:spPr>
          <a:xfrm>
            <a:off x="4268114" y="16946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Ep = (k x²) / 2</a:t>
            </a:r>
            <a:endParaRPr lang="en-US" sz="2000" dirty="0"/>
          </a:p>
        </p:txBody>
      </p:sp>
      <p:sp>
        <p:nvSpPr>
          <p:cNvPr id="11" name="q2_o1"/>
          <p:cNvSpPr/>
          <p:nvPr/>
        </p:nvSpPr>
        <p:spPr>
          <a:xfrm>
            <a:off x="4268114" y="22158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Ep = (m v²) / 2</a:t>
            </a:r>
            <a:endParaRPr lang="en-US" sz="2000" dirty="0"/>
          </a:p>
        </p:txBody>
      </p:sp>
      <p:sp>
        <p:nvSpPr>
          <p:cNvPr id="12" name="q2_o2"/>
          <p:cNvSpPr/>
          <p:nvPr/>
        </p:nvSpPr>
        <p:spPr>
          <a:xfrm>
            <a:off x="4268114" y="273710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Ep = m g h</a:t>
            </a:r>
            <a:endParaRPr lang="en-US" sz="2000" dirty="0"/>
          </a:p>
        </p:txBody>
      </p:sp>
      <p:sp>
        <p:nvSpPr>
          <p:cNvPr id="13" name="q2_o3"/>
          <p:cNvSpPr/>
          <p:nvPr/>
        </p:nvSpPr>
        <p:spPr>
          <a:xfrm>
            <a:off x="4268114" y="32583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Ep = k x</a:t>
            </a:r>
            <a:endParaRPr lang="en-US" sz="2000" dirty="0"/>
          </a:p>
        </p:txBody>
      </p:sp>
      <p:sp>
        <p:nvSpPr>
          <p:cNvPr id="14" name="q2_ans"/>
          <p:cNvSpPr/>
          <p:nvPr/>
        </p:nvSpPr>
        <p:spPr>
          <a:xfrm>
            <a:off x="4268114" y="16946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A) Ep = (k x²) / 2</a:t>
            </a:r>
            <a:endParaRPr lang="en-US" sz="20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 залежить середня квадратична швидкість молекул від температури?</a:t>
            </a:r>
            <a:endParaRPr lang="en-US" sz="2000" dirty="0"/>
          </a:p>
        </p:txBody>
      </p:sp>
      <p:sp>
        <p:nvSpPr>
          <p:cNvPr id="16" name="q3_o0"/>
          <p:cNvSpPr/>
          <p:nvPr/>
        </p:nvSpPr>
        <p:spPr>
          <a:xfrm>
            <a:off x="8124749" y="1999488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Залежить від температури у квадраті.</a:t>
            </a:r>
            <a:endParaRPr lang="en-US" sz="2000" dirty="0"/>
          </a:p>
        </p:txBody>
      </p:sp>
      <p:sp>
        <p:nvSpPr>
          <p:cNvPr id="17" name="q3_o1"/>
          <p:cNvSpPr/>
          <p:nvPr/>
        </p:nvSpPr>
        <p:spPr>
          <a:xfrm>
            <a:off x="8124749" y="2825496"/>
            <a:ext cx="3655466" cy="10287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Прямо пропорційно квадратному кореню з </a:t>
            </a:r>
            <a:r>
              <a:rPr lang="en-US" sz="2000" dirty="0" err="1">
                <a:solidFill>
                  <a:schemeClr val="tx1"/>
                </a:solidFill>
              </a:rPr>
              <a:t>абсолютної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температури</a:t>
            </a:r>
            <a:r>
              <a:rPr lang="uk-UA" sz="2000" dirty="0"/>
              <a:t>.</a:t>
            </a:r>
            <a:endParaRPr lang="en-US" sz="2000" dirty="0"/>
          </a:p>
        </p:txBody>
      </p:sp>
      <p:sp>
        <p:nvSpPr>
          <p:cNvPr id="18" name="q3_o2"/>
          <p:cNvSpPr/>
          <p:nvPr/>
        </p:nvSpPr>
        <p:spPr>
          <a:xfrm>
            <a:off x="8124749" y="3946144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Обернено пропорційно температурі.</a:t>
            </a:r>
            <a:endParaRPr lang="en-US" sz="2000" dirty="0"/>
          </a:p>
        </p:txBody>
      </p:sp>
      <p:sp>
        <p:nvSpPr>
          <p:cNvPr id="19" name="q3_o3"/>
          <p:cNvSpPr/>
          <p:nvPr/>
        </p:nvSpPr>
        <p:spPr>
          <a:xfrm>
            <a:off x="8124749" y="4772152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Прямо пропорційно температурі (v</a:t>
            </a:r>
            <a:r>
              <a:rPr lang="en-US" sz="2000" baseline="-40000" dirty="0">
                <a:solidFill>
                  <a:schemeClr val="tx1"/>
                </a:solidFill>
              </a:rPr>
              <a:t>rms</a:t>
            </a:r>
            <a:r>
              <a:rPr lang="en-US" sz="2000" dirty="0">
                <a:solidFill>
                  <a:schemeClr val="tx1"/>
                </a:solidFill>
              </a:rPr>
              <a:t> ~ T).</a:t>
            </a:r>
            <a:endParaRPr lang="en-US" sz="2000" dirty="0"/>
          </a:p>
        </p:txBody>
      </p:sp>
      <p:sp>
        <p:nvSpPr>
          <p:cNvPr id="20" name="q3_ans"/>
          <p:cNvSpPr/>
          <p:nvPr/>
        </p:nvSpPr>
        <p:spPr>
          <a:xfrm>
            <a:off x="8124749" y="2801112"/>
            <a:ext cx="3655466" cy="1053084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Прямо пропорційно квадратному кореню з абсолютної </a:t>
            </a:r>
            <a:r>
              <a:rPr lang="en-US" sz="2000" b="1" dirty="0" err="1">
                <a:solidFill>
                  <a:schemeClr val="bg1"/>
                </a:solidFill>
              </a:rPr>
              <a:t>температури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uk-UA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6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2" y="868680"/>
            <a:ext cx="3190683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Тіло кинули під кутом до горизонту. Від чого залежить дальність польоту?</a:t>
            </a:r>
            <a:endParaRPr lang="en-US" sz="1900" dirty="0"/>
          </a:p>
        </p:txBody>
      </p:sp>
      <p:sp>
        <p:nvSpPr>
          <p:cNvPr id="5" name="q1_o0"/>
          <p:cNvSpPr/>
          <p:nvPr/>
        </p:nvSpPr>
        <p:spPr>
          <a:xfrm>
            <a:off x="411480" y="375513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Тільки від висоти підйому.</a:t>
            </a:r>
            <a:endParaRPr lang="en-US" sz="1900" dirty="0"/>
          </a:p>
        </p:txBody>
      </p:sp>
      <p:sp>
        <p:nvSpPr>
          <p:cNvPr id="6" name="q1_o1"/>
          <p:cNvSpPr/>
          <p:nvPr/>
        </p:nvSpPr>
        <p:spPr>
          <a:xfrm>
            <a:off x="411480" y="455066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Від сили </a:t>
            </a:r>
            <a:r>
              <a:rPr lang="en-US" sz="1900" dirty="0" err="1">
                <a:solidFill>
                  <a:schemeClr val="tx1"/>
                </a:solidFill>
              </a:rPr>
              <a:t>опору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пов</a:t>
            </a:r>
            <a:r>
              <a:rPr lang="uk-UA" sz="1900" dirty="0" err="1">
                <a:solidFill>
                  <a:schemeClr val="tx1"/>
                </a:solidFill>
              </a:rPr>
              <a:t>ітря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7" name="q1_o2"/>
          <p:cNvSpPr/>
          <p:nvPr/>
        </p:nvSpPr>
        <p:spPr>
          <a:xfrm>
            <a:off x="411480" y="5056632"/>
            <a:ext cx="3655466" cy="73152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uk-UA" sz="1900" dirty="0">
                <a:solidFill>
                  <a:schemeClr val="tx1"/>
                </a:solidFill>
              </a:rPr>
              <a:t>В</a:t>
            </a:r>
            <a:r>
              <a:rPr lang="en-US" sz="1900" dirty="0" err="1">
                <a:solidFill>
                  <a:schemeClr val="tx1"/>
                </a:solidFill>
              </a:rPr>
              <a:t>ід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маси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тіла</a:t>
            </a:r>
            <a:r>
              <a:rPr lang="uk-UA" sz="1900" dirty="0">
                <a:solidFill>
                  <a:schemeClr val="tx1"/>
                </a:solidFill>
              </a:rPr>
              <a:t> та початкової </a:t>
            </a:r>
            <a:r>
              <a:rPr lang="en-US" sz="1900" dirty="0" err="1"/>
              <a:t>швидкості</a:t>
            </a:r>
            <a:r>
              <a:rPr lang="en-US" sz="1900" dirty="0"/>
              <a:t> v</a:t>
            </a:r>
            <a:r>
              <a:rPr lang="en-US" sz="1900" baseline="-40000" dirty="0"/>
              <a:t>0</a:t>
            </a:r>
            <a:r>
              <a:rPr lang="en-US" sz="1900" dirty="0"/>
              <a:t> 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8" name="q1_o3"/>
          <p:cNvSpPr/>
          <p:nvPr/>
        </p:nvSpPr>
        <p:spPr>
          <a:xfrm>
            <a:off x="411480" y="5831840"/>
            <a:ext cx="3655466" cy="751840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Від початкової швидкості v</a:t>
            </a:r>
            <a:r>
              <a:rPr lang="en-US" sz="1900" baseline="-40000" dirty="0">
                <a:solidFill>
                  <a:schemeClr val="tx1"/>
                </a:solidFill>
              </a:rPr>
              <a:t>0</a:t>
            </a:r>
            <a:r>
              <a:rPr lang="en-US" sz="1900" dirty="0">
                <a:solidFill>
                  <a:schemeClr val="tx1"/>
                </a:solidFill>
              </a:rPr>
              <a:t> та кута </a:t>
            </a:r>
            <a:r>
              <a:rPr lang="en-US" sz="1900" dirty="0" err="1">
                <a:solidFill>
                  <a:schemeClr val="tx1"/>
                </a:solidFill>
              </a:rPr>
              <a:t>кидка</a:t>
            </a:r>
            <a:r>
              <a:rPr lang="en-US" sz="1900" dirty="0">
                <a:solidFill>
                  <a:schemeClr val="tx1"/>
                </a:solidFill>
              </a:rPr>
              <a:t> α.</a:t>
            </a:r>
            <a:endParaRPr lang="en-US" sz="1900" dirty="0"/>
          </a:p>
        </p:txBody>
      </p:sp>
      <p:sp>
        <p:nvSpPr>
          <p:cNvPr id="9" name="q1_ans"/>
          <p:cNvSpPr/>
          <p:nvPr/>
        </p:nvSpPr>
        <p:spPr>
          <a:xfrm>
            <a:off x="411480" y="5836920"/>
            <a:ext cx="3655466" cy="746760"/>
          </a:xfrm>
          <a:prstGeom prst="roundRect">
            <a:avLst>
              <a:gd name="adj" fmla="val 53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D) Від початкової швидкості v</a:t>
            </a:r>
            <a:r>
              <a:rPr lang="en-US" sz="1900" b="1" baseline="-40000" dirty="0">
                <a:solidFill>
                  <a:schemeClr val="bg1"/>
                </a:solidFill>
              </a:rPr>
              <a:t>0</a:t>
            </a:r>
            <a:r>
              <a:rPr lang="en-US" sz="1900" b="1" dirty="0">
                <a:solidFill>
                  <a:schemeClr val="bg1"/>
                </a:solidFill>
              </a:rPr>
              <a:t> та кута </a:t>
            </a:r>
            <a:r>
              <a:rPr lang="en-US" sz="1900" b="1" dirty="0" err="1">
                <a:solidFill>
                  <a:schemeClr val="bg1"/>
                </a:solidFill>
              </a:rPr>
              <a:t>кидка</a:t>
            </a:r>
            <a:r>
              <a:rPr lang="en-US" sz="1900" b="1" dirty="0">
                <a:solidFill>
                  <a:schemeClr val="bg1"/>
                </a:solidFill>
              </a:rPr>
              <a:t> α.</a:t>
            </a:r>
            <a:endParaRPr lang="en-US" sz="19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момент інерції тіла залежить тільки від його маси.</a:t>
            </a:r>
            <a:endParaRPr lang="en-US" sz="1900" dirty="0"/>
          </a:p>
        </p:txBody>
      </p:sp>
      <p:sp>
        <p:nvSpPr>
          <p:cNvPr id="11" name="q2_o0"/>
          <p:cNvSpPr/>
          <p:nvPr/>
        </p:nvSpPr>
        <p:spPr>
          <a:xfrm>
            <a:off x="4268114" y="195376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Помилки немає, залежить тільки від маси.</a:t>
            </a:r>
            <a:endParaRPr lang="en-US" sz="1900" dirty="0"/>
          </a:p>
        </p:txBody>
      </p:sp>
      <p:sp>
        <p:nvSpPr>
          <p:cNvPr id="12" name="q2_o1"/>
          <p:cNvSpPr/>
          <p:nvPr/>
        </p:nvSpPr>
        <p:spPr>
          <a:xfrm>
            <a:off x="4268114" y="2749296"/>
            <a:ext cx="3655466" cy="958088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Момент інерції залежить </a:t>
            </a:r>
            <a:r>
              <a:rPr lang="en-US" sz="1900" dirty="0" err="1">
                <a:solidFill>
                  <a:schemeClr val="tx1"/>
                </a:solidFill>
              </a:rPr>
              <a:t>від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маси</a:t>
            </a:r>
            <a:r>
              <a:rPr lang="uk-UA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та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її </a:t>
            </a:r>
            <a:r>
              <a:rPr lang="en-US" sz="1900" dirty="0" err="1">
                <a:solidFill>
                  <a:schemeClr val="tx1"/>
                </a:solidFill>
              </a:rPr>
              <a:t>розподілу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відносно</a:t>
            </a:r>
            <a:r>
              <a:rPr lang="en-US" sz="1900" dirty="0">
                <a:solidFill>
                  <a:schemeClr val="tx1"/>
                </a:solidFill>
              </a:rPr>
              <a:t> осі обертання.</a:t>
            </a:r>
            <a:endParaRPr lang="en-US" sz="1900" dirty="0"/>
          </a:p>
        </p:txBody>
      </p:sp>
      <p:sp>
        <p:nvSpPr>
          <p:cNvPr id="13" name="q2_o2"/>
          <p:cNvSpPr/>
          <p:nvPr/>
        </p:nvSpPr>
        <p:spPr>
          <a:xfrm>
            <a:off x="4268114" y="377037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Залежить </a:t>
            </a:r>
            <a:r>
              <a:rPr lang="en-US" sz="1900" dirty="0" err="1">
                <a:solidFill>
                  <a:schemeClr val="tx1"/>
                </a:solidFill>
              </a:rPr>
              <a:t>від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маси та прикладеного моменту </a:t>
            </a:r>
            <a:r>
              <a:rPr lang="en-US" sz="1900" dirty="0" err="1">
                <a:solidFill>
                  <a:schemeClr val="tx1"/>
                </a:solidFill>
              </a:rPr>
              <a:t>сили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4" name="q2_o3"/>
          <p:cNvSpPr/>
          <p:nvPr/>
        </p:nvSpPr>
        <p:spPr>
          <a:xfrm>
            <a:off x="4268114" y="4565904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Залежить тільки </a:t>
            </a:r>
            <a:r>
              <a:rPr lang="en-US" sz="1900" dirty="0" err="1">
                <a:solidFill>
                  <a:schemeClr val="tx1"/>
                </a:solidFill>
              </a:rPr>
              <a:t>від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маси та </a:t>
            </a:r>
            <a:r>
              <a:rPr lang="en-US" sz="1900" dirty="0" err="1">
                <a:solidFill>
                  <a:schemeClr val="tx1"/>
                </a:solidFill>
              </a:rPr>
              <a:t>радіуса</a:t>
            </a:r>
            <a:r>
              <a:rPr lang="uk-UA" sz="1900" dirty="0">
                <a:solidFill>
                  <a:schemeClr val="tx1"/>
                </a:solidFill>
              </a:rPr>
              <a:t> тіла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5" name="q2_ans"/>
          <p:cNvSpPr/>
          <p:nvPr/>
        </p:nvSpPr>
        <p:spPr>
          <a:xfrm>
            <a:off x="4268114" y="2734056"/>
            <a:ext cx="3655466" cy="973328"/>
          </a:xfrm>
          <a:prstGeom prst="roundRect">
            <a:avLst>
              <a:gd name="adj" fmla="val 418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B) Момент інерції залежить </a:t>
            </a:r>
            <a:r>
              <a:rPr lang="en-US" sz="1900" b="1" dirty="0" err="1">
                <a:solidFill>
                  <a:schemeClr val="bg1"/>
                </a:solidFill>
              </a:rPr>
              <a:t>від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маси</a:t>
            </a:r>
            <a:r>
              <a:rPr lang="uk-UA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та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uk-UA" sz="1900" b="1" dirty="0">
                <a:solidFill>
                  <a:schemeClr val="bg1"/>
                </a:solidFill>
              </a:rPr>
              <a:t>її </a:t>
            </a:r>
            <a:r>
              <a:rPr lang="en-US" sz="1900" b="1" dirty="0" err="1">
                <a:solidFill>
                  <a:schemeClr val="bg1"/>
                </a:solidFill>
              </a:rPr>
              <a:t>розподілу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відносно</a:t>
            </a:r>
            <a:r>
              <a:rPr lang="en-US" sz="1900" b="1" dirty="0">
                <a:solidFill>
                  <a:schemeClr val="bg1"/>
                </a:solidFill>
              </a:rPr>
              <a:t> осі обертання.</a:t>
            </a:r>
            <a:endParaRPr lang="en-US" sz="19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Що показує функція розподілу Максвелла?</a:t>
            </a:r>
            <a:endParaRPr lang="en-US" sz="1900" dirty="0"/>
          </a:p>
        </p:txBody>
      </p:sp>
      <p:sp>
        <p:nvSpPr>
          <p:cNvPr id="17" name="q3_o0"/>
          <p:cNvSpPr/>
          <p:nvPr/>
        </p:nvSpPr>
        <p:spPr>
          <a:xfrm>
            <a:off x="8124749" y="166420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Залежність тиску від об'єму.</a:t>
            </a:r>
            <a:endParaRPr lang="en-US" sz="1900" dirty="0"/>
          </a:p>
        </p:txBody>
      </p:sp>
      <p:sp>
        <p:nvSpPr>
          <p:cNvPr id="18" name="q3_o1"/>
          <p:cNvSpPr/>
          <p:nvPr/>
        </p:nvSpPr>
        <p:spPr>
          <a:xfrm>
            <a:off x="8124749" y="245973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 err="1">
                <a:solidFill>
                  <a:schemeClr val="tx1"/>
                </a:solidFill>
              </a:rPr>
              <a:t>Розподіл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концентрації </a:t>
            </a:r>
            <a:r>
              <a:rPr lang="en-US" sz="1900" dirty="0" err="1">
                <a:solidFill>
                  <a:schemeClr val="tx1"/>
                </a:solidFill>
              </a:rPr>
              <a:t>молекул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за</a:t>
            </a:r>
            <a:r>
              <a:rPr lang="en-US" sz="1900" dirty="0">
                <a:solidFill>
                  <a:schemeClr val="tx1"/>
                </a:solidFill>
              </a:rPr>
              <a:t> висотою.</a:t>
            </a:r>
            <a:endParaRPr lang="en-US" sz="1900" dirty="0"/>
          </a:p>
        </p:txBody>
      </p:sp>
      <p:sp>
        <p:nvSpPr>
          <p:cNvPr id="19" name="q3_o2"/>
          <p:cNvSpPr/>
          <p:nvPr/>
        </p:nvSpPr>
        <p:spPr>
          <a:xfrm>
            <a:off x="8124749" y="3255264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Розподіл молекул газу за швидкостями (або кінетичними енергіями) при даній температурі.</a:t>
            </a:r>
            <a:endParaRPr lang="en-US" sz="1900" dirty="0"/>
          </a:p>
        </p:txBody>
      </p:sp>
      <p:sp>
        <p:nvSpPr>
          <p:cNvPr id="20" name="q3_o3"/>
          <p:cNvSpPr/>
          <p:nvPr/>
        </p:nvSpPr>
        <p:spPr>
          <a:xfrm>
            <a:off x="8124749" y="4629912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Зміну температури </a:t>
            </a:r>
            <a:r>
              <a:rPr lang="en-US" sz="1900" dirty="0" err="1">
                <a:solidFill>
                  <a:schemeClr val="tx1"/>
                </a:solidFill>
              </a:rPr>
              <a:t>при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ізобаричному розширенні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1" name="q3_ans"/>
          <p:cNvSpPr/>
          <p:nvPr/>
        </p:nvSpPr>
        <p:spPr>
          <a:xfrm>
            <a:off x="8124749" y="3255264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C) Розподіл молекул газу за швидкостями (або кінетичними енергіями) при даній температурі.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7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Яка швидкість тіла у верхній точці вертикального кидка? Чому дорівнює його прискорення в цій точці?</a:t>
            </a:r>
            <a:endParaRPr lang="en-US" sz="1900" dirty="0"/>
          </a:p>
        </p:txBody>
      </p:sp>
      <p:sp>
        <p:nvSpPr>
          <p:cNvPr id="4" name="q1_o0"/>
          <p:cNvSpPr/>
          <p:nvPr/>
        </p:nvSpPr>
        <p:spPr>
          <a:xfrm>
            <a:off x="411480" y="224332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Швидкість дорівнює g, прискорення дорівнює v</a:t>
            </a:r>
            <a:r>
              <a:rPr lang="en-US" sz="1900" baseline="-40000" dirty="0">
                <a:solidFill>
                  <a:schemeClr val="tx1"/>
                </a:solidFill>
              </a:rPr>
              <a:t>0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5" name="q1_o1"/>
          <p:cNvSpPr/>
          <p:nvPr/>
        </p:nvSpPr>
        <p:spPr>
          <a:xfrm>
            <a:off x="411480" y="3038856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Швидкість дорівнює нулю, прискорення дорівнює g (спрямоване вниз).</a:t>
            </a:r>
            <a:endParaRPr lang="en-US" sz="1900" dirty="0"/>
          </a:p>
        </p:txBody>
      </p:sp>
      <p:sp>
        <p:nvSpPr>
          <p:cNvPr id="6" name="q1_o2"/>
          <p:cNvSpPr/>
          <p:nvPr/>
        </p:nvSpPr>
        <p:spPr>
          <a:xfrm>
            <a:off x="411480" y="4123944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Швидкість і прискорення дорівнюють нулю.</a:t>
            </a:r>
            <a:endParaRPr lang="en-US" sz="1900" dirty="0"/>
          </a:p>
        </p:txBody>
      </p:sp>
      <p:sp>
        <p:nvSpPr>
          <p:cNvPr id="7" name="q1_o3"/>
          <p:cNvSpPr/>
          <p:nvPr/>
        </p:nvSpPr>
        <p:spPr>
          <a:xfrm>
            <a:off x="411480" y="4919472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Швидкість </a:t>
            </a:r>
            <a:r>
              <a:rPr lang="en-US" sz="1900" dirty="0" err="1">
                <a:solidFill>
                  <a:schemeClr val="tx1"/>
                </a:solidFill>
              </a:rPr>
              <a:t>дорівнює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нулю</a:t>
            </a:r>
            <a:r>
              <a:rPr lang="en-US" sz="1900" dirty="0">
                <a:solidFill>
                  <a:schemeClr val="tx1"/>
                </a:solidFill>
              </a:rPr>
              <a:t>, прискорення дорівнює нулю.</a:t>
            </a:r>
            <a:endParaRPr lang="en-US" sz="1900" dirty="0"/>
          </a:p>
        </p:txBody>
      </p:sp>
      <p:sp>
        <p:nvSpPr>
          <p:cNvPr id="8" name="q1_ans"/>
          <p:cNvSpPr/>
          <p:nvPr/>
        </p:nvSpPr>
        <p:spPr>
          <a:xfrm>
            <a:off x="411480" y="3038856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B) Швидкість дорівнює нулю, прискорення дорівнює g (спрямоване вниз).</a:t>
            </a:r>
            <a:endParaRPr lang="en-US" sz="19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527048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Яку роботу виконує сила тяжіння при піднятті тіла масою m на висоту h?</a:t>
            </a:r>
            <a:r>
              <a:rPr lang="uk-UA" sz="1900" b="1" dirty="0">
                <a:solidFill>
                  <a:schemeClr val="tx1"/>
                </a:solidFill>
              </a:rPr>
              <a:t> Як змінюється при цьому потенціальна енергія?</a:t>
            </a:r>
            <a:endParaRPr lang="en-US" sz="1900" dirty="0"/>
          </a:p>
        </p:txBody>
      </p:sp>
      <p:sp>
        <p:nvSpPr>
          <p:cNvPr id="10" name="q2_o0"/>
          <p:cNvSpPr/>
          <p:nvPr/>
        </p:nvSpPr>
        <p:spPr>
          <a:xfrm>
            <a:off x="4237940" y="2579116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A = -mgh; потенціальна енергія збільшується на ΔEp = mgh.</a:t>
            </a:r>
            <a:endParaRPr lang="en-US" sz="1900" dirty="0"/>
          </a:p>
        </p:txBody>
      </p:sp>
      <p:sp>
        <p:nvSpPr>
          <p:cNvPr id="11" name="q2_o1"/>
          <p:cNvSpPr/>
          <p:nvPr/>
        </p:nvSpPr>
        <p:spPr>
          <a:xfrm>
            <a:off x="4253027" y="3632200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A = mgh; потенціальна енергія не змінюється.</a:t>
            </a:r>
            <a:endParaRPr lang="en-US" sz="1900" dirty="0"/>
          </a:p>
        </p:txBody>
      </p:sp>
      <p:sp>
        <p:nvSpPr>
          <p:cNvPr id="12" name="q2_o2"/>
          <p:cNvSpPr/>
          <p:nvPr/>
        </p:nvSpPr>
        <p:spPr>
          <a:xfrm>
            <a:off x="4253027" y="442772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A = 0; потенціальна енергія зменшується.</a:t>
            </a:r>
            <a:endParaRPr lang="en-US" sz="1900" dirty="0"/>
          </a:p>
        </p:txBody>
      </p:sp>
      <p:sp>
        <p:nvSpPr>
          <p:cNvPr id="13" name="q2_o3"/>
          <p:cNvSpPr/>
          <p:nvPr/>
        </p:nvSpPr>
        <p:spPr>
          <a:xfrm>
            <a:off x="4253027" y="522325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A = mgh / 2; потенціальна енергія дорівнює нулю.</a:t>
            </a:r>
            <a:endParaRPr lang="en-US" sz="1900" dirty="0"/>
          </a:p>
        </p:txBody>
      </p:sp>
      <p:sp>
        <p:nvSpPr>
          <p:cNvPr id="14" name="q2_ans"/>
          <p:cNvSpPr/>
          <p:nvPr/>
        </p:nvSpPr>
        <p:spPr>
          <a:xfrm>
            <a:off x="4253027" y="2547112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A = -mgh; потенціальна енергія збільшується на ΔEp = mgh.</a:t>
            </a:r>
            <a:endParaRPr lang="en-US" sz="19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Що станеться з тиском газу в герметичній посудині при підвищенні температури?</a:t>
            </a:r>
            <a:endParaRPr lang="en-US" sz="1900" dirty="0"/>
          </a:p>
        </p:txBody>
      </p:sp>
      <p:sp>
        <p:nvSpPr>
          <p:cNvPr id="16" name="q3_o0"/>
          <p:cNvSpPr/>
          <p:nvPr/>
        </p:nvSpPr>
        <p:spPr>
          <a:xfrm>
            <a:off x="8124749" y="195376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Тиск не зміниться.</a:t>
            </a:r>
            <a:endParaRPr lang="en-US" sz="1900" dirty="0"/>
          </a:p>
        </p:txBody>
      </p:sp>
      <p:sp>
        <p:nvSpPr>
          <p:cNvPr id="17" name="q3_o1"/>
          <p:cNvSpPr/>
          <p:nvPr/>
        </p:nvSpPr>
        <p:spPr>
          <a:xfrm>
            <a:off x="8124749" y="2459736"/>
            <a:ext cx="3655466" cy="515112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 err="1">
                <a:solidFill>
                  <a:schemeClr val="tx1"/>
                </a:solidFill>
              </a:rPr>
              <a:t>Тиск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зросте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q3_o2"/>
          <p:cNvSpPr/>
          <p:nvPr/>
        </p:nvSpPr>
        <p:spPr>
          <a:xfrm>
            <a:off x="8124749" y="3048000"/>
            <a:ext cx="3655466" cy="644144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uk-UA" sz="1900" dirty="0"/>
              <a:t>Т</a:t>
            </a:r>
            <a:r>
              <a:rPr lang="en-US" sz="1900" dirty="0" err="1">
                <a:solidFill>
                  <a:schemeClr val="tx1"/>
                </a:solidFill>
              </a:rPr>
              <a:t>иск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в такому випадку неможливо виміряти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q3_o3"/>
          <p:cNvSpPr/>
          <p:nvPr/>
        </p:nvSpPr>
        <p:spPr>
          <a:xfrm>
            <a:off x="8124749" y="376529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Тиск зменшиться.</a:t>
            </a:r>
            <a:endParaRPr lang="en-US" sz="1900" dirty="0"/>
          </a:p>
        </p:txBody>
      </p:sp>
      <p:sp>
        <p:nvSpPr>
          <p:cNvPr id="20" name="q3_ans"/>
          <p:cNvSpPr/>
          <p:nvPr/>
        </p:nvSpPr>
        <p:spPr>
          <a:xfrm>
            <a:off x="8124749" y="2464308"/>
            <a:ext cx="3655466" cy="510540"/>
          </a:xfrm>
          <a:prstGeom prst="roundRect">
            <a:avLst>
              <a:gd name="adj" fmla="val 53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B) </a:t>
            </a:r>
            <a:r>
              <a:rPr lang="en-US" sz="1900" b="1" dirty="0" err="1">
                <a:solidFill>
                  <a:schemeClr val="bg1"/>
                </a:solidFill>
              </a:rPr>
              <a:t>Тиск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зросте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8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3655466" cy="874476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1807164"/>
            <a:ext cx="3655466" cy="975360"/>
          </a:xfrm>
          <a:prstGeom prst="roundRect">
            <a:avLst>
              <a:gd name="adj" fmla="val 562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Запишіть другий закон Ньютона для бруска, що рухається по горизонтальній поверхні.</a:t>
            </a:r>
            <a:endParaRPr lang="en-US" sz="18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1524000"/>
          </a:xfrm>
          <a:prstGeom prst="roundRect">
            <a:avLst>
              <a:gd name="adj" fmla="val 36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Знайдіть та виправте помилку: якщо сила прикладена до точки, що лежить на осі обертання, вона створює максимальний момент.</a:t>
            </a:r>
            <a:endParaRPr lang="en-US" sz="1800" dirty="0"/>
          </a:p>
        </p:txBody>
      </p:sp>
      <p:sp>
        <p:nvSpPr>
          <p:cNvPr id="11" name="q2_o0"/>
          <p:cNvSpPr/>
          <p:nvPr/>
        </p:nvSpPr>
        <p:spPr>
          <a:xfrm>
            <a:off x="4268114" y="2456688"/>
            <a:ext cx="3655466" cy="8331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Момент сили дорівнює F * m</a:t>
            </a:r>
            <a:r>
              <a:rPr lang="uk-UA" sz="1800" dirty="0">
                <a:solidFill>
                  <a:schemeClr val="tx1"/>
                </a:solidFill>
              </a:rPr>
              <a:t> і тому його модуль не залежить від точки прикладення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q2_o1"/>
          <p:cNvSpPr/>
          <p:nvPr/>
        </p:nvSpPr>
        <p:spPr>
          <a:xfrm>
            <a:off x="4268114" y="3353816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Помилки немає, момент максимальний.</a:t>
            </a:r>
            <a:endParaRPr lang="en-US" sz="1800" dirty="0"/>
          </a:p>
        </p:txBody>
      </p:sp>
      <p:sp>
        <p:nvSpPr>
          <p:cNvPr id="13" name="q2_o2"/>
          <p:cNvSpPr/>
          <p:nvPr/>
        </p:nvSpPr>
        <p:spPr>
          <a:xfrm>
            <a:off x="4268114" y="4118864"/>
            <a:ext cx="3655466" cy="1215136"/>
          </a:xfrm>
          <a:prstGeom prst="roundRect">
            <a:avLst>
              <a:gd name="adj" fmla="val 305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Якщо лінія дії сили проходить через вісь обертання, плече сили дорівнює </a:t>
            </a:r>
            <a:r>
              <a:rPr lang="en-US" sz="1800" dirty="0" err="1">
                <a:solidFill>
                  <a:schemeClr val="tx1"/>
                </a:solidFill>
              </a:rPr>
              <a:t>нулю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dirty="0"/>
              <a:t>і </a:t>
            </a:r>
            <a:r>
              <a:rPr lang="en-US" sz="1800" dirty="0" err="1">
                <a:solidFill>
                  <a:schemeClr val="tx1"/>
                </a:solidFill>
              </a:rPr>
              <a:t>тому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її </a:t>
            </a:r>
            <a:r>
              <a:rPr lang="en-US" sz="1800" dirty="0" err="1">
                <a:solidFill>
                  <a:schemeClr val="tx1"/>
                </a:solidFill>
              </a:rPr>
              <a:t>момент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дорівнює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нулю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4" name="q2_o3"/>
          <p:cNvSpPr/>
          <p:nvPr/>
        </p:nvSpPr>
        <p:spPr>
          <a:xfrm>
            <a:off x="4268267" y="5398008"/>
            <a:ext cx="3655466" cy="951992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uk-UA" dirty="0"/>
              <a:t>Ч</a:t>
            </a:r>
            <a:r>
              <a:rPr lang="uk-UA" sz="1800" dirty="0">
                <a:solidFill>
                  <a:schemeClr val="tx1"/>
                </a:solidFill>
              </a:rPr>
              <a:t>и буде цей момент максимальним </a:t>
            </a:r>
            <a:r>
              <a:rPr lang="uk-UA" sz="1800" dirty="0" err="1">
                <a:solidFill>
                  <a:schemeClr val="tx1"/>
                </a:solidFill>
              </a:rPr>
              <a:t>залежатиме</a:t>
            </a:r>
            <a:r>
              <a:rPr lang="uk-UA" sz="1800" dirty="0">
                <a:solidFill>
                  <a:schemeClr val="tx1"/>
                </a:solidFill>
              </a:rPr>
              <a:t> від форми тіла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5" name="q2_ans"/>
          <p:cNvSpPr/>
          <p:nvPr/>
        </p:nvSpPr>
        <p:spPr>
          <a:xfrm>
            <a:off x="4268114" y="4118864"/>
            <a:ext cx="3655466" cy="1215136"/>
          </a:xfrm>
          <a:prstGeom prst="roundRect">
            <a:avLst>
              <a:gd name="adj" fmla="val 3051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C) Якщо лінія дії сили проходить через вісь обертання, плече сили </a:t>
            </a:r>
            <a:r>
              <a:rPr lang="en-US" sz="1800" b="1" dirty="0" err="1">
                <a:solidFill>
                  <a:schemeClr val="bg1"/>
                </a:solidFill>
              </a:rPr>
              <a:t>дорівнює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нулю</a:t>
            </a:r>
            <a:r>
              <a:rPr lang="uk-UA" b="1" dirty="0">
                <a:solidFill>
                  <a:schemeClr val="bg1"/>
                </a:solidFill>
              </a:rPr>
              <a:t> і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тому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uk-UA" sz="1800" b="1" dirty="0">
                <a:solidFill>
                  <a:schemeClr val="bg1"/>
                </a:solidFill>
              </a:rPr>
              <a:t>її </a:t>
            </a:r>
            <a:r>
              <a:rPr lang="en-US" sz="1800" b="1" dirty="0" err="1">
                <a:solidFill>
                  <a:schemeClr val="bg1"/>
                </a:solidFill>
              </a:rPr>
              <a:t>момент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дорівнює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нулю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975360"/>
          </a:xfrm>
          <a:prstGeom prst="roundRect">
            <a:avLst>
              <a:gd name="adj" fmla="val 562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Що відбувається з внутрішньою енергією ідеального газу при нагріванні?</a:t>
            </a:r>
            <a:endParaRPr lang="en-US" sz="1800" dirty="0"/>
          </a:p>
        </p:txBody>
      </p:sp>
      <p:sp>
        <p:nvSpPr>
          <p:cNvPr id="17" name="q3_o0"/>
          <p:cNvSpPr/>
          <p:nvPr/>
        </p:nvSpPr>
        <p:spPr>
          <a:xfrm>
            <a:off x="8124749" y="1908048"/>
            <a:ext cx="3655466" cy="1058672"/>
          </a:xfrm>
          <a:prstGeom prst="roundRect">
            <a:avLst>
              <a:gd name="adj" fmla="val 439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Збільшується, оскільки зростає середня кінетична енергія хаотичного руху молекул.</a:t>
            </a:r>
            <a:endParaRPr lang="en-US" sz="1800" dirty="0"/>
          </a:p>
        </p:txBody>
      </p:sp>
      <p:sp>
        <p:nvSpPr>
          <p:cNvPr id="18" name="q3_o1"/>
          <p:cNvSpPr/>
          <p:nvPr/>
        </p:nvSpPr>
        <p:spPr>
          <a:xfrm>
            <a:off x="8124749" y="3076448"/>
            <a:ext cx="3655466" cy="42672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Перетворюється в </a:t>
            </a:r>
            <a:r>
              <a:rPr lang="uk-UA" sz="1800" dirty="0">
                <a:solidFill>
                  <a:schemeClr val="tx1"/>
                </a:solidFill>
              </a:rPr>
              <a:t>роботу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9" name="q3_o2"/>
          <p:cNvSpPr/>
          <p:nvPr/>
        </p:nvSpPr>
        <p:spPr>
          <a:xfrm>
            <a:off x="8124749" y="3611880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Залишається незмінною.</a:t>
            </a:r>
            <a:endParaRPr lang="en-US" sz="1800" dirty="0"/>
          </a:p>
        </p:txBody>
      </p:sp>
      <p:sp>
        <p:nvSpPr>
          <p:cNvPr id="20" name="q3_o3"/>
          <p:cNvSpPr/>
          <p:nvPr/>
        </p:nvSpPr>
        <p:spPr>
          <a:xfrm>
            <a:off x="8124749" y="4147312"/>
            <a:ext cx="3655466" cy="1511808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 err="1">
                <a:solidFill>
                  <a:schemeClr val="tx1"/>
                </a:solidFill>
              </a:rPr>
              <a:t>Зменшується</a:t>
            </a:r>
            <a:r>
              <a:rPr lang="uk-UA" sz="1800" dirty="0">
                <a:solidFill>
                  <a:schemeClr val="tx1"/>
                </a:solidFill>
              </a:rPr>
              <a:t>, оскільки молекули розташовуються ближче одна до одної і змінюється потенціальна енергії їхньої взаємодії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q3_ans"/>
          <p:cNvSpPr/>
          <p:nvPr/>
        </p:nvSpPr>
        <p:spPr>
          <a:xfrm>
            <a:off x="8124749" y="1908048"/>
            <a:ext cx="3655466" cy="1058672"/>
          </a:xfrm>
          <a:prstGeom prst="roundRect">
            <a:avLst>
              <a:gd name="adj" fmla="val 439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A) Збільшується, оскільки зростає середня кінетична енергія хаотичного руху молекул.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9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602" y="868680"/>
            <a:ext cx="1179223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Від чого залежить напрямок руху системи тіл?</a:t>
            </a:r>
            <a:endParaRPr lang="en-US" sz="1800" dirty="0"/>
          </a:p>
        </p:txBody>
      </p:sp>
      <p:sp>
        <p:nvSpPr>
          <p:cNvPr id="5" name="q1_o0"/>
          <p:cNvSpPr/>
          <p:nvPr/>
        </p:nvSpPr>
        <p:spPr>
          <a:xfrm>
            <a:off x="411480" y="3435096"/>
            <a:ext cx="3655466" cy="557784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uk-UA" sz="1800" dirty="0">
                <a:solidFill>
                  <a:schemeClr val="tx1"/>
                </a:solidFill>
              </a:rPr>
              <a:t>Тіла завжди рухаються вниз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6" name="q1_o1"/>
          <p:cNvSpPr/>
          <p:nvPr/>
        </p:nvSpPr>
        <p:spPr>
          <a:xfrm>
            <a:off x="411480" y="4117848"/>
            <a:ext cx="3655466" cy="512064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uk-UA" dirty="0"/>
              <a:t>В</a:t>
            </a:r>
            <a:r>
              <a:rPr lang="uk-UA" sz="1800" dirty="0">
                <a:solidFill>
                  <a:schemeClr val="tx1"/>
                </a:solidFill>
              </a:rPr>
              <a:t>ід сили тертя та маси важчого тіла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q1_o2"/>
          <p:cNvSpPr/>
          <p:nvPr/>
        </p:nvSpPr>
        <p:spPr>
          <a:xfrm>
            <a:off x="411480" y="4690872"/>
            <a:ext cx="3655466" cy="618744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Від </a:t>
            </a:r>
            <a:r>
              <a:rPr lang="en-US" sz="1800" dirty="0" err="1">
                <a:solidFill>
                  <a:schemeClr val="tx1"/>
                </a:solidFill>
              </a:rPr>
              <a:t>співвідношення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мас тіл  і від сили тертя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q1_o3"/>
          <p:cNvSpPr/>
          <p:nvPr/>
        </p:nvSpPr>
        <p:spPr>
          <a:xfrm>
            <a:off x="411480" y="5405120"/>
            <a:ext cx="3655466" cy="48768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Тільки від </a:t>
            </a:r>
            <a:r>
              <a:rPr lang="en-US" sz="1800" dirty="0" err="1">
                <a:solidFill>
                  <a:schemeClr val="tx1"/>
                </a:solidFill>
              </a:rPr>
              <a:t>маси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легшого</a:t>
            </a:r>
            <a:r>
              <a:rPr lang="en-US" sz="1800" dirty="0">
                <a:solidFill>
                  <a:schemeClr val="tx1"/>
                </a:solidFill>
              </a:rPr>
              <a:t> тіла.</a:t>
            </a:r>
            <a:endParaRPr lang="en-US" sz="1800" dirty="0"/>
          </a:p>
        </p:txBody>
      </p:sp>
      <p:sp>
        <p:nvSpPr>
          <p:cNvPr id="9" name="q1_ans"/>
          <p:cNvSpPr/>
          <p:nvPr/>
        </p:nvSpPr>
        <p:spPr>
          <a:xfrm>
            <a:off x="411480" y="4705743"/>
            <a:ext cx="3655466" cy="618744"/>
          </a:xfrm>
          <a:prstGeom prst="roundRect">
            <a:avLst>
              <a:gd name="adj" fmla="val 5625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C) Від </a:t>
            </a:r>
            <a:r>
              <a:rPr lang="en-US" sz="1800" b="1" dirty="0" err="1">
                <a:solidFill>
                  <a:schemeClr val="bg1"/>
                </a:solidFill>
              </a:rPr>
              <a:t>співвідношення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uk-UA" sz="1800" b="1" dirty="0">
                <a:solidFill>
                  <a:schemeClr val="bg1"/>
                </a:solidFill>
              </a:rPr>
              <a:t>мас тіл та </a:t>
            </a:r>
            <a:r>
              <a:rPr lang="uk-UA" b="1" dirty="0">
                <a:solidFill>
                  <a:schemeClr val="bg1"/>
                </a:solidFill>
              </a:rPr>
              <a:t>від </a:t>
            </a:r>
            <a:r>
              <a:rPr lang="uk-UA" sz="1800" b="1" dirty="0">
                <a:solidFill>
                  <a:schemeClr val="bg1"/>
                </a:solidFill>
              </a:rPr>
              <a:t>сили тертя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 якому випадку сила не виконує роботи?</a:t>
            </a:r>
            <a:endParaRPr lang="en-US" sz="1800" dirty="0"/>
          </a:p>
        </p:txBody>
      </p:sp>
      <p:sp>
        <p:nvSpPr>
          <p:cNvPr id="11" name="q2_o0"/>
          <p:cNvSpPr/>
          <p:nvPr/>
        </p:nvSpPr>
        <p:spPr>
          <a:xfrm>
            <a:off x="4268114" y="1633728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Коли </a:t>
            </a:r>
            <a:r>
              <a:rPr lang="en-US" sz="1800" dirty="0" err="1">
                <a:solidFill>
                  <a:schemeClr val="tx1"/>
                </a:solidFill>
              </a:rPr>
              <a:t>сила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менша</a:t>
            </a:r>
            <a:r>
              <a:rPr lang="en-US" sz="1800" dirty="0">
                <a:solidFill>
                  <a:schemeClr val="tx1"/>
                </a:solidFill>
              </a:rPr>
              <a:t> за mg.</a:t>
            </a:r>
            <a:endParaRPr lang="en-US" sz="1800" dirty="0"/>
          </a:p>
        </p:txBody>
      </p:sp>
      <p:sp>
        <p:nvSpPr>
          <p:cNvPr id="12" name="q2_o1"/>
          <p:cNvSpPr/>
          <p:nvPr/>
        </p:nvSpPr>
        <p:spPr>
          <a:xfrm>
            <a:off x="4268114" y="2124456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Коли сила діє вздовж напрямку руху.</a:t>
            </a:r>
            <a:endParaRPr lang="en-US" sz="1800" dirty="0"/>
          </a:p>
        </p:txBody>
      </p:sp>
      <p:sp>
        <p:nvSpPr>
          <p:cNvPr id="13" name="q2_o2"/>
          <p:cNvSpPr/>
          <p:nvPr/>
        </p:nvSpPr>
        <p:spPr>
          <a:xfrm>
            <a:off x="4268114" y="2889504"/>
            <a:ext cx="3655466" cy="545592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Сила завжди виконує роботу.</a:t>
            </a:r>
            <a:endParaRPr lang="en-US" sz="1800" dirty="0"/>
          </a:p>
        </p:txBody>
      </p:sp>
      <p:sp>
        <p:nvSpPr>
          <p:cNvPr id="14" name="q2_o3"/>
          <p:cNvSpPr/>
          <p:nvPr/>
        </p:nvSpPr>
        <p:spPr>
          <a:xfrm>
            <a:off x="4268114" y="3544824"/>
            <a:ext cx="3655466" cy="875793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Коли сила перпендикулярна напрямку </a:t>
            </a:r>
            <a:r>
              <a:rPr lang="en-US" sz="1800" dirty="0" err="1">
                <a:solidFill>
                  <a:schemeClr val="tx1"/>
                </a:solidFill>
              </a:rPr>
              <a:t>переміщення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або</a:t>
            </a:r>
            <a:r>
              <a:rPr lang="en-US" sz="1800" dirty="0">
                <a:solidFill>
                  <a:schemeClr val="tx1"/>
                </a:solidFill>
              </a:rPr>
              <a:t> коли переміщення дорівнює нулю.</a:t>
            </a:r>
            <a:endParaRPr lang="en-US" sz="1800" dirty="0"/>
          </a:p>
        </p:txBody>
      </p:sp>
      <p:sp>
        <p:nvSpPr>
          <p:cNvPr id="15" name="q2_ans"/>
          <p:cNvSpPr/>
          <p:nvPr/>
        </p:nvSpPr>
        <p:spPr>
          <a:xfrm>
            <a:off x="4273347" y="3559049"/>
            <a:ext cx="3655466" cy="875793"/>
          </a:xfrm>
          <a:prstGeom prst="roundRect">
            <a:avLst>
              <a:gd name="adj" fmla="val 36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D) Коли сила перпендикулярна напрямку </a:t>
            </a:r>
            <a:r>
              <a:rPr lang="en-US" sz="1800" b="1" dirty="0" err="1">
                <a:solidFill>
                  <a:schemeClr val="bg1"/>
                </a:solidFill>
              </a:rPr>
              <a:t>переміщення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або</a:t>
            </a:r>
            <a:r>
              <a:rPr lang="en-US" sz="1800" b="1" dirty="0">
                <a:solidFill>
                  <a:schemeClr val="bg1"/>
                </a:solidFill>
              </a:rPr>
              <a:t> коли переміщення дорівнює нулю.</a:t>
            </a:r>
            <a:endParaRPr lang="en-US" sz="18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975360"/>
          </a:xfrm>
          <a:prstGeom prst="roundRect">
            <a:avLst>
              <a:gd name="adj" fmla="val 562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Куди йде теплота, отримана газом при ізотермічному розширенні?</a:t>
            </a:r>
            <a:endParaRPr lang="en-US" sz="1800" dirty="0"/>
          </a:p>
        </p:txBody>
      </p:sp>
      <p:sp>
        <p:nvSpPr>
          <p:cNvPr id="17" name="q3_o0"/>
          <p:cNvSpPr/>
          <p:nvPr/>
        </p:nvSpPr>
        <p:spPr>
          <a:xfrm>
            <a:off x="8124749" y="1908048"/>
            <a:ext cx="3655466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 err="1">
                <a:solidFill>
                  <a:schemeClr val="tx1"/>
                </a:solidFill>
              </a:rPr>
              <a:t>На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нагрів</a:t>
            </a:r>
            <a:r>
              <a:rPr lang="en-US" sz="1800" dirty="0">
                <a:solidFill>
                  <a:schemeClr val="tx1"/>
                </a:solidFill>
              </a:rPr>
              <a:t> газу.</a:t>
            </a:r>
            <a:endParaRPr lang="en-US" sz="1800" dirty="0"/>
          </a:p>
        </p:txBody>
      </p:sp>
      <p:sp>
        <p:nvSpPr>
          <p:cNvPr id="18" name="q3_o1"/>
          <p:cNvSpPr/>
          <p:nvPr/>
        </p:nvSpPr>
        <p:spPr>
          <a:xfrm>
            <a:off x="8124749" y="2398776"/>
            <a:ext cx="3655466" cy="701040"/>
          </a:xfrm>
          <a:prstGeom prst="roundRect">
            <a:avLst>
              <a:gd name="adj" fmla="val 782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Повністю на збільшення внутрішньої енергії.</a:t>
            </a:r>
            <a:endParaRPr lang="en-US" sz="1800" dirty="0"/>
          </a:p>
        </p:txBody>
      </p:sp>
      <p:sp>
        <p:nvSpPr>
          <p:cNvPr id="19" name="q3_o2"/>
          <p:cNvSpPr/>
          <p:nvPr/>
        </p:nvSpPr>
        <p:spPr>
          <a:xfrm>
            <a:off x="8124749" y="3163824"/>
            <a:ext cx="3655466" cy="53086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 err="1">
                <a:solidFill>
                  <a:schemeClr val="tx1"/>
                </a:solidFill>
              </a:rPr>
              <a:t>Теплота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sz="1800" dirty="0">
                <a:solidFill>
                  <a:schemeClr val="tx1"/>
                </a:solidFill>
              </a:rPr>
              <a:t>в такому процесі не передається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q3_o3"/>
          <p:cNvSpPr/>
          <p:nvPr/>
        </p:nvSpPr>
        <p:spPr>
          <a:xfrm>
            <a:off x="8124749" y="3771392"/>
            <a:ext cx="3655466" cy="602488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Повністю на виконання газом роботи проти </a:t>
            </a:r>
            <a:r>
              <a:rPr lang="en-US" sz="1800" dirty="0" err="1">
                <a:solidFill>
                  <a:schemeClr val="tx1"/>
                </a:solidFill>
              </a:rPr>
              <a:t>зовнішніх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сил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q3_ans"/>
          <p:cNvSpPr/>
          <p:nvPr/>
        </p:nvSpPr>
        <p:spPr>
          <a:xfrm>
            <a:off x="8114894" y="3758185"/>
            <a:ext cx="3655466" cy="615695"/>
          </a:xfrm>
          <a:prstGeom prst="roundRect">
            <a:avLst>
              <a:gd name="adj" fmla="val 5625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D) Повністю на виконання газом роботи проти </a:t>
            </a:r>
            <a:r>
              <a:rPr lang="en-US" sz="1800" b="1" dirty="0" err="1">
                <a:solidFill>
                  <a:schemeClr val="bg1"/>
                </a:solidFill>
              </a:rPr>
              <a:t>зовнішніх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сил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10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29640"/>
            <a:ext cx="1167237" cy="1834896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1761597" y="868680"/>
            <a:ext cx="10018619" cy="426720"/>
          </a:xfrm>
          <a:prstGeom prst="roundRect">
            <a:avLst>
              <a:gd name="adj" fmla="val 1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Рука тягне вгору за мотузку вантаж з силою F. Які сили діють на вантаж?</a:t>
            </a:r>
            <a:endParaRPr lang="en-US" sz="1800" dirty="0"/>
          </a:p>
        </p:txBody>
      </p:sp>
      <p:sp>
        <p:nvSpPr>
          <p:cNvPr id="5" name="q1_o0"/>
          <p:cNvSpPr/>
          <p:nvPr/>
        </p:nvSpPr>
        <p:spPr>
          <a:xfrm>
            <a:off x="1761597" y="1359408"/>
            <a:ext cx="4977305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Сила тертя та </a:t>
            </a:r>
            <a:r>
              <a:rPr lang="en-US" sz="1800" dirty="0" err="1">
                <a:solidFill>
                  <a:schemeClr val="tx1"/>
                </a:solidFill>
              </a:rPr>
              <a:t>сила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uk-UA" dirty="0"/>
              <a:t>опору</a:t>
            </a:r>
            <a:r>
              <a:rPr lang="en-US" sz="1800" dirty="0">
                <a:solidFill>
                  <a:schemeClr val="tx1"/>
                </a:solidFill>
              </a:rPr>
              <a:t> повітря.</a:t>
            </a:r>
            <a:endParaRPr lang="en-US" sz="1800" dirty="0"/>
          </a:p>
        </p:txBody>
      </p:sp>
      <p:sp>
        <p:nvSpPr>
          <p:cNvPr id="6" name="q1_o1"/>
          <p:cNvSpPr/>
          <p:nvPr/>
        </p:nvSpPr>
        <p:spPr>
          <a:xfrm>
            <a:off x="6802910" y="1359408"/>
            <a:ext cx="4977305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Тільки </a:t>
            </a:r>
            <a:r>
              <a:rPr lang="en-US" sz="1800" dirty="0" err="1">
                <a:solidFill>
                  <a:schemeClr val="tx1"/>
                </a:solidFill>
              </a:rPr>
              <a:t>сила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dirty="0"/>
              <a:t>F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q1_o2"/>
          <p:cNvSpPr/>
          <p:nvPr/>
        </p:nvSpPr>
        <p:spPr>
          <a:xfrm>
            <a:off x="1761597" y="1850136"/>
            <a:ext cx="4977305" cy="97536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Сила натягу </a:t>
            </a:r>
            <a:r>
              <a:rPr lang="en-US" sz="1800" dirty="0" err="1">
                <a:solidFill>
                  <a:schemeClr val="tx1"/>
                </a:solidFill>
              </a:rPr>
              <a:t>мотузки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та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сила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тяжіння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q1_o3"/>
          <p:cNvSpPr/>
          <p:nvPr/>
        </p:nvSpPr>
        <p:spPr>
          <a:xfrm>
            <a:off x="6802910" y="1850136"/>
            <a:ext cx="4977305" cy="97536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Тільки сила тяжіння.</a:t>
            </a:r>
            <a:endParaRPr lang="en-US" sz="1800" dirty="0"/>
          </a:p>
        </p:txBody>
      </p:sp>
      <p:sp>
        <p:nvSpPr>
          <p:cNvPr id="9" name="q1_ans"/>
          <p:cNvSpPr/>
          <p:nvPr/>
        </p:nvSpPr>
        <p:spPr>
          <a:xfrm>
            <a:off x="1775129" y="1851799"/>
            <a:ext cx="4977305" cy="975360"/>
          </a:xfrm>
          <a:prstGeom prst="roundRect">
            <a:avLst>
              <a:gd name="adj" fmla="val 5625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C) Сила натягу </a:t>
            </a:r>
            <a:r>
              <a:rPr lang="en-US" sz="1800" b="1" dirty="0" err="1">
                <a:solidFill>
                  <a:schemeClr val="bg1"/>
                </a:solidFill>
              </a:rPr>
              <a:t>мотузки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та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сила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тяжіння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10" name="q2_q"/>
          <p:cNvSpPr/>
          <p:nvPr/>
        </p:nvSpPr>
        <p:spPr>
          <a:xfrm>
            <a:off x="411480" y="3044952"/>
            <a:ext cx="11368735" cy="426720"/>
          </a:xfrm>
          <a:prstGeom prst="roundRect">
            <a:avLst>
              <a:gd name="adj" fmla="val 1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Запишіть повну кінетичну енергію циліндра масою m, що котиться без проковзування зі швидкістю v.</a:t>
            </a:r>
            <a:endParaRPr lang="en-US" sz="1800" dirty="0"/>
          </a:p>
        </p:txBody>
      </p:sp>
      <p:sp>
        <p:nvSpPr>
          <p:cNvPr id="11" name="q2_o0"/>
          <p:cNvSpPr/>
          <p:nvPr/>
        </p:nvSpPr>
        <p:spPr>
          <a:xfrm>
            <a:off x="411480" y="3535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Ek = (I ω²) / 2</a:t>
            </a:r>
            <a:endParaRPr lang="en-US" sz="1800" dirty="0"/>
          </a:p>
        </p:txBody>
      </p:sp>
      <p:sp>
        <p:nvSpPr>
          <p:cNvPr id="12" name="q2_o1"/>
          <p:cNvSpPr/>
          <p:nvPr/>
        </p:nvSpPr>
        <p:spPr>
          <a:xfrm>
            <a:off x="6127852" y="3535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Ek = (m v²) / 2 + (I ω²) / 2 = (3/4) m v²</a:t>
            </a:r>
            <a:endParaRPr lang="en-US" sz="1800" dirty="0"/>
          </a:p>
        </p:txBody>
      </p:sp>
      <p:sp>
        <p:nvSpPr>
          <p:cNvPr id="13" name="q2_o2"/>
          <p:cNvSpPr/>
          <p:nvPr/>
        </p:nvSpPr>
        <p:spPr>
          <a:xfrm>
            <a:off x="411480" y="4026408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Ek = m g h</a:t>
            </a:r>
            <a:endParaRPr lang="en-US" sz="1800" dirty="0"/>
          </a:p>
        </p:txBody>
      </p:sp>
      <p:sp>
        <p:nvSpPr>
          <p:cNvPr id="14" name="q2_o3"/>
          <p:cNvSpPr/>
          <p:nvPr/>
        </p:nvSpPr>
        <p:spPr>
          <a:xfrm>
            <a:off x="6127852" y="4026408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Ek = (m v²) / 2</a:t>
            </a:r>
            <a:endParaRPr lang="en-US" sz="1800" dirty="0"/>
          </a:p>
        </p:txBody>
      </p:sp>
      <p:sp>
        <p:nvSpPr>
          <p:cNvPr id="15" name="q2_ans"/>
          <p:cNvSpPr/>
          <p:nvPr/>
        </p:nvSpPr>
        <p:spPr>
          <a:xfrm>
            <a:off x="6127852" y="3535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B) Ek = (m v²) / 2 + (I ω²) / 2 = (3/4) m v²</a:t>
            </a:r>
            <a:endParaRPr lang="en-US" sz="1800" dirty="0"/>
          </a:p>
        </p:txBody>
      </p:sp>
      <p:sp>
        <p:nvSpPr>
          <p:cNvPr id="16" name="q3_q"/>
          <p:cNvSpPr/>
          <p:nvPr/>
        </p:nvSpPr>
        <p:spPr>
          <a:xfrm>
            <a:off x="411480" y="4672584"/>
            <a:ext cx="11368735" cy="426720"/>
          </a:xfrm>
          <a:prstGeom prst="roundRect">
            <a:avLst>
              <a:gd name="adj" fmla="val 1285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Знайдіть та виправте помилку: під час ізотермічного розширення ідеального газу Q = 0.</a:t>
            </a:r>
            <a:endParaRPr lang="en-US" sz="1800" dirty="0"/>
          </a:p>
        </p:txBody>
      </p:sp>
      <p:sp>
        <p:nvSpPr>
          <p:cNvPr id="17" name="q3_o0"/>
          <p:cNvSpPr/>
          <p:nvPr/>
        </p:nvSpPr>
        <p:spPr>
          <a:xfrm>
            <a:off x="411480" y="5163312"/>
            <a:ext cx="5652364" cy="97536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A) </a:t>
            </a:r>
            <a:r>
              <a:rPr lang="en-US" sz="1800" dirty="0">
                <a:solidFill>
                  <a:schemeClr val="tx1"/>
                </a:solidFill>
              </a:rPr>
              <a:t>Q = 0 виконується при адіабатному процесі. </a:t>
            </a:r>
            <a:endParaRPr lang="en-US" sz="1800" dirty="0"/>
          </a:p>
        </p:txBody>
      </p:sp>
      <p:sp>
        <p:nvSpPr>
          <p:cNvPr id="18" name="q3_o1"/>
          <p:cNvSpPr/>
          <p:nvPr/>
        </p:nvSpPr>
        <p:spPr>
          <a:xfrm>
            <a:off x="6127852" y="5163312"/>
            <a:ext cx="5652364" cy="975360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B) </a:t>
            </a:r>
            <a:r>
              <a:rPr lang="en-US" sz="1800" dirty="0">
                <a:solidFill>
                  <a:schemeClr val="tx1"/>
                </a:solidFill>
              </a:rPr>
              <a:t>При ізотермічному розширенні Q &lt; 0.</a:t>
            </a:r>
            <a:endParaRPr lang="en-US" sz="1800" dirty="0"/>
          </a:p>
        </p:txBody>
      </p:sp>
      <p:sp>
        <p:nvSpPr>
          <p:cNvPr id="19" name="q3_o2"/>
          <p:cNvSpPr/>
          <p:nvPr/>
        </p:nvSpPr>
        <p:spPr>
          <a:xfrm>
            <a:off x="411480" y="6202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C) </a:t>
            </a:r>
            <a:r>
              <a:rPr lang="en-US" sz="1800" dirty="0">
                <a:solidFill>
                  <a:schemeClr val="tx1"/>
                </a:solidFill>
              </a:rPr>
              <a:t>При ізотермічному розширенні A = 0.</a:t>
            </a:r>
            <a:endParaRPr lang="en-US" sz="1800" dirty="0"/>
          </a:p>
        </p:txBody>
      </p:sp>
      <p:sp>
        <p:nvSpPr>
          <p:cNvPr id="20" name="q3_o3"/>
          <p:cNvSpPr/>
          <p:nvPr/>
        </p:nvSpPr>
        <p:spPr>
          <a:xfrm>
            <a:off x="6127852" y="6202680"/>
            <a:ext cx="5652364" cy="426720"/>
          </a:xfrm>
          <a:prstGeom prst="roundRect">
            <a:avLst>
              <a:gd name="adj" fmla="val 1285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D) </a:t>
            </a:r>
            <a:r>
              <a:rPr lang="en-US" sz="1800" dirty="0">
                <a:solidFill>
                  <a:schemeClr val="tx1"/>
                </a:solidFill>
              </a:rPr>
              <a:t>Помилки немає, Q = 0.</a:t>
            </a:r>
            <a:endParaRPr lang="en-US" sz="1800" dirty="0"/>
          </a:p>
        </p:txBody>
      </p:sp>
      <p:sp>
        <p:nvSpPr>
          <p:cNvPr id="21" name="q3_ans"/>
          <p:cNvSpPr/>
          <p:nvPr/>
        </p:nvSpPr>
        <p:spPr>
          <a:xfrm>
            <a:off x="419160" y="5163312"/>
            <a:ext cx="5652364" cy="975360"/>
          </a:xfrm>
          <a:prstGeom prst="roundRect">
            <a:avLst>
              <a:gd name="adj" fmla="val 5625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 A) Q = 0 виконується при адіабатному процесі.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11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Чи може тіло рухатися рівномірно, якщо на нього діють сили?</a:t>
            </a:r>
            <a:endParaRPr lang="en-US" sz="2000" dirty="0"/>
          </a:p>
        </p:txBody>
      </p:sp>
      <p:sp>
        <p:nvSpPr>
          <p:cNvPr id="4" name="q1_o0"/>
          <p:cNvSpPr/>
          <p:nvPr/>
        </p:nvSpPr>
        <p:spPr>
          <a:xfrm>
            <a:off x="411480" y="1999488"/>
            <a:ext cx="3655466" cy="813816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Так, якщо векторна сума всіх сил </a:t>
            </a:r>
            <a:r>
              <a:rPr lang="en-US" sz="2000" dirty="0" err="1">
                <a:solidFill>
                  <a:schemeClr val="tx1"/>
                </a:solidFill>
              </a:rPr>
              <a:t>дорівнює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нулю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5" name="q1_o1"/>
          <p:cNvSpPr/>
          <p:nvPr/>
        </p:nvSpPr>
        <p:spPr>
          <a:xfrm>
            <a:off x="411480" y="2945576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Так, тільки за </a:t>
            </a:r>
            <a:r>
              <a:rPr lang="en-US" sz="2000" dirty="0" err="1">
                <a:solidFill>
                  <a:schemeClr val="tx1"/>
                </a:solidFill>
              </a:rPr>
              <a:t>відсутності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/>
              <a:t>сили тертя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6" name="q1_o2"/>
          <p:cNvSpPr/>
          <p:nvPr/>
        </p:nvSpPr>
        <p:spPr>
          <a:xfrm>
            <a:off x="411480" y="3771584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Ні, </a:t>
            </a:r>
            <a:r>
              <a:rPr lang="uk-UA" sz="2000" dirty="0">
                <a:solidFill>
                  <a:schemeClr val="tx1"/>
                </a:solidFill>
              </a:rPr>
              <a:t>рівномірний </a:t>
            </a:r>
            <a:r>
              <a:rPr lang="en-US" sz="2000" dirty="0" err="1">
                <a:solidFill>
                  <a:schemeClr val="tx1"/>
                </a:solidFill>
              </a:rPr>
              <a:t>рух</a:t>
            </a:r>
            <a:r>
              <a:rPr lang="en-US" sz="2000" dirty="0">
                <a:solidFill>
                  <a:schemeClr val="tx1"/>
                </a:solidFill>
              </a:rPr>
              <a:t> можливий тільки без сил.</a:t>
            </a:r>
            <a:endParaRPr lang="en-US" sz="2000" dirty="0"/>
          </a:p>
        </p:txBody>
      </p:sp>
      <p:sp>
        <p:nvSpPr>
          <p:cNvPr id="7" name="q1_o3"/>
          <p:cNvSpPr/>
          <p:nvPr/>
        </p:nvSpPr>
        <p:spPr>
          <a:xfrm>
            <a:off x="411480" y="4597592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Ні, сили завжди викликають прискорення.</a:t>
            </a:r>
            <a:endParaRPr lang="en-US" sz="2000" dirty="0"/>
          </a:p>
        </p:txBody>
      </p:sp>
      <p:sp>
        <p:nvSpPr>
          <p:cNvPr id="8" name="q1_ans"/>
          <p:cNvSpPr/>
          <p:nvPr/>
        </p:nvSpPr>
        <p:spPr>
          <a:xfrm>
            <a:off x="411479" y="1994916"/>
            <a:ext cx="3655466" cy="818388"/>
          </a:xfrm>
          <a:prstGeom prst="roundRect">
            <a:avLst>
              <a:gd name="adj" fmla="val 514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A) Так, якщо векторна сума всіх сил </a:t>
            </a:r>
            <a:r>
              <a:rPr lang="en-US" sz="2000" b="1" dirty="0" err="1">
                <a:solidFill>
                  <a:schemeClr val="bg1"/>
                </a:solidFill>
              </a:rPr>
              <a:t>дорівнює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нулю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676400"/>
          </a:xfrm>
          <a:prstGeom prst="roundRect">
            <a:avLst>
              <a:gd name="adj" fmla="val 32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якщо швидкість тіла збільшилася вдвічі, його кінетична енергія збільшилася вдвічі.</a:t>
            </a:r>
            <a:endParaRPr lang="en-US" sz="2000" dirty="0"/>
          </a:p>
        </p:txBody>
      </p:sp>
      <p:sp>
        <p:nvSpPr>
          <p:cNvPr id="10" name="q2_o0"/>
          <p:cNvSpPr/>
          <p:nvPr/>
        </p:nvSpPr>
        <p:spPr>
          <a:xfrm>
            <a:off x="4268114" y="26090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Ek зменшується вдвічі.</a:t>
            </a:r>
            <a:endParaRPr lang="en-US" sz="2000" dirty="0"/>
          </a:p>
        </p:txBody>
      </p:sp>
      <p:sp>
        <p:nvSpPr>
          <p:cNvPr id="11" name="q2_o1"/>
          <p:cNvSpPr/>
          <p:nvPr/>
        </p:nvSpPr>
        <p:spPr>
          <a:xfrm>
            <a:off x="4268114" y="31302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Ek зростає в 8 разів.</a:t>
            </a:r>
            <a:endParaRPr lang="en-US" sz="2000" dirty="0"/>
          </a:p>
        </p:txBody>
      </p:sp>
      <p:sp>
        <p:nvSpPr>
          <p:cNvPr id="12" name="q2_o2"/>
          <p:cNvSpPr/>
          <p:nvPr/>
        </p:nvSpPr>
        <p:spPr>
          <a:xfrm>
            <a:off x="4268114" y="3651504"/>
            <a:ext cx="3655466" cy="762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Ek </a:t>
            </a:r>
            <a:r>
              <a:rPr lang="en-US" sz="2000" dirty="0" err="1">
                <a:solidFill>
                  <a:schemeClr val="tx1"/>
                </a:solidFill>
              </a:rPr>
              <a:t>зростає</a:t>
            </a:r>
            <a:r>
              <a:rPr lang="en-US" sz="2000" dirty="0">
                <a:solidFill>
                  <a:schemeClr val="tx1"/>
                </a:solidFill>
              </a:rPr>
              <a:t> в 4 рази.</a:t>
            </a:r>
            <a:endParaRPr lang="en-US" sz="2000" dirty="0"/>
          </a:p>
        </p:txBody>
      </p:sp>
      <p:sp>
        <p:nvSpPr>
          <p:cNvPr id="13" name="q2_o3"/>
          <p:cNvSpPr/>
          <p:nvPr/>
        </p:nvSpPr>
        <p:spPr>
          <a:xfrm>
            <a:off x="4268114" y="4565904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Помилки немає, Ek збільшилася вдвічі.</a:t>
            </a:r>
            <a:endParaRPr lang="en-US" sz="2000" dirty="0"/>
          </a:p>
        </p:txBody>
      </p:sp>
      <p:sp>
        <p:nvSpPr>
          <p:cNvPr id="14" name="q2_ans"/>
          <p:cNvSpPr/>
          <p:nvPr/>
        </p:nvSpPr>
        <p:spPr>
          <a:xfrm>
            <a:off x="4268114" y="3651504"/>
            <a:ext cx="3655466" cy="7620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C) Ek </a:t>
            </a:r>
            <a:r>
              <a:rPr lang="en-US" sz="2000" b="1" dirty="0" err="1">
                <a:solidFill>
                  <a:schemeClr val="bg1"/>
                </a:solidFill>
              </a:rPr>
              <a:t>зростає</a:t>
            </a:r>
            <a:r>
              <a:rPr lang="en-US" sz="2000" b="1" dirty="0">
                <a:solidFill>
                  <a:schemeClr val="bg1"/>
                </a:solidFill>
              </a:rPr>
              <a:t> в 4 рази.</a:t>
            </a:r>
            <a:endParaRPr lang="en-US" sz="20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676400"/>
          </a:xfrm>
          <a:prstGeom prst="roundRect">
            <a:avLst>
              <a:gd name="adj" fmla="val 32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при ізотермічному розширенні ідеального газу його внутрішня енергія збільшується.</a:t>
            </a:r>
            <a:endParaRPr lang="en-US" sz="2000" dirty="0"/>
          </a:p>
        </p:txBody>
      </p:sp>
      <p:sp>
        <p:nvSpPr>
          <p:cNvPr id="16" name="q3_o0"/>
          <p:cNvSpPr/>
          <p:nvPr/>
        </p:nvSpPr>
        <p:spPr>
          <a:xfrm>
            <a:off x="8124749" y="26090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U </a:t>
            </a:r>
            <a:r>
              <a:rPr lang="en-US" sz="2000" dirty="0" err="1">
                <a:solidFill>
                  <a:schemeClr val="tx1"/>
                </a:solidFill>
              </a:rPr>
              <a:t>зменшується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7" name="q3_o1"/>
          <p:cNvSpPr/>
          <p:nvPr/>
        </p:nvSpPr>
        <p:spPr>
          <a:xfrm>
            <a:off x="8124749" y="3130296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Помилки немає, U збільшується.</a:t>
            </a:r>
            <a:endParaRPr lang="en-US" sz="2000" dirty="0"/>
          </a:p>
        </p:txBody>
      </p:sp>
      <p:sp>
        <p:nvSpPr>
          <p:cNvPr id="18" name="q3_o2"/>
          <p:cNvSpPr/>
          <p:nvPr/>
        </p:nvSpPr>
        <p:spPr>
          <a:xfrm>
            <a:off x="8124749" y="3956304"/>
            <a:ext cx="3655466" cy="1040569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При ізотермічному </a:t>
            </a:r>
            <a:r>
              <a:rPr lang="en-US" sz="2000" dirty="0" err="1">
                <a:solidFill>
                  <a:schemeClr val="tx1"/>
                </a:solidFill>
              </a:rPr>
              <a:t>процесі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внутрішня</a:t>
            </a:r>
            <a:r>
              <a:rPr lang="en-US" sz="2000" dirty="0">
                <a:solidFill>
                  <a:schemeClr val="tx1"/>
                </a:solidFill>
              </a:rPr>
              <a:t> енергія </a:t>
            </a:r>
            <a:r>
              <a:rPr lang="en-US" sz="2000" dirty="0" err="1">
                <a:solidFill>
                  <a:schemeClr val="tx1"/>
                </a:solidFill>
              </a:rPr>
              <a:t>не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змінюється</a:t>
            </a:r>
            <a:r>
              <a:rPr lang="uk-UA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9" name="q3_o3"/>
          <p:cNvSpPr/>
          <p:nvPr/>
        </p:nvSpPr>
        <p:spPr>
          <a:xfrm>
            <a:off x="8124749" y="5095889"/>
            <a:ext cx="3655466" cy="1040569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uk-UA" sz="2000" dirty="0">
                <a:solidFill>
                  <a:schemeClr val="tx1"/>
                </a:solidFill>
              </a:rPr>
              <a:t>Знак зміни внутрішньої енергії залежить від значення температури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0" name="q3_ans"/>
          <p:cNvSpPr/>
          <p:nvPr/>
        </p:nvSpPr>
        <p:spPr>
          <a:xfrm>
            <a:off x="8124749" y="3956304"/>
            <a:ext cx="3655466" cy="1040569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C) При ізотермічному </a:t>
            </a:r>
            <a:r>
              <a:rPr lang="en-US" sz="2000" b="1" dirty="0" err="1">
                <a:solidFill>
                  <a:schemeClr val="bg1"/>
                </a:solidFill>
              </a:rPr>
              <a:t>процесі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внутрішня</a:t>
            </a:r>
            <a:r>
              <a:rPr lang="en-US" sz="2000" b="1" dirty="0">
                <a:solidFill>
                  <a:schemeClr val="bg1"/>
                </a:solidFill>
              </a:rPr>
              <a:t> енергія </a:t>
            </a:r>
            <a:r>
              <a:rPr lang="en-US" sz="2000" b="1" dirty="0" err="1">
                <a:solidFill>
                  <a:schemeClr val="bg1"/>
                </a:solidFill>
              </a:rPr>
              <a:t>не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змінюється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12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618" y="868680"/>
            <a:ext cx="1105191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188976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Рука тягне вгору за мотузку з силою F. Якщо тіло рухається вгору з прискоренням a, яка сила більша: F чи mg? Як зміниться результат, якщо тіло піднімається рівномірно?</a:t>
            </a:r>
            <a:endParaRPr lang="en-US" sz="1900" dirty="0"/>
          </a:p>
        </p:txBody>
      </p:sp>
      <p:sp>
        <p:nvSpPr>
          <p:cNvPr id="5" name="q1_o0"/>
          <p:cNvSpPr/>
          <p:nvPr/>
        </p:nvSpPr>
        <p:spPr>
          <a:xfrm>
            <a:off x="411480" y="462381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F &gt; mg</a:t>
            </a:r>
            <a:endParaRPr lang="en-US" sz="1900" dirty="0"/>
          </a:p>
        </p:txBody>
      </p:sp>
      <p:sp>
        <p:nvSpPr>
          <p:cNvPr id="6" name="q1_o1"/>
          <p:cNvSpPr/>
          <p:nvPr/>
        </p:nvSpPr>
        <p:spPr>
          <a:xfrm>
            <a:off x="411480" y="512978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F = mg</a:t>
            </a:r>
            <a:endParaRPr lang="en-US" sz="1900" dirty="0"/>
          </a:p>
        </p:txBody>
      </p:sp>
      <p:sp>
        <p:nvSpPr>
          <p:cNvPr id="7" name="q1_o2"/>
          <p:cNvSpPr/>
          <p:nvPr/>
        </p:nvSpPr>
        <p:spPr>
          <a:xfrm>
            <a:off x="411480" y="5635752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F = </a:t>
            </a:r>
            <a:r>
              <a:rPr lang="uk-UA" sz="1900" dirty="0">
                <a:solidFill>
                  <a:schemeClr val="tx1"/>
                </a:solidFill>
              </a:rPr>
              <a:t>-</a:t>
            </a:r>
            <a:r>
              <a:rPr lang="en-US" sz="1900" dirty="0"/>
              <a:t>mg</a:t>
            </a:r>
          </a:p>
        </p:txBody>
      </p:sp>
      <p:sp>
        <p:nvSpPr>
          <p:cNvPr id="8" name="q1_o3"/>
          <p:cNvSpPr/>
          <p:nvPr/>
        </p:nvSpPr>
        <p:spPr>
          <a:xfrm>
            <a:off x="411480" y="6141720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F &lt; mg</a:t>
            </a:r>
            <a:endParaRPr lang="en-US" sz="1900" dirty="0"/>
          </a:p>
        </p:txBody>
      </p:sp>
      <p:sp>
        <p:nvSpPr>
          <p:cNvPr id="9" name="q1_ans"/>
          <p:cNvSpPr/>
          <p:nvPr/>
        </p:nvSpPr>
        <p:spPr>
          <a:xfrm>
            <a:off x="411480" y="462381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F &gt; mg</a:t>
            </a:r>
            <a:endParaRPr lang="en-US" sz="19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r>
              <a:rPr lang="en-US" sz="1900" b="1" dirty="0"/>
              <a:t>Запишіть </a:t>
            </a:r>
            <a:r>
              <a:rPr lang="en-US" sz="1900" b="1" dirty="0" err="1"/>
              <a:t>формулу</a:t>
            </a:r>
            <a:r>
              <a:rPr lang="en-US" sz="1900" b="1" dirty="0"/>
              <a:t> </a:t>
            </a:r>
            <a:r>
              <a:rPr lang="en-US" sz="1900" b="1" dirty="0" err="1">
                <a:solidFill>
                  <a:schemeClr val="tx1"/>
                </a:solidFill>
              </a:rPr>
              <a:t>момент</a:t>
            </a:r>
            <a:r>
              <a:rPr lang="uk-UA" sz="1900" b="1" dirty="0"/>
              <a:t>у</a:t>
            </a:r>
            <a:r>
              <a:rPr lang="en-US" sz="1900" b="1" dirty="0">
                <a:solidFill>
                  <a:schemeClr val="tx1"/>
                </a:solidFill>
              </a:rPr>
              <a:t> </a:t>
            </a:r>
            <a:r>
              <a:rPr lang="en-US" sz="1900" b="1" dirty="0" err="1">
                <a:solidFill>
                  <a:schemeClr val="tx1"/>
                </a:solidFill>
              </a:rPr>
              <a:t>сили</a:t>
            </a:r>
            <a:r>
              <a:rPr lang="en-US" sz="1900" b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1" name="q2_o0"/>
          <p:cNvSpPr/>
          <p:nvPr/>
        </p:nvSpPr>
        <p:spPr>
          <a:xfrm>
            <a:off x="4268114" y="166420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M = F / r</a:t>
            </a:r>
            <a:endParaRPr lang="en-US" sz="1900" dirty="0"/>
          </a:p>
        </p:txBody>
      </p:sp>
      <p:sp>
        <p:nvSpPr>
          <p:cNvPr id="12" name="q2_o1"/>
          <p:cNvSpPr/>
          <p:nvPr/>
        </p:nvSpPr>
        <p:spPr>
          <a:xfrm>
            <a:off x="4268114" y="217017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M = F v</a:t>
            </a:r>
            <a:endParaRPr lang="en-US" sz="1900" dirty="0"/>
          </a:p>
        </p:txBody>
      </p:sp>
      <p:sp>
        <p:nvSpPr>
          <p:cNvPr id="13" name="q2_o2"/>
          <p:cNvSpPr/>
          <p:nvPr/>
        </p:nvSpPr>
        <p:spPr>
          <a:xfrm>
            <a:off x="4268114" y="2676144"/>
            <a:ext cx="3655466" cy="510401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M = F r sin α.</a:t>
            </a:r>
            <a:endParaRPr lang="en-US" sz="1900" dirty="0"/>
          </a:p>
        </p:txBody>
      </p:sp>
      <p:sp>
        <p:nvSpPr>
          <p:cNvPr id="14" name="q2_o3"/>
          <p:cNvSpPr/>
          <p:nvPr/>
        </p:nvSpPr>
        <p:spPr>
          <a:xfrm>
            <a:off x="4268114" y="3319272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M = m a</a:t>
            </a:r>
            <a:endParaRPr lang="en-US" sz="1900" dirty="0"/>
          </a:p>
        </p:txBody>
      </p:sp>
      <p:sp>
        <p:nvSpPr>
          <p:cNvPr id="15" name="q2_ans"/>
          <p:cNvSpPr/>
          <p:nvPr/>
        </p:nvSpPr>
        <p:spPr>
          <a:xfrm>
            <a:off x="4268114" y="2680855"/>
            <a:ext cx="3655466" cy="505690"/>
          </a:xfrm>
          <a:prstGeom prst="roundRect">
            <a:avLst>
              <a:gd name="adj" fmla="val 53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C) M = F r sin α.</a:t>
            </a:r>
            <a:endParaRPr lang="en-US" sz="19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при ізобарному розширенні ідеального газу його температура не змінюється.</a:t>
            </a:r>
            <a:endParaRPr lang="en-US" sz="1900" dirty="0"/>
          </a:p>
        </p:txBody>
      </p:sp>
      <p:sp>
        <p:nvSpPr>
          <p:cNvPr id="17" name="q3_o0"/>
          <p:cNvSpPr/>
          <p:nvPr/>
        </p:nvSpPr>
        <p:spPr>
          <a:xfrm>
            <a:off x="8124749" y="2532888"/>
            <a:ext cx="3655466" cy="106495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При p = const </a:t>
            </a:r>
            <a:r>
              <a:rPr lang="en-US" sz="1900" dirty="0" err="1">
                <a:solidFill>
                  <a:schemeClr val="tx1"/>
                </a:solidFill>
              </a:rPr>
              <a:t>розширення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супроводжується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нагріванням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газу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q3_o1"/>
          <p:cNvSpPr/>
          <p:nvPr/>
        </p:nvSpPr>
        <p:spPr>
          <a:xfrm>
            <a:off x="8124749" y="3694363"/>
            <a:ext cx="3655466" cy="563602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uk-UA" sz="1900" dirty="0"/>
              <a:t>В</a:t>
            </a:r>
            <a:r>
              <a:rPr lang="uk-UA" sz="1900" dirty="0">
                <a:solidFill>
                  <a:schemeClr val="tx1"/>
                </a:solidFill>
              </a:rPr>
              <a:t>изначити зміну температури неможливо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q3_o2"/>
          <p:cNvSpPr/>
          <p:nvPr/>
        </p:nvSpPr>
        <p:spPr>
          <a:xfrm>
            <a:off x="8124749" y="4331163"/>
            <a:ext cx="3655466" cy="991893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 err="1"/>
              <a:t>При</a:t>
            </a:r>
            <a:r>
              <a:rPr lang="en-US" sz="1900" dirty="0"/>
              <a:t> p = const </a:t>
            </a:r>
            <a:r>
              <a:rPr lang="en-US" sz="1900" dirty="0" err="1"/>
              <a:t>розширення</a:t>
            </a:r>
            <a:r>
              <a:rPr lang="en-US" sz="1900" dirty="0"/>
              <a:t> </a:t>
            </a:r>
            <a:r>
              <a:rPr lang="en-US" sz="1900" dirty="0" err="1"/>
              <a:t>супроводжується</a:t>
            </a:r>
            <a:r>
              <a:rPr lang="en-US" sz="1900" dirty="0"/>
              <a:t> </a:t>
            </a:r>
            <a:r>
              <a:rPr lang="uk-UA" sz="1900" dirty="0"/>
              <a:t>охолодженням</a:t>
            </a:r>
            <a:r>
              <a:rPr lang="en-US" sz="1900" dirty="0"/>
              <a:t> </a:t>
            </a:r>
            <a:r>
              <a:rPr lang="en-US" sz="1900" dirty="0" err="1"/>
              <a:t>газу</a:t>
            </a:r>
            <a:r>
              <a:rPr lang="en-US" sz="1900" dirty="0"/>
              <a:t>.</a:t>
            </a:r>
          </a:p>
        </p:txBody>
      </p:sp>
      <p:sp>
        <p:nvSpPr>
          <p:cNvPr id="20" name="q3_o3"/>
          <p:cNvSpPr/>
          <p:nvPr/>
        </p:nvSpPr>
        <p:spPr>
          <a:xfrm>
            <a:off x="8124749" y="538706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Помилки немає.</a:t>
            </a:r>
            <a:endParaRPr lang="en-US" sz="1900" dirty="0"/>
          </a:p>
        </p:txBody>
      </p:sp>
      <p:sp>
        <p:nvSpPr>
          <p:cNvPr id="21" name="q3_ans"/>
          <p:cNvSpPr/>
          <p:nvPr/>
        </p:nvSpPr>
        <p:spPr>
          <a:xfrm>
            <a:off x="8124749" y="2532888"/>
            <a:ext cx="3655466" cy="1064952"/>
          </a:xfrm>
          <a:prstGeom prst="roundRect">
            <a:avLst>
              <a:gd name="adj" fmla="val 290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При p = const </a:t>
            </a:r>
            <a:r>
              <a:rPr lang="en-US" sz="1900" b="1" dirty="0" err="1">
                <a:solidFill>
                  <a:schemeClr val="bg1"/>
                </a:solidFill>
              </a:rPr>
              <a:t>розширення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супроводжується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нагріванням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газу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13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сила тертя ковзання завжди дорівнює μmg.</a:t>
            </a:r>
            <a:endParaRPr lang="en-US" sz="1900" dirty="0"/>
          </a:p>
        </p:txBody>
      </p:sp>
      <p:sp>
        <p:nvSpPr>
          <p:cNvPr id="4" name="q1_o0"/>
          <p:cNvSpPr/>
          <p:nvPr/>
        </p:nvSpPr>
        <p:spPr>
          <a:xfrm>
            <a:off x="411480" y="195376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F</a:t>
            </a:r>
            <a:r>
              <a:rPr lang="en-US" sz="1900" baseline="-40000" dirty="0">
                <a:solidFill>
                  <a:schemeClr val="tx1"/>
                </a:solidFill>
              </a:rPr>
              <a:t>тертя</a:t>
            </a:r>
            <a:r>
              <a:rPr lang="en-US" sz="1900" dirty="0">
                <a:solidFill>
                  <a:schemeClr val="tx1"/>
                </a:solidFill>
              </a:rPr>
              <a:t> = μ a.</a:t>
            </a:r>
            <a:endParaRPr lang="en-US" sz="1900" dirty="0"/>
          </a:p>
        </p:txBody>
      </p:sp>
      <p:sp>
        <p:nvSpPr>
          <p:cNvPr id="5" name="q1_o1"/>
          <p:cNvSpPr/>
          <p:nvPr/>
        </p:nvSpPr>
        <p:spPr>
          <a:xfrm>
            <a:off x="411480" y="245973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Помилки немає.</a:t>
            </a:r>
            <a:endParaRPr lang="en-US" sz="1900" dirty="0"/>
          </a:p>
        </p:txBody>
      </p:sp>
      <p:sp>
        <p:nvSpPr>
          <p:cNvPr id="6" name="q1_o2"/>
          <p:cNvSpPr/>
          <p:nvPr/>
        </p:nvSpPr>
        <p:spPr>
          <a:xfrm>
            <a:off x="411480" y="2965704"/>
            <a:ext cx="3655466" cy="5810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 err="1">
                <a:solidFill>
                  <a:schemeClr val="tx1"/>
                </a:solidFill>
              </a:rPr>
              <a:t>F</a:t>
            </a:r>
            <a:r>
              <a:rPr lang="en-US" sz="1900" baseline="-40000" dirty="0" err="1">
                <a:solidFill>
                  <a:schemeClr val="tx1"/>
                </a:solidFill>
              </a:rPr>
              <a:t>тертя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дорівнює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зовнішній силі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7" name="q1_o3"/>
          <p:cNvSpPr/>
          <p:nvPr/>
        </p:nvSpPr>
        <p:spPr>
          <a:xfrm>
            <a:off x="411480" y="3639774"/>
            <a:ext cx="3655466" cy="1295400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Сила тертя дорівнює F</a:t>
            </a:r>
            <a:r>
              <a:rPr lang="en-US" sz="1900" baseline="-40000" dirty="0">
                <a:solidFill>
                  <a:schemeClr val="tx1"/>
                </a:solidFill>
              </a:rPr>
              <a:t>тертя</a:t>
            </a:r>
            <a:r>
              <a:rPr lang="en-US" sz="1900" dirty="0">
                <a:solidFill>
                  <a:schemeClr val="tx1"/>
                </a:solidFill>
              </a:rPr>
              <a:t> = μ N. Сила реакції N дорівнює mg тільки на нерухомій </a:t>
            </a:r>
            <a:r>
              <a:rPr lang="en-US" sz="1900" dirty="0" err="1">
                <a:solidFill>
                  <a:schemeClr val="tx1"/>
                </a:solidFill>
              </a:rPr>
              <a:t>горизонтальній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площині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8" name="q1_ans"/>
          <p:cNvSpPr/>
          <p:nvPr/>
        </p:nvSpPr>
        <p:spPr>
          <a:xfrm>
            <a:off x="411479" y="3634694"/>
            <a:ext cx="3655466" cy="1295400"/>
          </a:xfrm>
          <a:prstGeom prst="roundRect">
            <a:avLst>
              <a:gd name="adj" fmla="val 290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D) Сила тертя дорівнює F</a:t>
            </a:r>
            <a:r>
              <a:rPr lang="en-US" sz="1900" b="1" baseline="-40000" dirty="0">
                <a:solidFill>
                  <a:schemeClr val="bg1"/>
                </a:solidFill>
              </a:rPr>
              <a:t>тертя</a:t>
            </a:r>
            <a:r>
              <a:rPr lang="en-US" sz="1900" b="1" dirty="0">
                <a:solidFill>
                  <a:schemeClr val="bg1"/>
                </a:solidFill>
              </a:rPr>
              <a:t> = μ N. Сила реакції N дорівнює mg тільки на нерухомій </a:t>
            </a:r>
            <a:r>
              <a:rPr lang="en-US" sz="1900" b="1" dirty="0" err="1">
                <a:solidFill>
                  <a:schemeClr val="bg1"/>
                </a:solidFill>
              </a:rPr>
              <a:t>горизонтальній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площині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при абсолютно непружному зіткненні зберігається механічна енергія.</a:t>
            </a:r>
            <a:endParaRPr lang="en-US" sz="1900" dirty="0"/>
          </a:p>
        </p:txBody>
      </p:sp>
      <p:sp>
        <p:nvSpPr>
          <p:cNvPr id="10" name="q2_o0"/>
          <p:cNvSpPr/>
          <p:nvPr/>
        </p:nvSpPr>
        <p:spPr>
          <a:xfrm>
            <a:off x="4268114" y="253288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Помилки немає.</a:t>
            </a:r>
            <a:endParaRPr lang="en-US" sz="1900" dirty="0"/>
          </a:p>
        </p:txBody>
      </p:sp>
      <p:sp>
        <p:nvSpPr>
          <p:cNvPr id="11" name="q2_o1"/>
          <p:cNvSpPr/>
          <p:nvPr/>
        </p:nvSpPr>
        <p:spPr>
          <a:xfrm>
            <a:off x="4268114" y="303885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Не зберігається ні імпульс, ні енергія.</a:t>
            </a:r>
            <a:endParaRPr lang="en-US" sz="1900" dirty="0"/>
          </a:p>
        </p:txBody>
      </p:sp>
      <p:sp>
        <p:nvSpPr>
          <p:cNvPr id="12" name="q2_o2"/>
          <p:cNvSpPr/>
          <p:nvPr/>
        </p:nvSpPr>
        <p:spPr>
          <a:xfrm>
            <a:off x="4268114" y="3834384"/>
            <a:ext cx="3655466" cy="657214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Зберігається лише повний </a:t>
            </a:r>
            <a:r>
              <a:rPr lang="en-US" sz="1900" dirty="0" err="1">
                <a:solidFill>
                  <a:schemeClr val="tx1"/>
                </a:solidFill>
              </a:rPr>
              <a:t>імпульс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системи</a:t>
            </a:r>
            <a:r>
              <a:rPr lang="uk-UA" sz="1900" dirty="0"/>
              <a:t>.</a:t>
            </a:r>
            <a:endParaRPr lang="en-US" sz="1900" dirty="0"/>
          </a:p>
        </p:txBody>
      </p:sp>
      <p:sp>
        <p:nvSpPr>
          <p:cNvPr id="13" name="q2_o3"/>
          <p:cNvSpPr/>
          <p:nvPr/>
        </p:nvSpPr>
        <p:spPr>
          <a:xfrm>
            <a:off x="4253027" y="4569414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Зберігається тільки кінетична енергія.</a:t>
            </a:r>
            <a:endParaRPr lang="en-US" sz="1900" dirty="0"/>
          </a:p>
        </p:txBody>
      </p:sp>
      <p:sp>
        <p:nvSpPr>
          <p:cNvPr id="14" name="q2_ans"/>
          <p:cNvSpPr/>
          <p:nvPr/>
        </p:nvSpPr>
        <p:spPr>
          <a:xfrm>
            <a:off x="4268114" y="3834384"/>
            <a:ext cx="3655466" cy="652272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C) Зберігається лише повний </a:t>
            </a:r>
            <a:r>
              <a:rPr lang="en-US" sz="1900" b="1" dirty="0" err="1">
                <a:solidFill>
                  <a:schemeClr val="bg1"/>
                </a:solidFill>
              </a:rPr>
              <a:t>імпульс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системи</a:t>
            </a:r>
            <a:r>
              <a:rPr lang="uk-UA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pic>
        <p:nvPicPr>
          <p:cNvPr id="15" name="q3_img" descr="Рисунок до запитання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591" y="868680"/>
            <a:ext cx="1951781" cy="1737360"/>
          </a:xfrm>
          <a:prstGeom prst="rect">
            <a:avLst/>
          </a:prstGeom>
        </p:spPr>
      </p:pic>
      <p:sp>
        <p:nvSpPr>
          <p:cNvPr id="16" name="q3_q"/>
          <p:cNvSpPr/>
          <p:nvPr/>
        </p:nvSpPr>
        <p:spPr>
          <a:xfrm>
            <a:off x="8124749" y="267004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Як змінюється температура при переході 1 → 2?</a:t>
            </a:r>
            <a:endParaRPr lang="en-US" sz="1900" dirty="0"/>
          </a:p>
        </p:txBody>
      </p:sp>
      <p:sp>
        <p:nvSpPr>
          <p:cNvPr id="17" name="q3_o0"/>
          <p:cNvSpPr/>
          <p:nvPr/>
        </p:nvSpPr>
        <p:spPr>
          <a:xfrm>
            <a:off x="8124749" y="3465576"/>
            <a:ext cx="3655466" cy="552242"/>
          </a:xfrm>
          <a:prstGeom prst="roundRect">
            <a:avLst>
              <a:gd name="adj" fmla="val 53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Температура T </a:t>
            </a:r>
            <a:r>
              <a:rPr lang="uk-UA" sz="1900" dirty="0">
                <a:solidFill>
                  <a:schemeClr val="tx1"/>
                </a:solidFill>
              </a:rPr>
              <a:t>зменшується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q3_o1"/>
          <p:cNvSpPr/>
          <p:nvPr/>
        </p:nvSpPr>
        <p:spPr>
          <a:xfrm>
            <a:off x="8124750" y="4107180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 err="1"/>
              <a:t>Температура</a:t>
            </a:r>
            <a:r>
              <a:rPr lang="en-US" sz="1900" dirty="0"/>
              <a:t> T </a:t>
            </a:r>
            <a:r>
              <a:rPr lang="uk-UA" sz="1900" dirty="0"/>
              <a:t>зростає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q3_o2"/>
          <p:cNvSpPr/>
          <p:nvPr/>
        </p:nvSpPr>
        <p:spPr>
          <a:xfrm>
            <a:off x="8124750" y="4613148"/>
            <a:ext cx="3655466" cy="44196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 err="1"/>
              <a:t>Температура</a:t>
            </a:r>
            <a:r>
              <a:rPr lang="en-US" sz="1900" dirty="0"/>
              <a:t> T = const 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0" name="q3_o3"/>
          <p:cNvSpPr/>
          <p:nvPr/>
        </p:nvSpPr>
        <p:spPr>
          <a:xfrm>
            <a:off x="8124749" y="511911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Об'єм V = const.</a:t>
            </a:r>
            <a:endParaRPr lang="en-US" sz="1900" dirty="0"/>
          </a:p>
        </p:txBody>
      </p:sp>
      <p:sp>
        <p:nvSpPr>
          <p:cNvPr id="21" name="q3_ans"/>
          <p:cNvSpPr/>
          <p:nvPr/>
        </p:nvSpPr>
        <p:spPr>
          <a:xfrm>
            <a:off x="8124748" y="3476522"/>
            <a:ext cx="3655466" cy="573070"/>
          </a:xfrm>
          <a:prstGeom prst="roundRect">
            <a:avLst>
              <a:gd name="adj" fmla="val 53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Температура T </a:t>
            </a:r>
            <a:r>
              <a:rPr lang="uk-UA" sz="1900" b="1" dirty="0">
                <a:solidFill>
                  <a:schemeClr val="bg1"/>
                </a:solidFill>
              </a:rPr>
              <a:t>зменшується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14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Що таке кутова швидкість?</a:t>
            </a:r>
            <a:endParaRPr lang="en-US" sz="2400" dirty="0"/>
          </a:p>
        </p:txBody>
      </p:sp>
      <p:sp>
        <p:nvSpPr>
          <p:cNvPr id="4" name="q1_o0"/>
          <p:cNvSpPr/>
          <p:nvPr/>
        </p:nvSpPr>
        <p:spPr>
          <a:xfrm>
            <a:off x="411480" y="1816608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A) </a:t>
            </a:r>
            <a:r>
              <a:rPr lang="en-US" sz="2400" dirty="0">
                <a:solidFill>
                  <a:schemeClr val="tx1"/>
                </a:solidFill>
              </a:rPr>
              <a:t>Швидкість руху вздовж дотичної.</a:t>
            </a:r>
            <a:endParaRPr lang="en-US" sz="2400" dirty="0"/>
          </a:p>
        </p:txBody>
      </p:sp>
      <p:sp>
        <p:nvSpPr>
          <p:cNvPr id="5" name="q1_o1"/>
          <p:cNvSpPr/>
          <p:nvPr/>
        </p:nvSpPr>
        <p:spPr>
          <a:xfrm>
            <a:off x="411480" y="2764536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2400" b="1" dirty="0">
                <a:solidFill>
                  <a:schemeClr val="accent1"/>
                </a:solidFill>
              </a:rPr>
              <a:t>B) </a:t>
            </a:r>
            <a:r>
              <a:rPr lang="en-US" sz="2400" dirty="0" err="1"/>
              <a:t>Швидкість</a:t>
            </a:r>
            <a:r>
              <a:rPr lang="en-US" sz="2400" dirty="0"/>
              <a:t> </a:t>
            </a:r>
            <a:r>
              <a:rPr lang="en-US" sz="2400" dirty="0" err="1"/>
              <a:t>руху</a:t>
            </a:r>
            <a:r>
              <a:rPr lang="en-US" sz="2400" dirty="0"/>
              <a:t> </a:t>
            </a:r>
            <a:r>
              <a:rPr lang="en-US" sz="2400" dirty="0" err="1"/>
              <a:t>вздовж</a:t>
            </a:r>
            <a:r>
              <a:rPr lang="en-US" sz="2400" dirty="0"/>
              <a:t> </a:t>
            </a:r>
            <a:r>
              <a:rPr lang="uk-UA" sz="2400" dirty="0"/>
              <a:t>кола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6" name="q1_o2"/>
          <p:cNvSpPr/>
          <p:nvPr/>
        </p:nvSpPr>
        <p:spPr>
          <a:xfrm>
            <a:off x="411480" y="3712464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C) </a:t>
            </a:r>
            <a:r>
              <a:rPr lang="en-US" sz="2400" dirty="0" err="1">
                <a:solidFill>
                  <a:schemeClr val="tx1"/>
                </a:solidFill>
              </a:rPr>
              <a:t>Відношення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uk-UA" sz="2400" dirty="0">
                <a:solidFill>
                  <a:schemeClr val="tx1"/>
                </a:solidFill>
              </a:rPr>
              <a:t>довжини кола </a:t>
            </a:r>
            <a:r>
              <a:rPr lang="en-US" sz="2400" dirty="0" err="1">
                <a:solidFill>
                  <a:schemeClr val="tx1"/>
                </a:solidFill>
              </a:rPr>
              <a:t>до</a:t>
            </a:r>
            <a:r>
              <a:rPr lang="en-US" sz="2400" dirty="0">
                <a:solidFill>
                  <a:schemeClr val="tx1"/>
                </a:solidFill>
              </a:rPr>
              <a:t> радіуса.</a:t>
            </a:r>
            <a:endParaRPr lang="en-US" sz="2400" dirty="0"/>
          </a:p>
        </p:txBody>
      </p:sp>
      <p:sp>
        <p:nvSpPr>
          <p:cNvPr id="7" name="q1_o3"/>
          <p:cNvSpPr/>
          <p:nvPr/>
        </p:nvSpPr>
        <p:spPr>
          <a:xfrm>
            <a:off x="411480" y="4660392"/>
            <a:ext cx="3655466" cy="1130808"/>
          </a:xfrm>
          <a:prstGeom prst="roundRect">
            <a:avLst>
              <a:gd name="adj" fmla="val 339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D) </a:t>
            </a:r>
            <a:r>
              <a:rPr lang="uk-UA" sz="2400" dirty="0">
                <a:solidFill>
                  <a:schemeClr val="tx1"/>
                </a:solidFill>
              </a:rPr>
              <a:t>В</a:t>
            </a:r>
            <a:r>
              <a:rPr lang="en-US" sz="2400" dirty="0" err="1">
                <a:solidFill>
                  <a:schemeClr val="tx1"/>
                </a:solidFill>
              </a:rPr>
              <a:t>еличина</a:t>
            </a:r>
            <a:r>
              <a:rPr lang="en-US" sz="2400" dirty="0">
                <a:solidFill>
                  <a:schemeClr val="tx1"/>
                </a:solidFill>
              </a:rPr>
              <a:t>, що характеризує швидкість зміни </a:t>
            </a:r>
            <a:r>
              <a:rPr lang="en-US" sz="2400" dirty="0" err="1">
                <a:solidFill>
                  <a:schemeClr val="tx1"/>
                </a:solidFill>
              </a:rPr>
              <a:t>кута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повороту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8" name="q1_ans"/>
          <p:cNvSpPr/>
          <p:nvPr/>
        </p:nvSpPr>
        <p:spPr>
          <a:xfrm>
            <a:off x="411479" y="4662609"/>
            <a:ext cx="3655466" cy="1128591"/>
          </a:xfrm>
          <a:prstGeom prst="roundRect">
            <a:avLst>
              <a:gd name="adj" fmla="val 339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✓ D) </a:t>
            </a:r>
            <a:r>
              <a:rPr lang="uk-UA" sz="2400" b="1" dirty="0">
                <a:solidFill>
                  <a:schemeClr val="bg1"/>
                </a:solidFill>
              </a:rPr>
              <a:t>В</a:t>
            </a:r>
            <a:r>
              <a:rPr lang="en-US" sz="2400" b="1" dirty="0" err="1">
                <a:solidFill>
                  <a:schemeClr val="bg1"/>
                </a:solidFill>
              </a:rPr>
              <a:t>еличина</a:t>
            </a:r>
            <a:r>
              <a:rPr lang="en-US" sz="2400" b="1" dirty="0">
                <a:solidFill>
                  <a:schemeClr val="bg1"/>
                </a:solidFill>
              </a:rPr>
              <a:t>, що характеризує швидкість зміни </a:t>
            </a:r>
            <a:r>
              <a:rPr lang="en-US" sz="2400" b="1" dirty="0" err="1">
                <a:solidFill>
                  <a:schemeClr val="bg1"/>
                </a:solidFill>
              </a:rPr>
              <a:t>кута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повороту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615440"/>
          </a:xfrm>
          <a:prstGeom prst="roundRect">
            <a:avLst>
              <a:gd name="adj" fmla="val 339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Як змінюється кінетична енергія тіла при збільшенні його швидкості втричі?</a:t>
            </a:r>
            <a:endParaRPr lang="en-US" sz="2400" dirty="0"/>
          </a:p>
        </p:txBody>
      </p:sp>
      <p:sp>
        <p:nvSpPr>
          <p:cNvPr id="10" name="q2_o0"/>
          <p:cNvSpPr/>
          <p:nvPr/>
        </p:nvSpPr>
        <p:spPr>
          <a:xfrm>
            <a:off x="4268114" y="2548128"/>
            <a:ext cx="3655466" cy="51816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A) </a:t>
            </a:r>
            <a:r>
              <a:rPr lang="en-US" sz="2400" dirty="0">
                <a:solidFill>
                  <a:schemeClr val="tx1"/>
                </a:solidFill>
              </a:rPr>
              <a:t>Не змінюється.</a:t>
            </a:r>
            <a:endParaRPr lang="en-US" sz="2400" dirty="0"/>
          </a:p>
        </p:txBody>
      </p:sp>
      <p:sp>
        <p:nvSpPr>
          <p:cNvPr id="11" name="q2_o1"/>
          <p:cNvSpPr/>
          <p:nvPr/>
        </p:nvSpPr>
        <p:spPr>
          <a:xfrm>
            <a:off x="4268114" y="3130296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B) </a:t>
            </a:r>
            <a:r>
              <a:rPr lang="en-US" sz="2400" dirty="0">
                <a:solidFill>
                  <a:schemeClr val="tx1"/>
                </a:solidFill>
              </a:rPr>
              <a:t>Збільшується в 6 разів.</a:t>
            </a:r>
            <a:endParaRPr lang="en-US" sz="2400" dirty="0"/>
          </a:p>
        </p:txBody>
      </p:sp>
      <p:sp>
        <p:nvSpPr>
          <p:cNvPr id="12" name="q2_o2"/>
          <p:cNvSpPr/>
          <p:nvPr/>
        </p:nvSpPr>
        <p:spPr>
          <a:xfrm>
            <a:off x="4268114" y="4078224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C) </a:t>
            </a:r>
            <a:r>
              <a:rPr lang="en-US" sz="2400" dirty="0">
                <a:solidFill>
                  <a:schemeClr val="tx1"/>
                </a:solidFill>
              </a:rPr>
              <a:t>Збільшується в 9 разів.</a:t>
            </a:r>
            <a:endParaRPr lang="en-US" sz="2400" dirty="0"/>
          </a:p>
        </p:txBody>
      </p:sp>
      <p:sp>
        <p:nvSpPr>
          <p:cNvPr id="13" name="q2_o3"/>
          <p:cNvSpPr/>
          <p:nvPr/>
        </p:nvSpPr>
        <p:spPr>
          <a:xfrm>
            <a:off x="4268114" y="5026152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D) </a:t>
            </a:r>
            <a:r>
              <a:rPr lang="en-US" sz="2400" dirty="0">
                <a:solidFill>
                  <a:schemeClr val="tx1"/>
                </a:solidFill>
              </a:rPr>
              <a:t>Збільшується в 3 рази.</a:t>
            </a:r>
            <a:endParaRPr lang="en-US" sz="2400" dirty="0"/>
          </a:p>
        </p:txBody>
      </p:sp>
      <p:sp>
        <p:nvSpPr>
          <p:cNvPr id="14" name="q2_ans"/>
          <p:cNvSpPr/>
          <p:nvPr/>
        </p:nvSpPr>
        <p:spPr>
          <a:xfrm>
            <a:off x="4268114" y="4078224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✓ C) Збільшується в 9 разів.</a:t>
            </a:r>
            <a:endParaRPr lang="en-US" sz="24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249680"/>
          </a:xfrm>
          <a:prstGeom prst="roundRect">
            <a:avLst>
              <a:gd name="adj" fmla="val 439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Запишіть роботу газу при ізобарному розширенні.</a:t>
            </a:r>
            <a:endParaRPr lang="en-US" sz="2400" dirty="0"/>
          </a:p>
        </p:txBody>
      </p:sp>
      <p:sp>
        <p:nvSpPr>
          <p:cNvPr id="16" name="q3_o0"/>
          <p:cNvSpPr/>
          <p:nvPr/>
        </p:nvSpPr>
        <p:spPr>
          <a:xfrm>
            <a:off x="8124749" y="2182368"/>
            <a:ext cx="3655466" cy="51816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A) </a:t>
            </a:r>
            <a:r>
              <a:rPr lang="en-US" sz="2400" dirty="0">
                <a:solidFill>
                  <a:schemeClr val="tx1"/>
                </a:solidFill>
              </a:rPr>
              <a:t>A = 0</a:t>
            </a:r>
            <a:endParaRPr lang="en-US" sz="2400" dirty="0"/>
          </a:p>
        </p:txBody>
      </p:sp>
      <p:sp>
        <p:nvSpPr>
          <p:cNvPr id="17" name="q3_o1"/>
          <p:cNvSpPr/>
          <p:nvPr/>
        </p:nvSpPr>
        <p:spPr>
          <a:xfrm>
            <a:off x="8124749" y="2764536"/>
            <a:ext cx="3655466" cy="51816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B) </a:t>
            </a:r>
            <a:r>
              <a:rPr lang="en-US" sz="2400" dirty="0">
                <a:solidFill>
                  <a:schemeClr val="tx1"/>
                </a:solidFill>
              </a:rPr>
              <a:t>A = ΔU</a:t>
            </a:r>
            <a:endParaRPr lang="en-US" sz="2400" dirty="0"/>
          </a:p>
        </p:txBody>
      </p:sp>
      <p:sp>
        <p:nvSpPr>
          <p:cNvPr id="18" name="q3_o2"/>
          <p:cNvSpPr/>
          <p:nvPr/>
        </p:nvSpPr>
        <p:spPr>
          <a:xfrm>
            <a:off x="8124749" y="3346704"/>
            <a:ext cx="3655466" cy="518160"/>
          </a:xfrm>
          <a:prstGeom prst="roundRect">
            <a:avLst>
              <a:gd name="adj" fmla="val 10588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C) </a:t>
            </a:r>
            <a:r>
              <a:rPr lang="en-US" sz="2400" dirty="0">
                <a:solidFill>
                  <a:schemeClr val="tx1"/>
                </a:solidFill>
              </a:rPr>
              <a:t>A = Q / T</a:t>
            </a:r>
            <a:endParaRPr lang="en-US" sz="2400" dirty="0"/>
          </a:p>
        </p:txBody>
      </p:sp>
      <p:sp>
        <p:nvSpPr>
          <p:cNvPr id="19" name="q3_o3"/>
          <p:cNvSpPr/>
          <p:nvPr/>
        </p:nvSpPr>
        <p:spPr>
          <a:xfrm>
            <a:off x="8124749" y="3928872"/>
            <a:ext cx="3655466" cy="51816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D) </a:t>
            </a:r>
            <a:r>
              <a:rPr lang="en-US" sz="2400" dirty="0">
                <a:solidFill>
                  <a:schemeClr val="tx1"/>
                </a:solidFill>
              </a:rPr>
              <a:t>A = p </a:t>
            </a:r>
            <a:r>
              <a:rPr lang="en-US" sz="2400" dirty="0" err="1">
                <a:solidFill>
                  <a:schemeClr val="tx1"/>
                </a:solidFill>
              </a:rPr>
              <a:t>ΔV</a:t>
            </a:r>
            <a:endParaRPr lang="en-US" sz="2400" dirty="0"/>
          </a:p>
        </p:txBody>
      </p:sp>
      <p:sp>
        <p:nvSpPr>
          <p:cNvPr id="20" name="q3_ans"/>
          <p:cNvSpPr/>
          <p:nvPr/>
        </p:nvSpPr>
        <p:spPr>
          <a:xfrm>
            <a:off x="8124749" y="3928872"/>
            <a:ext cx="3655466" cy="518160"/>
          </a:xfrm>
          <a:prstGeom prst="roundRect">
            <a:avLst>
              <a:gd name="adj" fmla="val 620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✓ D) A = p </a:t>
            </a:r>
            <a:r>
              <a:rPr lang="en-US" sz="2400" b="1" dirty="0" err="1">
                <a:solidFill>
                  <a:schemeClr val="bg1"/>
                </a:solidFill>
              </a:rPr>
              <a:t>ΔV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15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2" y="868680"/>
            <a:ext cx="3190683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Тіло кинули під кутом до горизонту. У якій точці траєкторії вертикальна компонента швидкості v</a:t>
            </a:r>
            <a:r>
              <a:rPr lang="en-US" sz="1700" b="1" baseline="-40000" dirty="0">
                <a:solidFill>
                  <a:schemeClr val="tx1"/>
                </a:solidFill>
              </a:rPr>
              <a:t>y</a:t>
            </a:r>
            <a:r>
              <a:rPr lang="en-US" sz="1700" b="1" dirty="0">
                <a:solidFill>
                  <a:schemeClr val="tx1"/>
                </a:solidFill>
              </a:rPr>
              <a:t> дорівнює нулю?</a:t>
            </a:r>
            <a:endParaRPr lang="en-US" sz="1700" dirty="0"/>
          </a:p>
        </p:txBody>
      </p:sp>
      <p:sp>
        <p:nvSpPr>
          <p:cNvPr id="5" name="q1_o0"/>
          <p:cNvSpPr/>
          <p:nvPr/>
        </p:nvSpPr>
        <p:spPr>
          <a:xfrm>
            <a:off x="411480" y="3922776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У момент кидка.</a:t>
            </a:r>
            <a:endParaRPr lang="en-US" sz="1700" dirty="0"/>
          </a:p>
        </p:txBody>
      </p:sp>
      <p:sp>
        <p:nvSpPr>
          <p:cNvPr id="6" name="q1_o1"/>
          <p:cNvSpPr/>
          <p:nvPr/>
        </p:nvSpPr>
        <p:spPr>
          <a:xfrm>
            <a:off x="411480" y="4398264"/>
            <a:ext cx="3655466" cy="432816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У найвищій </a:t>
            </a:r>
            <a:r>
              <a:rPr lang="en-US" sz="1700" dirty="0" err="1">
                <a:solidFill>
                  <a:schemeClr val="tx1"/>
                </a:solidFill>
              </a:rPr>
              <a:t>точці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траєкторії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7" name="q1_o2"/>
          <p:cNvSpPr/>
          <p:nvPr/>
        </p:nvSpPr>
        <p:spPr>
          <a:xfrm>
            <a:off x="411480" y="4910328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У момент падіння.</a:t>
            </a:r>
            <a:endParaRPr lang="en-US" sz="1700" dirty="0"/>
          </a:p>
        </p:txBody>
      </p:sp>
      <p:sp>
        <p:nvSpPr>
          <p:cNvPr id="8" name="q1_o3"/>
          <p:cNvSpPr/>
          <p:nvPr/>
        </p:nvSpPr>
        <p:spPr>
          <a:xfrm>
            <a:off x="411480" y="5385816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Вона ніде не дорівнює нулю.</a:t>
            </a:r>
            <a:endParaRPr lang="en-US" sz="1700" dirty="0"/>
          </a:p>
        </p:txBody>
      </p:sp>
      <p:sp>
        <p:nvSpPr>
          <p:cNvPr id="9" name="q1_ans"/>
          <p:cNvSpPr/>
          <p:nvPr/>
        </p:nvSpPr>
        <p:spPr>
          <a:xfrm>
            <a:off x="411479" y="4398264"/>
            <a:ext cx="3655466" cy="448056"/>
          </a:xfrm>
          <a:prstGeom prst="roundRect">
            <a:avLst>
              <a:gd name="adj" fmla="val 818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B) У найвищій </a:t>
            </a:r>
            <a:r>
              <a:rPr lang="en-US" sz="1700" b="1" dirty="0" err="1">
                <a:solidFill>
                  <a:schemeClr val="bg1"/>
                </a:solidFill>
              </a:rPr>
              <a:t>точці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траєкторії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pic>
        <p:nvPicPr>
          <p:cNvPr id="10" name="q2_img" descr="Рисунок до запитання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556" y="868680"/>
            <a:ext cx="3342583" cy="1737360"/>
          </a:xfrm>
          <a:prstGeom prst="rect">
            <a:avLst/>
          </a:prstGeom>
        </p:spPr>
      </p:pic>
      <p:sp>
        <p:nvSpPr>
          <p:cNvPr id="11" name="q2_q"/>
          <p:cNvSpPr/>
          <p:nvPr/>
        </p:nvSpPr>
        <p:spPr>
          <a:xfrm>
            <a:off x="4268114" y="2670048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Чому при пострілі виникає віддача?</a:t>
            </a:r>
            <a:endParaRPr lang="en-US" sz="1700" dirty="0"/>
          </a:p>
        </p:txBody>
      </p:sp>
      <p:sp>
        <p:nvSpPr>
          <p:cNvPr id="12" name="q2_o0"/>
          <p:cNvSpPr/>
          <p:nvPr/>
        </p:nvSpPr>
        <p:spPr>
          <a:xfrm>
            <a:off x="4268114" y="3404616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Через силу тяжіння.</a:t>
            </a:r>
            <a:endParaRPr lang="en-US" sz="1700" dirty="0"/>
          </a:p>
        </p:txBody>
      </p:sp>
      <p:sp>
        <p:nvSpPr>
          <p:cNvPr id="13" name="q2_o1"/>
          <p:cNvSpPr/>
          <p:nvPr/>
        </p:nvSpPr>
        <p:spPr>
          <a:xfrm>
            <a:off x="4268114" y="3880104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Через опір повітря.</a:t>
            </a:r>
            <a:endParaRPr lang="en-US" sz="1700" dirty="0"/>
          </a:p>
        </p:txBody>
      </p:sp>
      <p:sp>
        <p:nvSpPr>
          <p:cNvPr id="14" name="q2_o2"/>
          <p:cNvSpPr/>
          <p:nvPr/>
        </p:nvSpPr>
        <p:spPr>
          <a:xfrm>
            <a:off x="4268114" y="4355592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Віддача виникає випадково.</a:t>
            </a:r>
            <a:endParaRPr lang="en-US" sz="1700" dirty="0"/>
          </a:p>
        </p:txBody>
      </p:sp>
      <p:sp>
        <p:nvSpPr>
          <p:cNvPr id="15" name="q2_o3"/>
          <p:cNvSpPr/>
          <p:nvPr/>
        </p:nvSpPr>
        <p:spPr>
          <a:xfrm>
            <a:off x="4268114" y="4831080"/>
            <a:ext cx="3655466" cy="554736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Внаслідок закону </a:t>
            </a:r>
            <a:r>
              <a:rPr lang="en-US" sz="1700" dirty="0" err="1">
                <a:solidFill>
                  <a:schemeClr val="tx1"/>
                </a:solidFill>
              </a:rPr>
              <a:t>збереження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імпульсу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6" name="q2_ans"/>
          <p:cNvSpPr/>
          <p:nvPr/>
        </p:nvSpPr>
        <p:spPr>
          <a:xfrm>
            <a:off x="4268114" y="4831080"/>
            <a:ext cx="3655466" cy="554736"/>
          </a:xfrm>
          <a:prstGeom prst="roundRect">
            <a:avLst>
              <a:gd name="adj" fmla="val 3789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Внаслідок закону </a:t>
            </a:r>
            <a:r>
              <a:rPr lang="en-US" sz="1700" b="1" dirty="0" err="1">
                <a:solidFill>
                  <a:schemeClr val="bg1"/>
                </a:solidFill>
              </a:rPr>
              <a:t>збереження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імпульсу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17" name="q3_q"/>
          <p:cNvSpPr/>
          <p:nvPr/>
        </p:nvSpPr>
        <p:spPr>
          <a:xfrm>
            <a:off x="8124749" y="868680"/>
            <a:ext cx="3655466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При однаковій температурі у якого газу більша середня квадратична швидкість молекул: у гелію чи азоту?</a:t>
            </a:r>
            <a:endParaRPr lang="en-US" sz="1700" dirty="0"/>
          </a:p>
        </p:txBody>
      </p:sp>
      <p:sp>
        <p:nvSpPr>
          <p:cNvPr id="18" name="q3_o0"/>
          <p:cNvSpPr/>
          <p:nvPr/>
        </p:nvSpPr>
        <p:spPr>
          <a:xfrm>
            <a:off x="8124749" y="2121408"/>
            <a:ext cx="3655466" cy="596022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У </a:t>
            </a:r>
            <a:r>
              <a:rPr lang="en-US" sz="1700" dirty="0" err="1">
                <a:solidFill>
                  <a:schemeClr val="tx1"/>
                </a:solidFill>
              </a:rPr>
              <a:t>азоту</a:t>
            </a:r>
            <a:r>
              <a:rPr lang="uk-UA" sz="1700" dirty="0">
                <a:solidFill>
                  <a:schemeClr val="tx1"/>
                </a:solidFill>
              </a:rPr>
              <a:t>, оскільки його молярна маса більша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9" name="q3_o1"/>
          <p:cNvSpPr/>
          <p:nvPr/>
        </p:nvSpPr>
        <p:spPr>
          <a:xfrm>
            <a:off x="8124749" y="2781438"/>
            <a:ext cx="3655466" cy="596022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У гелію, оскільки його молярна </a:t>
            </a:r>
            <a:r>
              <a:rPr lang="en-US" sz="1700" dirty="0" err="1">
                <a:solidFill>
                  <a:schemeClr val="tx1"/>
                </a:solidFill>
              </a:rPr>
              <a:t>маса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менша</a:t>
            </a:r>
            <a:endParaRPr lang="en-US" sz="1700" dirty="0"/>
          </a:p>
        </p:txBody>
      </p:sp>
      <p:sp>
        <p:nvSpPr>
          <p:cNvPr id="20" name="q3_o2"/>
          <p:cNvSpPr/>
          <p:nvPr/>
        </p:nvSpPr>
        <p:spPr>
          <a:xfrm>
            <a:off x="8124749" y="3429000"/>
            <a:ext cx="3655466" cy="493776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Залежить </a:t>
            </a:r>
            <a:r>
              <a:rPr lang="en-US" sz="1700" dirty="0" err="1">
                <a:solidFill>
                  <a:schemeClr val="tx1"/>
                </a:solidFill>
              </a:rPr>
              <a:t>від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значення температури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1" name="q3_o3"/>
          <p:cNvSpPr/>
          <p:nvPr/>
        </p:nvSpPr>
        <p:spPr>
          <a:xfrm>
            <a:off x="8124749" y="3986784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Швидкості однакові.</a:t>
            </a:r>
            <a:endParaRPr lang="en-US" sz="1700" dirty="0"/>
          </a:p>
        </p:txBody>
      </p:sp>
      <p:sp>
        <p:nvSpPr>
          <p:cNvPr id="22" name="q3_ans"/>
          <p:cNvSpPr/>
          <p:nvPr/>
        </p:nvSpPr>
        <p:spPr>
          <a:xfrm>
            <a:off x="8124749" y="2781438"/>
            <a:ext cx="3655466" cy="596022"/>
          </a:xfrm>
          <a:prstGeom prst="roundRect">
            <a:avLst>
              <a:gd name="adj" fmla="val 590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B) У гелію, оскільки його молярна </a:t>
            </a:r>
            <a:r>
              <a:rPr lang="en-US" sz="1700" b="1" dirty="0" err="1">
                <a:solidFill>
                  <a:schemeClr val="bg1"/>
                </a:solidFill>
              </a:rPr>
              <a:t>маса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менша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16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602" y="868680"/>
            <a:ext cx="1179223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06040"/>
            <a:ext cx="3655466" cy="704088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Чи </a:t>
            </a:r>
            <a:r>
              <a:rPr lang="en-US" sz="1600" b="1" dirty="0" err="1">
                <a:solidFill>
                  <a:schemeClr val="tx1"/>
                </a:solidFill>
              </a:rPr>
              <a:t>однакові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uk-UA" sz="1600" b="1" dirty="0">
                <a:solidFill>
                  <a:schemeClr val="tx1"/>
                </a:solidFill>
              </a:rPr>
              <a:t>модулі </a:t>
            </a:r>
            <a:r>
              <a:rPr lang="en-US" sz="1600" b="1" dirty="0" err="1">
                <a:solidFill>
                  <a:schemeClr val="tx1"/>
                </a:solidFill>
              </a:rPr>
              <a:t>сил</a:t>
            </a:r>
            <a:r>
              <a:rPr lang="en-US" sz="1600" b="1" dirty="0">
                <a:solidFill>
                  <a:schemeClr val="tx1"/>
                </a:solidFill>
              </a:rPr>
              <a:t> натягу нитки </a:t>
            </a:r>
            <a:r>
              <a:rPr lang="en-US" sz="1600" b="1" dirty="0" err="1">
                <a:solidFill>
                  <a:schemeClr val="tx1"/>
                </a:solidFill>
              </a:rPr>
              <a:t>та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прискорен</a:t>
            </a:r>
            <a:r>
              <a:rPr lang="uk-UA" sz="1600" b="1" dirty="0">
                <a:solidFill>
                  <a:schemeClr val="tx1"/>
                </a:solidFill>
              </a:rPr>
              <a:t>ь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тіл</a:t>
            </a:r>
            <a:r>
              <a:rPr lang="uk-UA" sz="1600" b="1" dirty="0">
                <a:solidFill>
                  <a:schemeClr val="tx1"/>
                </a:solidFill>
              </a:rPr>
              <a:t>, якщо блок невагомий</a:t>
            </a:r>
            <a:r>
              <a:rPr lang="en-US" sz="1600" b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5" name="q1_o0"/>
          <p:cNvSpPr/>
          <p:nvPr/>
        </p:nvSpPr>
        <p:spPr>
          <a:xfrm>
            <a:off x="411480" y="3374136"/>
            <a:ext cx="3655466" cy="39624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A) </a:t>
            </a:r>
            <a:r>
              <a:rPr lang="en-US" sz="1600" dirty="0">
                <a:solidFill>
                  <a:schemeClr val="tx1"/>
                </a:solidFill>
              </a:rPr>
              <a:t>Ні, прискорення завжди різні.</a:t>
            </a:r>
            <a:endParaRPr lang="en-US" sz="1600" dirty="0"/>
          </a:p>
        </p:txBody>
      </p:sp>
      <p:sp>
        <p:nvSpPr>
          <p:cNvPr id="6" name="q1_o1"/>
          <p:cNvSpPr/>
          <p:nvPr/>
        </p:nvSpPr>
        <p:spPr>
          <a:xfrm>
            <a:off x="411480" y="3834384"/>
            <a:ext cx="3655466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B) </a:t>
            </a:r>
            <a:r>
              <a:rPr lang="uk-UA" sz="1600" dirty="0"/>
              <a:t>М</a:t>
            </a:r>
            <a:r>
              <a:rPr lang="uk-UA" sz="1600" dirty="0">
                <a:solidFill>
                  <a:schemeClr val="tx1"/>
                </a:solidFill>
              </a:rPr>
              <a:t>одулі прискорень рівні, а </a:t>
            </a:r>
            <a:r>
              <a:rPr lang="uk-UA" sz="1600" dirty="0" err="1">
                <a:solidFill>
                  <a:schemeClr val="tx1"/>
                </a:solidFill>
              </a:rPr>
              <a:t>си</a:t>
            </a:r>
            <a:r>
              <a:rPr lang="en-US" sz="1600" dirty="0" err="1">
                <a:solidFill>
                  <a:schemeClr val="tx1"/>
                </a:solidFill>
              </a:rPr>
              <a:t>ла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натягу</a:t>
            </a:r>
            <a:r>
              <a:rPr lang="uk-UA" sz="1600" dirty="0">
                <a:solidFill>
                  <a:schemeClr val="tx1"/>
                </a:solidFill>
              </a:rPr>
              <a:t>, що діє</a:t>
            </a:r>
            <a:r>
              <a:rPr lang="en-US" sz="1600" dirty="0">
                <a:solidFill>
                  <a:schemeClr val="tx1"/>
                </a:solidFill>
              </a:rPr>
              <a:t> на </a:t>
            </a:r>
            <a:r>
              <a:rPr lang="en-US" sz="1600" dirty="0" err="1">
                <a:solidFill>
                  <a:schemeClr val="tx1"/>
                </a:solidFill>
              </a:rPr>
              <a:t>важче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тіло</a:t>
            </a:r>
            <a:r>
              <a:rPr lang="uk-UA" sz="1600" dirty="0">
                <a:solidFill>
                  <a:schemeClr val="tx1"/>
                </a:solidFill>
              </a:rPr>
              <a:t>, більша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q1_o2"/>
          <p:cNvSpPr/>
          <p:nvPr/>
        </p:nvSpPr>
        <p:spPr>
          <a:xfrm>
            <a:off x="411480" y="4538472"/>
            <a:ext cx="3655466" cy="39624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C) </a:t>
            </a:r>
            <a:r>
              <a:rPr lang="uk-UA" sz="1600" dirty="0"/>
              <a:t>Це з</a:t>
            </a:r>
            <a:r>
              <a:rPr lang="en-US" sz="1600" dirty="0" err="1">
                <a:solidFill>
                  <a:schemeClr val="tx1"/>
                </a:solidFill>
              </a:rPr>
              <a:t>алежить</a:t>
            </a:r>
            <a:r>
              <a:rPr lang="en-US" sz="1600" dirty="0">
                <a:solidFill>
                  <a:schemeClr val="tx1"/>
                </a:solidFill>
              </a:rPr>
              <a:t> від </a:t>
            </a:r>
            <a:r>
              <a:rPr lang="en-US" sz="1600" dirty="0" err="1">
                <a:solidFill>
                  <a:schemeClr val="tx1"/>
                </a:solidFill>
              </a:rPr>
              <a:t>сили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тертя</a:t>
            </a:r>
            <a:r>
              <a:rPr lang="uk-UA" sz="1600" dirty="0">
                <a:solidFill>
                  <a:schemeClr val="tx1"/>
                </a:solidFill>
              </a:rPr>
              <a:t> в блоці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q1_o3"/>
          <p:cNvSpPr/>
          <p:nvPr/>
        </p:nvSpPr>
        <p:spPr>
          <a:xfrm>
            <a:off x="411480" y="4998720"/>
            <a:ext cx="3655466" cy="48768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D) </a:t>
            </a:r>
            <a:r>
              <a:rPr lang="en-US" sz="1600" dirty="0" err="1">
                <a:solidFill>
                  <a:schemeClr val="tx1"/>
                </a:solidFill>
              </a:rPr>
              <a:t>Так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q1_ans"/>
          <p:cNvSpPr/>
          <p:nvPr/>
        </p:nvSpPr>
        <p:spPr>
          <a:xfrm>
            <a:off x="411480" y="4960851"/>
            <a:ext cx="3655466" cy="525549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D) </a:t>
            </a:r>
            <a:r>
              <a:rPr lang="en-US" sz="1600" b="1" dirty="0" err="1">
                <a:solidFill>
                  <a:schemeClr val="bg1"/>
                </a:solidFill>
              </a:rPr>
              <a:t>Так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pic>
        <p:nvPicPr>
          <p:cNvPr id="10" name="q2_img" descr="Рисунок до запитання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556" y="868680"/>
            <a:ext cx="3342583" cy="1737360"/>
          </a:xfrm>
          <a:prstGeom prst="rect">
            <a:avLst/>
          </a:prstGeom>
        </p:spPr>
      </p:pic>
      <p:sp>
        <p:nvSpPr>
          <p:cNvPr id="11" name="q2_q"/>
          <p:cNvSpPr/>
          <p:nvPr/>
        </p:nvSpPr>
        <p:spPr>
          <a:xfrm>
            <a:off x="4268114" y="2670048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Якщо маса снаряда значно менша за масу гармати, що можна сказати про їхні швидкості після пострілу?</a:t>
            </a:r>
            <a:endParaRPr lang="en-US" sz="1600" dirty="0"/>
          </a:p>
        </p:txBody>
      </p:sp>
      <p:sp>
        <p:nvSpPr>
          <p:cNvPr id="12" name="q2_o0"/>
          <p:cNvSpPr/>
          <p:nvPr/>
        </p:nvSpPr>
        <p:spPr>
          <a:xfrm>
            <a:off x="4268114" y="3617976"/>
            <a:ext cx="3655466" cy="618744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A) </a:t>
            </a:r>
            <a:r>
              <a:rPr lang="en-US" sz="1600" dirty="0">
                <a:solidFill>
                  <a:schemeClr val="tx1"/>
                </a:solidFill>
              </a:rPr>
              <a:t>Швидкість гармати значно менша за </a:t>
            </a:r>
            <a:r>
              <a:rPr lang="en-US" sz="1600" dirty="0" err="1">
                <a:solidFill>
                  <a:schemeClr val="tx1"/>
                </a:solidFill>
              </a:rPr>
              <a:t>швидкість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снаряда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q2_o1"/>
          <p:cNvSpPr/>
          <p:nvPr/>
        </p:nvSpPr>
        <p:spPr>
          <a:xfrm>
            <a:off x="4268267" y="4300728"/>
            <a:ext cx="3655466" cy="39624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B) </a:t>
            </a:r>
            <a:r>
              <a:rPr lang="en-US" sz="1600" dirty="0">
                <a:solidFill>
                  <a:schemeClr val="tx1"/>
                </a:solidFill>
              </a:rPr>
              <a:t>Швидкість гармати більша.</a:t>
            </a:r>
            <a:endParaRPr lang="en-US" sz="1600" dirty="0"/>
          </a:p>
        </p:txBody>
      </p:sp>
      <p:sp>
        <p:nvSpPr>
          <p:cNvPr id="14" name="q2_o2"/>
          <p:cNvSpPr/>
          <p:nvPr/>
        </p:nvSpPr>
        <p:spPr>
          <a:xfrm>
            <a:off x="4268267" y="4760976"/>
            <a:ext cx="3655466" cy="39624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C) </a:t>
            </a:r>
            <a:r>
              <a:rPr lang="en-US" sz="1600" dirty="0">
                <a:solidFill>
                  <a:schemeClr val="tx1"/>
                </a:solidFill>
              </a:rPr>
              <a:t>Швидкості однакові.</a:t>
            </a:r>
            <a:endParaRPr lang="en-US" sz="1600" dirty="0"/>
          </a:p>
        </p:txBody>
      </p:sp>
      <p:sp>
        <p:nvSpPr>
          <p:cNvPr id="15" name="q2_o3"/>
          <p:cNvSpPr/>
          <p:nvPr/>
        </p:nvSpPr>
        <p:spPr>
          <a:xfrm>
            <a:off x="4268267" y="5221224"/>
            <a:ext cx="3655466" cy="4876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D) </a:t>
            </a:r>
            <a:r>
              <a:rPr lang="en-US" sz="1600" dirty="0">
                <a:solidFill>
                  <a:schemeClr val="tx1"/>
                </a:solidFill>
              </a:rPr>
              <a:t>Гармата залишається нерухомою.</a:t>
            </a:r>
            <a:endParaRPr lang="en-US" sz="1600" dirty="0"/>
          </a:p>
        </p:txBody>
      </p:sp>
      <p:sp>
        <p:nvSpPr>
          <p:cNvPr id="16" name="q2_ans"/>
          <p:cNvSpPr/>
          <p:nvPr/>
        </p:nvSpPr>
        <p:spPr>
          <a:xfrm>
            <a:off x="4268114" y="3636264"/>
            <a:ext cx="3655466" cy="600456"/>
          </a:xfrm>
          <a:prstGeom prst="roundRect">
            <a:avLst>
              <a:gd name="adj" fmla="val 620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A) Швидкість гармати значно менша за </a:t>
            </a:r>
            <a:r>
              <a:rPr lang="en-US" sz="1600" b="1" dirty="0" err="1">
                <a:solidFill>
                  <a:schemeClr val="bg1"/>
                </a:solidFill>
              </a:rPr>
              <a:t>швидкість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снаряда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pic>
        <p:nvPicPr>
          <p:cNvPr id="17" name="q3_img" descr="Рисунок до запитання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807" y="868680"/>
            <a:ext cx="1957350" cy="1737360"/>
          </a:xfrm>
          <a:prstGeom prst="rect">
            <a:avLst/>
          </a:prstGeom>
        </p:spPr>
      </p:pic>
      <p:sp>
        <p:nvSpPr>
          <p:cNvPr id="18" name="q3_q"/>
          <p:cNvSpPr/>
          <p:nvPr/>
        </p:nvSpPr>
        <p:spPr>
          <a:xfrm>
            <a:off x="8124749" y="2670048"/>
            <a:ext cx="3655466" cy="883920"/>
          </a:xfrm>
          <a:prstGeom prst="roundRect">
            <a:avLst>
              <a:gd name="adj" fmla="val 6207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Який процес відбувається при переході 1 → 2? Як змінюється температура при цьому переході?</a:t>
            </a:r>
            <a:endParaRPr lang="en-US" sz="1600" dirty="0"/>
          </a:p>
        </p:txBody>
      </p:sp>
      <p:sp>
        <p:nvSpPr>
          <p:cNvPr id="19" name="q3_o0"/>
          <p:cNvSpPr/>
          <p:nvPr/>
        </p:nvSpPr>
        <p:spPr>
          <a:xfrm>
            <a:off x="8124749" y="3617976"/>
            <a:ext cx="3655466" cy="536448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A) </a:t>
            </a:r>
            <a:r>
              <a:rPr lang="en-US" sz="1600" dirty="0" err="1">
                <a:solidFill>
                  <a:schemeClr val="tx1"/>
                </a:solidFill>
              </a:rPr>
              <a:t>Адіабатне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розширення</a:t>
            </a:r>
            <a:r>
              <a:rPr lang="uk-UA" sz="1600" dirty="0">
                <a:solidFill>
                  <a:schemeClr val="tx1"/>
                </a:solidFill>
              </a:rPr>
              <a:t>, температура незмінна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0" name="q3_o1"/>
          <p:cNvSpPr/>
          <p:nvPr/>
        </p:nvSpPr>
        <p:spPr>
          <a:xfrm>
            <a:off x="8124749" y="4218432"/>
            <a:ext cx="3655466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B) </a:t>
            </a:r>
            <a:r>
              <a:rPr lang="en-US" sz="1600" dirty="0">
                <a:solidFill>
                  <a:schemeClr val="tx1"/>
                </a:solidFill>
              </a:rPr>
              <a:t>Ізобарне розширення; температура зростає.</a:t>
            </a:r>
            <a:endParaRPr lang="en-US" sz="1600" dirty="0"/>
          </a:p>
        </p:txBody>
      </p:sp>
      <p:sp>
        <p:nvSpPr>
          <p:cNvPr id="21" name="q3_o2"/>
          <p:cNvSpPr/>
          <p:nvPr/>
        </p:nvSpPr>
        <p:spPr>
          <a:xfrm>
            <a:off x="8124749" y="4922520"/>
            <a:ext cx="3655466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C) </a:t>
            </a:r>
            <a:r>
              <a:rPr lang="en-US" sz="1600" dirty="0" err="1">
                <a:solidFill>
                  <a:schemeClr val="tx1"/>
                </a:solidFill>
              </a:rPr>
              <a:t>Ізотермічне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uk-UA" sz="1600" dirty="0">
                <a:solidFill>
                  <a:schemeClr val="tx1"/>
                </a:solidFill>
              </a:rPr>
              <a:t>розширення</a:t>
            </a:r>
            <a:r>
              <a:rPr lang="en-US" sz="1600" dirty="0">
                <a:solidFill>
                  <a:schemeClr val="tx1"/>
                </a:solidFill>
              </a:rPr>
              <a:t>; температура стала.</a:t>
            </a:r>
            <a:endParaRPr lang="en-US" sz="1600" dirty="0"/>
          </a:p>
        </p:txBody>
      </p:sp>
      <p:sp>
        <p:nvSpPr>
          <p:cNvPr id="22" name="q3_o3"/>
          <p:cNvSpPr/>
          <p:nvPr/>
        </p:nvSpPr>
        <p:spPr>
          <a:xfrm>
            <a:off x="8124749" y="5626608"/>
            <a:ext cx="3655466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D) </a:t>
            </a:r>
            <a:r>
              <a:rPr lang="en-US" sz="1600" dirty="0">
                <a:solidFill>
                  <a:schemeClr val="tx1"/>
                </a:solidFill>
              </a:rPr>
              <a:t>Ізохорне нагрівання; температура падає.</a:t>
            </a:r>
            <a:endParaRPr lang="en-US" sz="1600" dirty="0"/>
          </a:p>
        </p:txBody>
      </p:sp>
      <p:sp>
        <p:nvSpPr>
          <p:cNvPr id="23" name="q3_ans"/>
          <p:cNvSpPr/>
          <p:nvPr/>
        </p:nvSpPr>
        <p:spPr>
          <a:xfrm>
            <a:off x="8124749" y="4218432"/>
            <a:ext cx="3655466" cy="64008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B) Ізобарне розширення; температура зростає.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17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сила реакції опори завжди дорівнює mg.</a:t>
            </a:r>
            <a:endParaRPr lang="en-US" sz="1900" dirty="0"/>
          </a:p>
        </p:txBody>
      </p:sp>
      <p:sp>
        <p:nvSpPr>
          <p:cNvPr id="4" name="q1_o0"/>
          <p:cNvSpPr/>
          <p:nvPr/>
        </p:nvSpPr>
        <p:spPr>
          <a:xfrm>
            <a:off x="411480" y="1953768"/>
            <a:ext cx="3655466" cy="795528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N = mg тільки на нерухомій </a:t>
            </a:r>
            <a:r>
              <a:rPr lang="en-US" sz="1900" dirty="0" err="1">
                <a:solidFill>
                  <a:schemeClr val="tx1"/>
                </a:solidFill>
              </a:rPr>
              <a:t>горизонтальній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площині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5" name="q1_o1"/>
          <p:cNvSpPr/>
          <p:nvPr/>
        </p:nvSpPr>
        <p:spPr>
          <a:xfrm>
            <a:off x="411479" y="2833347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N </a:t>
            </a:r>
            <a:r>
              <a:rPr lang="en-US" sz="1900" dirty="0" err="1">
                <a:solidFill>
                  <a:schemeClr val="tx1"/>
                </a:solidFill>
              </a:rPr>
              <a:t>залежить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від</a:t>
            </a:r>
            <a:r>
              <a:rPr lang="en-US" sz="1900" dirty="0">
                <a:solidFill>
                  <a:schemeClr val="tx1"/>
                </a:solidFill>
              </a:rPr>
              <a:t> коефіцієнта тертя.</a:t>
            </a:r>
            <a:endParaRPr lang="en-US" sz="1900" dirty="0"/>
          </a:p>
        </p:txBody>
      </p:sp>
      <p:sp>
        <p:nvSpPr>
          <p:cNvPr id="6" name="q1_o2"/>
          <p:cNvSpPr/>
          <p:nvPr/>
        </p:nvSpPr>
        <p:spPr>
          <a:xfrm>
            <a:off x="411479" y="3628875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N завжди дорівнює нулю.</a:t>
            </a:r>
            <a:endParaRPr lang="en-US" sz="1900" dirty="0"/>
          </a:p>
        </p:txBody>
      </p:sp>
      <p:sp>
        <p:nvSpPr>
          <p:cNvPr id="7" name="q1_o3"/>
          <p:cNvSpPr/>
          <p:nvPr/>
        </p:nvSpPr>
        <p:spPr>
          <a:xfrm>
            <a:off x="411479" y="4424403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/>
              <a:t>N </a:t>
            </a:r>
            <a:r>
              <a:rPr lang="uk-UA" sz="1900" dirty="0"/>
              <a:t>не </a:t>
            </a:r>
            <a:r>
              <a:rPr lang="en-US" sz="1900" dirty="0" err="1"/>
              <a:t>залежить</a:t>
            </a:r>
            <a:r>
              <a:rPr lang="en-US" sz="1900" dirty="0"/>
              <a:t> </a:t>
            </a:r>
            <a:r>
              <a:rPr lang="uk-UA" sz="1900" dirty="0"/>
              <a:t>від маси тіла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8" name="q1_ans"/>
          <p:cNvSpPr/>
          <p:nvPr/>
        </p:nvSpPr>
        <p:spPr>
          <a:xfrm>
            <a:off x="411479" y="1944716"/>
            <a:ext cx="3655466" cy="804580"/>
          </a:xfrm>
          <a:prstGeom prst="roundRect">
            <a:avLst>
              <a:gd name="adj" fmla="val 290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N = mg тільки на нерухомій </a:t>
            </a:r>
            <a:r>
              <a:rPr lang="en-US" sz="1900" b="1" dirty="0" err="1">
                <a:solidFill>
                  <a:schemeClr val="bg1"/>
                </a:solidFill>
              </a:rPr>
              <a:t>горизонтальній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площині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pic>
        <p:nvPicPr>
          <p:cNvPr id="9" name="q2_img" descr="Рисунок до запитання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56" y="868680"/>
            <a:ext cx="3342583" cy="1737360"/>
          </a:xfrm>
          <a:prstGeom prst="rect">
            <a:avLst/>
          </a:prstGeom>
        </p:spPr>
      </p:pic>
      <p:sp>
        <p:nvSpPr>
          <p:cNvPr id="10" name="q2_q"/>
          <p:cNvSpPr/>
          <p:nvPr/>
        </p:nvSpPr>
        <p:spPr>
          <a:xfrm>
            <a:off x="4268114" y="2670048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Гармата стріляє снарядом. У який бік спрямований імпульс, що отримує гармата?</a:t>
            </a:r>
            <a:endParaRPr lang="en-US" sz="1900" dirty="0"/>
          </a:p>
        </p:txBody>
      </p:sp>
      <p:sp>
        <p:nvSpPr>
          <p:cNvPr id="11" name="q2_o0"/>
          <p:cNvSpPr/>
          <p:nvPr/>
        </p:nvSpPr>
        <p:spPr>
          <a:xfrm>
            <a:off x="4268114" y="375513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В</a:t>
            </a:r>
            <a:r>
              <a:rPr lang="uk-UA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бік</a:t>
            </a:r>
            <a:r>
              <a:rPr lang="en-US" sz="1900" dirty="0">
                <a:solidFill>
                  <a:schemeClr val="tx1"/>
                </a:solidFill>
              </a:rPr>
              <a:t> вильоту снаряда.</a:t>
            </a:r>
            <a:endParaRPr lang="en-US" sz="1900" dirty="0"/>
          </a:p>
        </p:txBody>
      </p:sp>
      <p:sp>
        <p:nvSpPr>
          <p:cNvPr id="12" name="q2_o1"/>
          <p:cNvSpPr/>
          <p:nvPr/>
        </p:nvSpPr>
        <p:spPr>
          <a:xfrm>
            <a:off x="4268114" y="426110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uk-UA" sz="1900" dirty="0"/>
              <a:t>П</a:t>
            </a:r>
            <a:r>
              <a:rPr lang="en-US" sz="1900" dirty="0" err="1">
                <a:solidFill>
                  <a:schemeClr val="tx1"/>
                </a:solidFill>
              </a:rPr>
              <a:t>ід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кутом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45</a:t>
            </a:r>
            <a:r>
              <a:rPr lang="en-US" sz="1900" dirty="0">
                <a:solidFill>
                  <a:schemeClr val="tx1"/>
                </a:solidFill>
              </a:rPr>
              <a:t>°</a:t>
            </a:r>
            <a:r>
              <a:rPr lang="uk-UA" sz="1900" dirty="0">
                <a:solidFill>
                  <a:schemeClr val="tx1"/>
                </a:solidFill>
              </a:rPr>
              <a:t> до траєкторії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3" name="q2_o2"/>
          <p:cNvSpPr/>
          <p:nvPr/>
        </p:nvSpPr>
        <p:spPr>
          <a:xfrm>
            <a:off x="4268114" y="4767072"/>
            <a:ext cx="3655466" cy="737801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У бік, протилежний напрямку </a:t>
            </a:r>
            <a:r>
              <a:rPr lang="en-US" sz="1900" dirty="0" err="1">
                <a:solidFill>
                  <a:schemeClr val="tx1"/>
                </a:solidFill>
              </a:rPr>
              <a:t>вильоту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снаряда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4" name="q2_o3"/>
          <p:cNvSpPr/>
          <p:nvPr/>
        </p:nvSpPr>
        <p:spPr>
          <a:xfrm>
            <a:off x="4268114" y="5568881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uk-UA" sz="1900" dirty="0">
                <a:solidFill>
                  <a:schemeClr val="tx1"/>
                </a:solidFill>
              </a:rPr>
              <a:t>Горизонтально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5" name="q2_ans"/>
          <p:cNvSpPr/>
          <p:nvPr/>
        </p:nvSpPr>
        <p:spPr>
          <a:xfrm>
            <a:off x="4268114" y="4767072"/>
            <a:ext cx="3655466" cy="737801"/>
          </a:xfrm>
          <a:prstGeom prst="roundRect">
            <a:avLst>
              <a:gd name="adj" fmla="val 418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C) У бік, протилежний напрямку </a:t>
            </a:r>
            <a:r>
              <a:rPr lang="en-US" sz="1900" b="1" dirty="0" err="1">
                <a:solidFill>
                  <a:schemeClr val="bg1"/>
                </a:solidFill>
              </a:rPr>
              <a:t>вильоту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снаряда</a:t>
            </a:r>
            <a:r>
              <a:rPr lang="uk-UA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Який закон описує процес, що відбувається з постійною масою газу при сталому об'ємі?</a:t>
            </a:r>
            <a:endParaRPr lang="en-US" sz="1900" dirty="0"/>
          </a:p>
        </p:txBody>
      </p:sp>
      <p:sp>
        <p:nvSpPr>
          <p:cNvPr id="17" name="q3_o0"/>
          <p:cNvSpPr/>
          <p:nvPr/>
        </p:nvSpPr>
        <p:spPr>
          <a:xfrm>
            <a:off x="8124749" y="224332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/>
              <a:t>p = p</a:t>
            </a:r>
            <a:r>
              <a:rPr lang="en-US" sz="1900" baseline="-25000" dirty="0"/>
              <a:t>1</a:t>
            </a:r>
            <a:r>
              <a:rPr lang="en-US" sz="1900" dirty="0"/>
              <a:t> +p</a:t>
            </a:r>
            <a:r>
              <a:rPr lang="en-US" sz="1900" baseline="-25000" dirty="0"/>
              <a:t>2</a:t>
            </a:r>
            <a:r>
              <a:rPr lang="en-US" sz="1900" dirty="0"/>
              <a:t> +..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q3_o1"/>
          <p:cNvSpPr/>
          <p:nvPr/>
        </p:nvSpPr>
        <p:spPr>
          <a:xfrm>
            <a:off x="8124749" y="274929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/>
              <a:t>p V = const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q3_o2"/>
          <p:cNvSpPr/>
          <p:nvPr/>
        </p:nvSpPr>
        <p:spPr>
          <a:xfrm>
            <a:off x="8124749" y="325526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/>
              <a:t>V / T = const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0" name="q3_o3"/>
          <p:cNvSpPr/>
          <p:nvPr/>
        </p:nvSpPr>
        <p:spPr>
          <a:xfrm>
            <a:off x="8124749" y="3761232"/>
            <a:ext cx="3655466" cy="479275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p / T = const.</a:t>
            </a:r>
            <a:endParaRPr lang="en-US" sz="1900" dirty="0"/>
          </a:p>
        </p:txBody>
      </p:sp>
      <p:sp>
        <p:nvSpPr>
          <p:cNvPr id="21" name="q3_ans"/>
          <p:cNvSpPr/>
          <p:nvPr/>
        </p:nvSpPr>
        <p:spPr>
          <a:xfrm>
            <a:off x="8124749" y="3761232"/>
            <a:ext cx="3655466" cy="479275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D) p / T = const.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18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5" y="868680"/>
            <a:ext cx="3264555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 зміниться прискорення тіла, що ковзає по похилій площині, при збільшенні кута нахилу α?</a:t>
            </a:r>
            <a:endParaRPr lang="en-US" sz="2000" dirty="0"/>
          </a:p>
        </p:txBody>
      </p:sp>
      <p:sp>
        <p:nvSpPr>
          <p:cNvPr id="5" name="q1_o0"/>
          <p:cNvSpPr/>
          <p:nvPr/>
        </p:nvSpPr>
        <p:spPr>
          <a:xfrm>
            <a:off x="411480" y="410565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Зменшиться.</a:t>
            </a:r>
            <a:endParaRPr lang="en-US" sz="2000" dirty="0"/>
          </a:p>
        </p:txBody>
      </p:sp>
      <p:sp>
        <p:nvSpPr>
          <p:cNvPr id="6" name="q1_o1"/>
          <p:cNvSpPr/>
          <p:nvPr/>
        </p:nvSpPr>
        <p:spPr>
          <a:xfrm>
            <a:off x="411480" y="4626864"/>
            <a:ext cx="3655466" cy="4572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 err="1">
                <a:solidFill>
                  <a:schemeClr val="tx1"/>
                </a:solidFill>
              </a:rPr>
              <a:t>Збільшиться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7" name="q1_o2"/>
          <p:cNvSpPr/>
          <p:nvPr/>
        </p:nvSpPr>
        <p:spPr>
          <a:xfrm>
            <a:off x="411480" y="5151120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uk-UA" sz="2000" dirty="0"/>
              <a:t>Тіло перестане рухатися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q1_o3"/>
          <p:cNvSpPr/>
          <p:nvPr/>
        </p:nvSpPr>
        <p:spPr>
          <a:xfrm>
            <a:off x="411480" y="567232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Не зміниться.</a:t>
            </a:r>
            <a:endParaRPr lang="en-US" sz="2000" dirty="0"/>
          </a:p>
        </p:txBody>
      </p:sp>
      <p:sp>
        <p:nvSpPr>
          <p:cNvPr id="9" name="q1_ans"/>
          <p:cNvSpPr/>
          <p:nvPr/>
        </p:nvSpPr>
        <p:spPr>
          <a:xfrm>
            <a:off x="411479" y="4629912"/>
            <a:ext cx="3655466" cy="454152"/>
          </a:xfrm>
          <a:prstGeom prst="roundRect">
            <a:avLst>
              <a:gd name="adj" fmla="val 72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</a:t>
            </a:r>
            <a:r>
              <a:rPr lang="en-US" sz="2000" b="1" dirty="0" err="1">
                <a:solidFill>
                  <a:schemeClr val="bg1"/>
                </a:solidFill>
              </a:rPr>
              <a:t>Збільшиться</a:t>
            </a:r>
            <a:r>
              <a:rPr lang="en-US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Яку роботу треба виконати, щоб швидкість тіла масою m збільшилася від v</a:t>
            </a:r>
            <a:r>
              <a:rPr lang="en-US" sz="2000" b="1" baseline="-40000" dirty="0">
                <a:solidFill>
                  <a:schemeClr val="tx1"/>
                </a:solidFill>
              </a:rPr>
              <a:t>1</a:t>
            </a:r>
            <a:r>
              <a:rPr lang="en-US" sz="2000" b="1" dirty="0">
                <a:solidFill>
                  <a:schemeClr val="tx1"/>
                </a:solidFill>
              </a:rPr>
              <a:t> до v</a:t>
            </a:r>
            <a:r>
              <a:rPr lang="en-US" sz="2000" b="1" baseline="-4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 за відсутності тертя?</a:t>
            </a:r>
            <a:endParaRPr lang="en-US" sz="2000" dirty="0"/>
          </a:p>
        </p:txBody>
      </p:sp>
      <p:sp>
        <p:nvSpPr>
          <p:cNvPr id="11" name="q2_o0"/>
          <p:cNvSpPr/>
          <p:nvPr/>
        </p:nvSpPr>
        <p:spPr>
          <a:xfrm>
            <a:off x="4268114" y="2304288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A =  (1/2) m (v</a:t>
            </a: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² - v</a:t>
            </a: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²)</a:t>
            </a:r>
            <a:endParaRPr lang="en-US" sz="2000" dirty="0"/>
          </a:p>
        </p:txBody>
      </p:sp>
      <p:sp>
        <p:nvSpPr>
          <p:cNvPr id="12" name="q2_o1"/>
          <p:cNvSpPr/>
          <p:nvPr/>
        </p:nvSpPr>
        <p:spPr>
          <a:xfrm>
            <a:off x="4268114" y="31302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A = m g (v</a:t>
            </a: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- v</a:t>
            </a: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3" name="q2_o2"/>
          <p:cNvSpPr/>
          <p:nvPr/>
        </p:nvSpPr>
        <p:spPr>
          <a:xfrm>
            <a:off x="4268114" y="365150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A = 0</a:t>
            </a:r>
            <a:endParaRPr lang="en-US" sz="2000" dirty="0"/>
          </a:p>
        </p:txBody>
      </p:sp>
      <p:sp>
        <p:nvSpPr>
          <p:cNvPr id="14" name="q2_o3"/>
          <p:cNvSpPr/>
          <p:nvPr/>
        </p:nvSpPr>
        <p:spPr>
          <a:xfrm>
            <a:off x="4268114" y="41727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A = m (v</a:t>
            </a: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 - v</a:t>
            </a: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15" name="q2_ans"/>
          <p:cNvSpPr/>
          <p:nvPr/>
        </p:nvSpPr>
        <p:spPr>
          <a:xfrm>
            <a:off x="4268114" y="2304288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A) A =  (1/2) m (v</a:t>
            </a:r>
            <a:r>
              <a:rPr lang="en-US" sz="2000" b="1" baseline="-40000" dirty="0">
                <a:solidFill>
                  <a:schemeClr val="bg1"/>
                </a:solidFill>
              </a:rPr>
              <a:t>2</a:t>
            </a:r>
            <a:r>
              <a:rPr lang="en-US" sz="2000" b="1" dirty="0">
                <a:solidFill>
                  <a:schemeClr val="bg1"/>
                </a:solidFill>
              </a:rPr>
              <a:t>² - v</a:t>
            </a:r>
            <a:r>
              <a:rPr lang="en-US" sz="2000" b="1" baseline="-40000" dirty="0">
                <a:solidFill>
                  <a:schemeClr val="bg1"/>
                </a:solidFill>
              </a:rPr>
              <a:t>1</a:t>
            </a:r>
            <a:r>
              <a:rPr lang="en-US" sz="2000" b="1" dirty="0">
                <a:solidFill>
                  <a:schemeClr val="bg1"/>
                </a:solidFill>
              </a:rPr>
              <a:t>²)</a:t>
            </a:r>
            <a:endParaRPr lang="en-US" sz="20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1676400"/>
          </a:xfrm>
          <a:prstGeom prst="roundRect">
            <a:avLst>
              <a:gd name="adj" fmla="val 32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при однаковій температурі молекули всіх газів мають однакову середню швидкість.</a:t>
            </a:r>
            <a:endParaRPr lang="en-US" sz="2000" dirty="0"/>
          </a:p>
        </p:txBody>
      </p:sp>
      <p:sp>
        <p:nvSpPr>
          <p:cNvPr id="17" name="q3_o0"/>
          <p:cNvSpPr/>
          <p:nvPr/>
        </p:nvSpPr>
        <p:spPr>
          <a:xfrm>
            <a:off x="8124749" y="2609088"/>
            <a:ext cx="3655466" cy="762000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Однакову середня </a:t>
            </a:r>
            <a:r>
              <a:rPr lang="en-US" sz="2000" dirty="0" err="1">
                <a:solidFill>
                  <a:schemeClr val="tx1"/>
                </a:solidFill>
              </a:rPr>
              <a:t>кінетичну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енергію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q3_o1"/>
          <p:cNvSpPr/>
          <p:nvPr/>
        </p:nvSpPr>
        <p:spPr>
          <a:xfrm>
            <a:off x="8094574" y="3429000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Молекули легших газів рухаються повільніше.</a:t>
            </a:r>
            <a:endParaRPr lang="en-US" sz="2000" dirty="0"/>
          </a:p>
        </p:txBody>
      </p:sp>
      <p:sp>
        <p:nvSpPr>
          <p:cNvPr id="19" name="q3_o2"/>
          <p:cNvSpPr/>
          <p:nvPr/>
        </p:nvSpPr>
        <p:spPr>
          <a:xfrm>
            <a:off x="8094574" y="4283364"/>
            <a:ext cx="3655466" cy="862584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Швидкості </a:t>
            </a:r>
            <a:r>
              <a:rPr lang="en-US" sz="2000" dirty="0" err="1">
                <a:solidFill>
                  <a:schemeClr val="tx1"/>
                </a:solidFill>
              </a:rPr>
              <a:t>залежать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ступеню окиснення складових молекули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0" name="q3_o3"/>
          <p:cNvSpPr/>
          <p:nvPr/>
        </p:nvSpPr>
        <p:spPr>
          <a:xfrm>
            <a:off x="8094574" y="5213004"/>
            <a:ext cx="3655466" cy="916524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uk-UA" sz="2000" dirty="0">
                <a:solidFill>
                  <a:schemeClr val="tx1"/>
                </a:solidFill>
              </a:rPr>
              <a:t>Однакову середньоквадратичну швидкість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1" name="q3_ans"/>
          <p:cNvSpPr/>
          <p:nvPr/>
        </p:nvSpPr>
        <p:spPr>
          <a:xfrm>
            <a:off x="8124748" y="2609088"/>
            <a:ext cx="3655466" cy="762000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A) Однакову середня </a:t>
            </a:r>
            <a:r>
              <a:rPr lang="en-US" sz="2000" b="1" dirty="0" err="1">
                <a:solidFill>
                  <a:schemeClr val="bg1"/>
                </a:solidFill>
              </a:rPr>
              <a:t>кінетичну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енергію</a:t>
            </a:r>
            <a:r>
              <a:rPr lang="uk-UA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19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021080"/>
          </a:xfrm>
          <a:prstGeom prst="roundRect">
            <a:avLst>
              <a:gd name="adj" fmla="val 53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Чи можуть дві сили, що діють на тіло, мати рівнодійну, яка дорівнює нулю?</a:t>
            </a:r>
            <a:endParaRPr lang="en-US" sz="1900" dirty="0"/>
          </a:p>
        </p:txBody>
      </p:sp>
      <p:sp>
        <p:nvSpPr>
          <p:cNvPr id="4" name="q1_o0"/>
          <p:cNvSpPr/>
          <p:nvPr/>
        </p:nvSpPr>
        <p:spPr>
          <a:xfrm>
            <a:off x="411480" y="195376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Так, тільки при русі по колу.</a:t>
            </a:r>
            <a:endParaRPr lang="en-US" sz="1900" dirty="0"/>
          </a:p>
        </p:txBody>
      </p:sp>
      <p:sp>
        <p:nvSpPr>
          <p:cNvPr id="5" name="q1_o1"/>
          <p:cNvSpPr/>
          <p:nvPr/>
        </p:nvSpPr>
        <p:spPr>
          <a:xfrm>
            <a:off x="411480" y="274929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Ні, рівнодійна завжди більша за нуль.</a:t>
            </a:r>
            <a:endParaRPr lang="en-US" sz="1900" dirty="0"/>
          </a:p>
        </p:txBody>
      </p:sp>
      <p:sp>
        <p:nvSpPr>
          <p:cNvPr id="6" name="q1_o2"/>
          <p:cNvSpPr/>
          <p:nvPr/>
        </p:nvSpPr>
        <p:spPr>
          <a:xfrm>
            <a:off x="411480" y="3544824"/>
            <a:ext cx="3655466" cy="588264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Ні, </a:t>
            </a:r>
            <a:r>
              <a:rPr lang="uk-UA" sz="1900" dirty="0">
                <a:solidFill>
                  <a:schemeClr val="tx1"/>
                </a:solidFill>
              </a:rPr>
              <a:t>якщо тіло рухається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7" name="q1_o3"/>
          <p:cNvSpPr/>
          <p:nvPr/>
        </p:nvSpPr>
        <p:spPr>
          <a:xfrm>
            <a:off x="411479" y="4206240"/>
            <a:ext cx="3655466" cy="947651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Так, якщо сили однакові за модулем і </a:t>
            </a:r>
            <a:r>
              <a:rPr lang="en-US" sz="1900" dirty="0" err="1">
                <a:solidFill>
                  <a:schemeClr val="tx1"/>
                </a:solidFill>
              </a:rPr>
              <a:t>спрямовані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протилежно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8" name="q1_ans"/>
          <p:cNvSpPr/>
          <p:nvPr/>
        </p:nvSpPr>
        <p:spPr>
          <a:xfrm>
            <a:off x="411479" y="4203192"/>
            <a:ext cx="3655466" cy="950699"/>
          </a:xfrm>
          <a:prstGeom prst="roundRect">
            <a:avLst>
              <a:gd name="adj" fmla="val 418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D) Так, якщо сили однакові за модулем і </a:t>
            </a:r>
            <a:r>
              <a:rPr lang="en-US" sz="1900" b="1" dirty="0" err="1">
                <a:solidFill>
                  <a:schemeClr val="bg1"/>
                </a:solidFill>
              </a:rPr>
              <a:t>спрямовані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протилежно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88976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якщо диск і кільце мають однакові маси та радіуси і котяться з однаковою швидкістю, їхні кінетичні енергії однакові.</a:t>
            </a:r>
            <a:endParaRPr lang="en-US" sz="1900" dirty="0"/>
          </a:p>
        </p:txBody>
      </p:sp>
      <p:sp>
        <p:nvSpPr>
          <p:cNvPr id="10" name="q2_o0"/>
          <p:cNvSpPr/>
          <p:nvPr/>
        </p:nvSpPr>
        <p:spPr>
          <a:xfrm>
            <a:off x="4268114" y="2822448"/>
            <a:ext cx="3655466" cy="5943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У </a:t>
            </a:r>
            <a:r>
              <a:rPr lang="en-US" sz="1900" dirty="0" err="1">
                <a:solidFill>
                  <a:schemeClr val="tx1"/>
                </a:solidFill>
              </a:rPr>
              <a:t>диска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/>
              <a:t>кінетична</a:t>
            </a:r>
            <a:r>
              <a:rPr lang="en-US" sz="1900" dirty="0"/>
              <a:t> </a:t>
            </a:r>
            <a:r>
              <a:rPr lang="en-US" sz="1900" dirty="0" err="1">
                <a:solidFill>
                  <a:schemeClr val="tx1"/>
                </a:solidFill>
              </a:rPr>
              <a:t>енергія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більша</a:t>
            </a:r>
            <a:r>
              <a:rPr lang="uk-UA" sz="1900" dirty="0">
                <a:solidFill>
                  <a:schemeClr val="tx1"/>
                </a:solidFill>
              </a:rPr>
              <a:t>, оскільки він суцільний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1" name="q2_o1"/>
          <p:cNvSpPr/>
          <p:nvPr/>
        </p:nvSpPr>
        <p:spPr>
          <a:xfrm>
            <a:off x="4253027" y="3480816"/>
            <a:ext cx="3655466" cy="1040384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У кільця кінетична енергія більша, оскільки його момент </a:t>
            </a:r>
            <a:r>
              <a:rPr lang="en-US" sz="1900" dirty="0" err="1">
                <a:solidFill>
                  <a:schemeClr val="tx1"/>
                </a:solidFill>
              </a:rPr>
              <a:t>інерції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більший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2" name="q2_o2"/>
          <p:cNvSpPr/>
          <p:nvPr/>
        </p:nvSpPr>
        <p:spPr>
          <a:xfrm>
            <a:off x="4268114" y="4597862"/>
            <a:ext cx="3655466" cy="633522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uk-UA" sz="1900" dirty="0">
                <a:solidFill>
                  <a:schemeClr val="tx1"/>
                </a:solidFill>
              </a:rPr>
              <a:t>Ці тіла не можуть рухатися з однаковою швидкістю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3" name="q2_o3"/>
          <p:cNvSpPr/>
          <p:nvPr/>
        </p:nvSpPr>
        <p:spPr>
          <a:xfrm>
            <a:off x="4268114" y="5329474"/>
            <a:ext cx="3655466" cy="633522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 err="1">
                <a:solidFill>
                  <a:schemeClr val="tx1"/>
                </a:solidFill>
              </a:rPr>
              <a:t>Енергії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повні механічні енергії однакові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4" name="q2_ans"/>
          <p:cNvSpPr/>
          <p:nvPr/>
        </p:nvSpPr>
        <p:spPr>
          <a:xfrm>
            <a:off x="4253027" y="3468624"/>
            <a:ext cx="3655466" cy="1052576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B) У кільця кінетична енергія більша, оскільки його момент </a:t>
            </a:r>
            <a:r>
              <a:rPr lang="en-US" sz="1900" b="1" dirty="0" err="1">
                <a:solidFill>
                  <a:schemeClr val="bg1"/>
                </a:solidFill>
              </a:rPr>
              <a:t>інерції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більший</a:t>
            </a:r>
            <a:r>
              <a:rPr lang="uk-UA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підвищення температури газу означає, що кожна молекула рухається швидше.</a:t>
            </a:r>
            <a:endParaRPr lang="en-US" sz="1900" dirty="0"/>
          </a:p>
        </p:txBody>
      </p:sp>
      <p:sp>
        <p:nvSpPr>
          <p:cNvPr id="16" name="q3_o0"/>
          <p:cNvSpPr/>
          <p:nvPr/>
        </p:nvSpPr>
        <p:spPr>
          <a:xfrm>
            <a:off x="8124749" y="2532888"/>
            <a:ext cx="3655466" cy="88392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Температура </a:t>
            </a:r>
            <a:r>
              <a:rPr lang="en-US" sz="1900" dirty="0" err="1">
                <a:solidFill>
                  <a:schemeClr val="tx1"/>
                </a:solidFill>
              </a:rPr>
              <a:t>визначає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середню</a:t>
            </a:r>
            <a:r>
              <a:rPr lang="en-US" sz="1900" dirty="0">
                <a:solidFill>
                  <a:schemeClr val="tx1"/>
                </a:solidFill>
              </a:rPr>
              <a:t> кінетичну енергію молекул. </a:t>
            </a:r>
            <a:endParaRPr lang="en-US" sz="1900" dirty="0"/>
          </a:p>
        </p:txBody>
      </p:sp>
      <p:sp>
        <p:nvSpPr>
          <p:cNvPr id="17" name="q3_o1"/>
          <p:cNvSpPr/>
          <p:nvPr/>
        </p:nvSpPr>
        <p:spPr>
          <a:xfrm>
            <a:off x="8124749" y="3480816"/>
            <a:ext cx="3655466" cy="73152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П</a:t>
            </a:r>
            <a:r>
              <a:rPr lang="uk-UA" sz="1900" dirty="0" err="1">
                <a:solidFill>
                  <a:schemeClr val="tx1"/>
                </a:solidFill>
              </a:rPr>
              <a:t>ри</a:t>
            </a:r>
            <a:r>
              <a:rPr lang="uk-UA" sz="1900" dirty="0">
                <a:solidFill>
                  <a:schemeClr val="tx1"/>
                </a:solidFill>
              </a:rPr>
              <a:t> нагріві зміна швидкості молекул </a:t>
            </a:r>
            <a:r>
              <a:rPr lang="uk-UA" sz="1900" dirty="0" err="1">
                <a:solidFill>
                  <a:schemeClr val="tx1"/>
                </a:solidFill>
              </a:rPr>
              <a:t>залежатиме</a:t>
            </a:r>
            <a:r>
              <a:rPr lang="uk-UA" sz="1900" dirty="0">
                <a:solidFill>
                  <a:schemeClr val="tx1"/>
                </a:solidFill>
              </a:rPr>
              <a:t> від її маси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q3_o2"/>
          <p:cNvSpPr/>
          <p:nvPr/>
        </p:nvSpPr>
        <p:spPr>
          <a:xfrm>
            <a:off x="8124749" y="4312781"/>
            <a:ext cx="3655466" cy="63352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uk-UA" sz="1900" dirty="0">
                <a:solidFill>
                  <a:schemeClr val="tx1"/>
                </a:solidFill>
              </a:rPr>
              <a:t>Середня швидкість молекул при нагріві газу не міняється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9" name="q3_o3"/>
          <p:cNvSpPr/>
          <p:nvPr/>
        </p:nvSpPr>
        <p:spPr>
          <a:xfrm>
            <a:off x="8124749" y="5040467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uk-UA" sz="1900" dirty="0"/>
              <a:t>Температура не пов’язана зі швидкістю молекул газу.</a:t>
            </a:r>
            <a:endParaRPr lang="en-US" sz="1900" dirty="0"/>
          </a:p>
        </p:txBody>
      </p:sp>
      <p:sp>
        <p:nvSpPr>
          <p:cNvPr id="20" name="q3_ans"/>
          <p:cNvSpPr/>
          <p:nvPr/>
        </p:nvSpPr>
        <p:spPr>
          <a:xfrm>
            <a:off x="8124749" y="2532888"/>
            <a:ext cx="3655466" cy="883920"/>
          </a:xfrm>
          <a:prstGeom prst="roundRect">
            <a:avLst>
              <a:gd name="adj" fmla="val 3429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Температура </a:t>
            </a:r>
            <a:r>
              <a:rPr lang="en-US" sz="1900" b="1" dirty="0" err="1">
                <a:solidFill>
                  <a:schemeClr val="bg1"/>
                </a:solidFill>
              </a:rPr>
              <a:t>визначає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uk-UA" sz="1900" b="1" dirty="0">
                <a:solidFill>
                  <a:schemeClr val="bg1"/>
                </a:solidFill>
              </a:rPr>
              <a:t>середню</a:t>
            </a:r>
            <a:r>
              <a:rPr lang="en-US" sz="1900" b="1" dirty="0">
                <a:solidFill>
                  <a:schemeClr val="bg1"/>
                </a:solidFill>
              </a:rPr>
              <a:t> кінетичну енергію молекул. 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20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2" y="868680"/>
            <a:ext cx="3190683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Тіло кинули під кутом α до горизонту. Які компоненти швидкості воно має в момент падіння?</a:t>
            </a:r>
            <a:endParaRPr lang="en-US" sz="1700" dirty="0"/>
          </a:p>
        </p:txBody>
      </p:sp>
      <p:sp>
        <p:nvSpPr>
          <p:cNvPr id="5" name="q1_o0"/>
          <p:cNvSpPr/>
          <p:nvPr/>
        </p:nvSpPr>
        <p:spPr>
          <a:xfrm>
            <a:off x="411480" y="3922776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Обидві компоненти дорівнюють v</a:t>
            </a:r>
            <a:r>
              <a:rPr lang="en-US" sz="1700" baseline="-40000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q1_o1"/>
          <p:cNvSpPr/>
          <p:nvPr/>
        </p:nvSpPr>
        <p:spPr>
          <a:xfrm>
            <a:off x="411480" y="4657344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v</a:t>
            </a: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r>
              <a:rPr lang="en-US" sz="1700" dirty="0">
                <a:solidFill>
                  <a:schemeClr val="tx1"/>
                </a:solidFill>
              </a:rPr>
              <a:t> = 0, v</a:t>
            </a: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r>
              <a:rPr lang="en-US" sz="1700" dirty="0">
                <a:solidFill>
                  <a:schemeClr val="tx1"/>
                </a:solidFill>
              </a:rPr>
              <a:t> = 0.</a:t>
            </a:r>
            <a:endParaRPr lang="en-US" sz="1700" dirty="0"/>
          </a:p>
        </p:txBody>
      </p:sp>
      <p:sp>
        <p:nvSpPr>
          <p:cNvPr id="7" name="q1_o2"/>
          <p:cNvSpPr/>
          <p:nvPr/>
        </p:nvSpPr>
        <p:spPr>
          <a:xfrm>
            <a:off x="411480" y="5132832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v</a:t>
            </a: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r>
              <a:rPr lang="en-US" sz="1700" dirty="0">
                <a:solidFill>
                  <a:schemeClr val="tx1"/>
                </a:solidFill>
              </a:rPr>
              <a:t> = v</a:t>
            </a:r>
            <a:r>
              <a:rPr lang="en-US" sz="1700" baseline="-40000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 sin α,</a:t>
            </a:r>
            <a:r>
              <a:rPr lang="uk-UA" sz="1700" dirty="0">
                <a:solidFill>
                  <a:schemeClr val="tx1"/>
                </a:solidFill>
              </a:rPr>
              <a:t>   </a:t>
            </a:r>
            <a:r>
              <a:rPr lang="en-US" sz="1700" dirty="0">
                <a:solidFill>
                  <a:schemeClr val="tx1"/>
                </a:solidFill>
              </a:rPr>
              <a:t> v</a:t>
            </a: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r>
              <a:rPr lang="en-US" sz="1700" dirty="0">
                <a:solidFill>
                  <a:schemeClr val="tx1"/>
                </a:solidFill>
              </a:rPr>
              <a:t> = v</a:t>
            </a:r>
            <a:r>
              <a:rPr lang="en-US" sz="1700" baseline="-40000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 cos α.</a:t>
            </a:r>
            <a:endParaRPr lang="en-US" sz="1700" dirty="0"/>
          </a:p>
        </p:txBody>
      </p:sp>
      <p:sp>
        <p:nvSpPr>
          <p:cNvPr id="8" name="q1_o3"/>
          <p:cNvSpPr/>
          <p:nvPr/>
        </p:nvSpPr>
        <p:spPr>
          <a:xfrm>
            <a:off x="411480" y="5608320"/>
            <a:ext cx="3655466" cy="496916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v</a:t>
            </a:r>
            <a:r>
              <a:rPr lang="en-US" sz="1700" baseline="-40000" dirty="0">
                <a:solidFill>
                  <a:schemeClr val="tx1"/>
                </a:solidFill>
              </a:rPr>
              <a:t>x</a:t>
            </a:r>
            <a:r>
              <a:rPr lang="en-US" sz="1700" dirty="0">
                <a:solidFill>
                  <a:schemeClr val="tx1"/>
                </a:solidFill>
              </a:rPr>
              <a:t> = v</a:t>
            </a:r>
            <a:r>
              <a:rPr lang="en-US" sz="1700" baseline="-40000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 cos α,</a:t>
            </a:r>
            <a:r>
              <a:rPr lang="uk-UA" sz="1700" dirty="0">
                <a:solidFill>
                  <a:schemeClr val="tx1"/>
                </a:solidFill>
              </a:rPr>
              <a:t>   </a:t>
            </a:r>
            <a:r>
              <a:rPr lang="en-US" sz="1700" dirty="0">
                <a:solidFill>
                  <a:schemeClr val="tx1"/>
                </a:solidFill>
              </a:rPr>
              <a:t> v</a:t>
            </a:r>
            <a:r>
              <a:rPr lang="en-US" sz="1700" baseline="-40000" dirty="0">
                <a:solidFill>
                  <a:schemeClr val="tx1"/>
                </a:solidFill>
              </a:rPr>
              <a:t>y</a:t>
            </a:r>
            <a:r>
              <a:rPr lang="en-US" sz="1700" dirty="0">
                <a:solidFill>
                  <a:schemeClr val="tx1"/>
                </a:solidFill>
              </a:rPr>
              <a:t> = - v</a:t>
            </a:r>
            <a:r>
              <a:rPr lang="en-US" sz="1700" baseline="-40000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 sin α</a:t>
            </a:r>
            <a:r>
              <a:rPr lang="uk-UA" sz="1700" dirty="0"/>
              <a:t>.</a:t>
            </a:r>
            <a:endParaRPr lang="en-US" sz="1700" dirty="0"/>
          </a:p>
        </p:txBody>
      </p:sp>
      <p:sp>
        <p:nvSpPr>
          <p:cNvPr id="9" name="q1_ans"/>
          <p:cNvSpPr/>
          <p:nvPr/>
        </p:nvSpPr>
        <p:spPr>
          <a:xfrm>
            <a:off x="411480" y="5605041"/>
            <a:ext cx="3655466" cy="500195"/>
          </a:xfrm>
          <a:prstGeom prst="roundRect">
            <a:avLst>
              <a:gd name="adj" fmla="val 590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v</a:t>
            </a:r>
            <a:r>
              <a:rPr lang="en-US" sz="1700" b="1" baseline="-40000" dirty="0">
                <a:solidFill>
                  <a:schemeClr val="bg1"/>
                </a:solidFill>
              </a:rPr>
              <a:t>x</a:t>
            </a:r>
            <a:r>
              <a:rPr lang="en-US" sz="1700" b="1" dirty="0">
                <a:solidFill>
                  <a:schemeClr val="bg1"/>
                </a:solidFill>
              </a:rPr>
              <a:t> = v</a:t>
            </a:r>
            <a:r>
              <a:rPr lang="en-US" sz="1700" b="1" baseline="-40000" dirty="0">
                <a:solidFill>
                  <a:schemeClr val="bg1"/>
                </a:solidFill>
              </a:rPr>
              <a:t>0</a:t>
            </a:r>
            <a:r>
              <a:rPr lang="en-US" sz="1700" b="1" dirty="0">
                <a:solidFill>
                  <a:schemeClr val="bg1"/>
                </a:solidFill>
              </a:rPr>
              <a:t> cos α, </a:t>
            </a:r>
            <a:r>
              <a:rPr lang="uk-UA" sz="1700" b="1" dirty="0">
                <a:solidFill>
                  <a:schemeClr val="bg1"/>
                </a:solidFill>
              </a:rPr>
              <a:t>   </a:t>
            </a:r>
            <a:r>
              <a:rPr lang="en-US" sz="1700" b="1" dirty="0" err="1">
                <a:solidFill>
                  <a:schemeClr val="bg1"/>
                </a:solidFill>
              </a:rPr>
              <a:t>v</a:t>
            </a:r>
            <a:r>
              <a:rPr lang="en-US" sz="1700" b="1" baseline="-40000" dirty="0" err="1">
                <a:solidFill>
                  <a:schemeClr val="bg1"/>
                </a:solidFill>
              </a:rPr>
              <a:t>y</a:t>
            </a:r>
            <a:r>
              <a:rPr lang="en-US" sz="1700" b="1" dirty="0">
                <a:solidFill>
                  <a:schemeClr val="bg1"/>
                </a:solidFill>
              </a:rPr>
              <a:t> = - v</a:t>
            </a:r>
            <a:r>
              <a:rPr lang="en-US" sz="1700" b="1" baseline="-40000" dirty="0">
                <a:solidFill>
                  <a:schemeClr val="bg1"/>
                </a:solidFill>
              </a:rPr>
              <a:t>0</a:t>
            </a:r>
            <a:r>
              <a:rPr lang="en-US" sz="1700" b="1" dirty="0">
                <a:solidFill>
                  <a:schemeClr val="bg1"/>
                </a:solidFill>
              </a:rPr>
              <a:t> sin α</a:t>
            </a:r>
            <a:endParaRPr lang="en-US" sz="17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Що таке плече сили?</a:t>
            </a:r>
            <a:endParaRPr lang="en-US" sz="1700" dirty="0"/>
          </a:p>
        </p:txBody>
      </p:sp>
      <p:sp>
        <p:nvSpPr>
          <p:cNvPr id="11" name="q2_o0"/>
          <p:cNvSpPr/>
          <p:nvPr/>
        </p:nvSpPr>
        <p:spPr>
          <a:xfrm>
            <a:off x="4268114" y="1344168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Відстань від точки </a:t>
            </a:r>
            <a:r>
              <a:rPr lang="en-US" sz="1700" dirty="0" err="1">
                <a:solidFill>
                  <a:schemeClr val="tx1"/>
                </a:solidFill>
              </a:rPr>
              <a:t>прикладання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сили </a:t>
            </a:r>
            <a:r>
              <a:rPr lang="en-US" sz="1700" dirty="0" err="1">
                <a:solidFill>
                  <a:schemeClr val="tx1"/>
                </a:solidFill>
              </a:rPr>
              <a:t>до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тіла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2" name="q2_o1"/>
          <p:cNvSpPr/>
          <p:nvPr/>
        </p:nvSpPr>
        <p:spPr>
          <a:xfrm>
            <a:off x="4268114" y="2078736"/>
            <a:ext cx="3655466" cy="607106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Найкоротша </a:t>
            </a:r>
            <a:r>
              <a:rPr lang="en-US" sz="1700" dirty="0" err="1">
                <a:solidFill>
                  <a:schemeClr val="tx1"/>
                </a:solidFill>
              </a:rPr>
              <a:t>відстань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від</a:t>
            </a:r>
            <a:r>
              <a:rPr lang="en-US" sz="1700" dirty="0">
                <a:solidFill>
                  <a:schemeClr val="tx1"/>
                </a:solidFill>
              </a:rPr>
              <a:t> осі обертання до лінії дії сили.</a:t>
            </a:r>
            <a:endParaRPr lang="en-US" sz="1700" dirty="0"/>
          </a:p>
        </p:txBody>
      </p:sp>
      <p:sp>
        <p:nvSpPr>
          <p:cNvPr id="13" name="q2_o2"/>
          <p:cNvSpPr/>
          <p:nvPr/>
        </p:nvSpPr>
        <p:spPr>
          <a:xfrm>
            <a:off x="4268114" y="2749296"/>
            <a:ext cx="3655466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uk-UA" sz="1700" dirty="0"/>
              <a:t>Розмір всього тіла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q2_o3"/>
          <p:cNvSpPr/>
          <p:nvPr/>
        </p:nvSpPr>
        <p:spPr>
          <a:xfrm>
            <a:off x="4268114" y="3256279"/>
            <a:ext cx="3655466" cy="602489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uk-UA" sz="1700" dirty="0"/>
              <a:t>Відстань, на яку змістилася точка прикладення сили</a:t>
            </a:r>
            <a:r>
              <a:rPr lang="uk-UA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q2_ans"/>
          <p:cNvSpPr/>
          <p:nvPr/>
        </p:nvSpPr>
        <p:spPr>
          <a:xfrm>
            <a:off x="4268114" y="2078736"/>
            <a:ext cx="3655466" cy="607106"/>
          </a:xfrm>
          <a:prstGeom prst="roundRect">
            <a:avLst>
              <a:gd name="adj" fmla="val 590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B) Найкоротша </a:t>
            </a:r>
            <a:r>
              <a:rPr lang="en-US" sz="1700" b="1" dirty="0" err="1">
                <a:solidFill>
                  <a:schemeClr val="bg1"/>
                </a:solidFill>
              </a:rPr>
              <a:t>відстань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від</a:t>
            </a:r>
            <a:r>
              <a:rPr lang="en-US" sz="1700" b="1" dirty="0">
                <a:solidFill>
                  <a:schemeClr val="bg1"/>
                </a:solidFill>
              </a:rPr>
              <a:t> осі обертання до лінії дії сили.</a:t>
            </a:r>
            <a:endParaRPr lang="en-US" sz="17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67056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Чому при ізохорному процесі робота газу дорівнює нулю?</a:t>
            </a:r>
            <a:endParaRPr lang="en-US" sz="1700" dirty="0"/>
          </a:p>
        </p:txBody>
      </p:sp>
      <p:sp>
        <p:nvSpPr>
          <p:cNvPr id="17" name="q3_o0"/>
          <p:cNvSpPr/>
          <p:nvPr/>
        </p:nvSpPr>
        <p:spPr>
          <a:xfrm>
            <a:off x="8124749" y="1603248"/>
            <a:ext cx="3655466" cy="47548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Газ завжди </a:t>
            </a:r>
            <a:r>
              <a:rPr lang="en-US" sz="1700" dirty="0" err="1">
                <a:solidFill>
                  <a:schemeClr val="tx1"/>
                </a:solidFill>
              </a:rPr>
              <a:t>виконує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ненульову </a:t>
            </a:r>
            <a:r>
              <a:rPr lang="en-US" sz="1700" dirty="0" err="1">
                <a:solidFill>
                  <a:schemeClr val="tx1"/>
                </a:solidFill>
              </a:rPr>
              <a:t>роботу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8" name="q3_o1"/>
          <p:cNvSpPr/>
          <p:nvPr/>
        </p:nvSpPr>
        <p:spPr>
          <a:xfrm>
            <a:off x="8124749" y="2142188"/>
            <a:ext cx="3655466" cy="607107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Оскільки температура не змінюється.</a:t>
            </a:r>
            <a:endParaRPr lang="en-US" sz="1700" dirty="0"/>
          </a:p>
        </p:txBody>
      </p:sp>
      <p:sp>
        <p:nvSpPr>
          <p:cNvPr id="19" name="q3_o2"/>
          <p:cNvSpPr/>
          <p:nvPr/>
        </p:nvSpPr>
        <p:spPr>
          <a:xfrm>
            <a:off x="8124749" y="2813304"/>
            <a:ext cx="3655466" cy="602489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Оскільки тиск дорівнює нулю.</a:t>
            </a:r>
            <a:endParaRPr lang="en-US" sz="1700" dirty="0"/>
          </a:p>
        </p:txBody>
      </p:sp>
      <p:sp>
        <p:nvSpPr>
          <p:cNvPr id="20" name="q3_o3"/>
          <p:cNvSpPr/>
          <p:nvPr/>
        </p:nvSpPr>
        <p:spPr>
          <a:xfrm>
            <a:off x="8124749" y="3547872"/>
            <a:ext cx="3655466" cy="477659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Оскільки об'єм </a:t>
            </a:r>
            <a:r>
              <a:rPr lang="en-US" sz="1700" dirty="0" err="1">
                <a:solidFill>
                  <a:schemeClr val="tx1"/>
                </a:solidFill>
              </a:rPr>
              <a:t>не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змінюється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1" name="q3_ans"/>
          <p:cNvSpPr/>
          <p:nvPr/>
        </p:nvSpPr>
        <p:spPr>
          <a:xfrm>
            <a:off x="8124748" y="3547872"/>
            <a:ext cx="3655466" cy="475488"/>
          </a:xfrm>
          <a:prstGeom prst="roundRect">
            <a:avLst>
              <a:gd name="adj" fmla="val 590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Оскільки об'єм </a:t>
            </a:r>
            <a:r>
              <a:rPr lang="en-US" sz="1700" b="1" dirty="0" err="1">
                <a:solidFill>
                  <a:schemeClr val="bg1"/>
                </a:solidFill>
              </a:rPr>
              <a:t>не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змінюється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21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</a:t>
            </a:r>
            <a:r>
              <a:rPr lang="uk-UA" sz="2000" b="1" dirty="0">
                <a:solidFill>
                  <a:schemeClr val="tx1"/>
                </a:solidFill>
              </a:rPr>
              <a:t>сили </a:t>
            </a:r>
            <a:r>
              <a:rPr lang="en-US" sz="2000" b="1" dirty="0" err="1">
                <a:solidFill>
                  <a:schemeClr val="tx1"/>
                </a:solidFill>
              </a:rPr>
              <a:t>ді</a:t>
            </a:r>
            <a:r>
              <a:rPr lang="uk-UA" sz="2000" b="1" dirty="0">
                <a:solidFill>
                  <a:schemeClr val="tx1"/>
                </a:solidFill>
              </a:rPr>
              <a:t>ї</a:t>
            </a:r>
            <a:r>
              <a:rPr lang="en-US" sz="2000" b="1" dirty="0">
                <a:solidFill>
                  <a:schemeClr val="tx1"/>
                </a:solidFill>
              </a:rPr>
              <a:t> і </a:t>
            </a:r>
            <a:r>
              <a:rPr lang="en-US" sz="2000" b="1" dirty="0" err="1">
                <a:solidFill>
                  <a:schemeClr val="tx1"/>
                </a:solidFill>
              </a:rPr>
              <a:t>протиді</a:t>
            </a:r>
            <a:r>
              <a:rPr lang="uk-UA" sz="2000" b="1" dirty="0">
                <a:solidFill>
                  <a:schemeClr val="tx1"/>
                </a:solidFill>
              </a:rPr>
              <a:t>ї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uk-UA" sz="2000" b="1" dirty="0">
                <a:solidFill>
                  <a:schemeClr val="tx1"/>
                </a:solidFill>
              </a:rPr>
              <a:t>компенсують одна одну</a:t>
            </a:r>
            <a:r>
              <a:rPr lang="en-US" sz="2000" b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q1_o0"/>
          <p:cNvSpPr/>
          <p:nvPr/>
        </p:nvSpPr>
        <p:spPr>
          <a:xfrm>
            <a:off x="411480" y="23042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Помилки немає.</a:t>
            </a:r>
            <a:endParaRPr lang="en-US" sz="2000" dirty="0"/>
          </a:p>
        </p:txBody>
      </p:sp>
      <p:sp>
        <p:nvSpPr>
          <p:cNvPr id="5" name="q1_o1"/>
          <p:cNvSpPr/>
          <p:nvPr/>
        </p:nvSpPr>
        <p:spPr>
          <a:xfrm>
            <a:off x="411480" y="2825496"/>
            <a:ext cx="3655466" cy="1404759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uk-UA" sz="2000" dirty="0">
                <a:solidFill>
                  <a:schemeClr val="tx1"/>
                </a:solidFill>
              </a:rPr>
              <a:t>С</a:t>
            </a:r>
            <a:r>
              <a:rPr lang="en-US" sz="2000" dirty="0" err="1">
                <a:solidFill>
                  <a:schemeClr val="tx1"/>
                </a:solidFill>
              </a:rPr>
              <a:t>или</a:t>
            </a:r>
            <a:r>
              <a:rPr lang="en-US" sz="2000" dirty="0">
                <a:solidFill>
                  <a:schemeClr val="tx1"/>
                </a:solidFill>
              </a:rPr>
              <a:t> дії та протидії прикладені </a:t>
            </a:r>
            <a:r>
              <a:rPr lang="en-US" sz="2000" dirty="0" err="1">
                <a:solidFill>
                  <a:schemeClr val="tx1"/>
                </a:solidFill>
              </a:rPr>
              <a:t>до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різних</a:t>
            </a:r>
            <a:r>
              <a:rPr lang="en-US" sz="2000" dirty="0">
                <a:solidFill>
                  <a:schemeClr val="tx1"/>
                </a:solidFill>
              </a:rPr>
              <a:t> тіл, </a:t>
            </a:r>
            <a:r>
              <a:rPr lang="uk-UA" sz="2000" dirty="0">
                <a:solidFill>
                  <a:schemeClr val="tx1"/>
                </a:solidFill>
              </a:rPr>
              <a:t>і </a:t>
            </a:r>
            <a:r>
              <a:rPr lang="en-US" sz="2000" dirty="0" err="1">
                <a:solidFill>
                  <a:schemeClr val="tx1"/>
                </a:solidFill>
              </a:rPr>
              <a:t>тому</a:t>
            </a:r>
            <a:r>
              <a:rPr lang="en-US" sz="2000" dirty="0">
                <a:solidFill>
                  <a:schemeClr val="tx1"/>
                </a:solidFill>
              </a:rPr>
              <a:t> вони ніколи не компенсують одна одну.</a:t>
            </a:r>
            <a:endParaRPr lang="en-US" sz="2000" dirty="0"/>
          </a:p>
        </p:txBody>
      </p:sp>
      <p:sp>
        <p:nvSpPr>
          <p:cNvPr id="6" name="q1_o2"/>
          <p:cNvSpPr/>
          <p:nvPr/>
        </p:nvSpPr>
        <p:spPr>
          <a:xfrm>
            <a:off x="411480" y="4294263"/>
            <a:ext cx="3655466" cy="1266028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Сили </a:t>
            </a:r>
            <a:r>
              <a:rPr lang="en-US" sz="2000" dirty="0" err="1">
                <a:solidFill>
                  <a:schemeClr val="tx1"/>
                </a:solidFill>
              </a:rPr>
              <a:t>дії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та протидії компенсують одна одну за відсутності інших сил </a:t>
            </a:r>
            <a:r>
              <a:rPr lang="en-US" sz="2000" dirty="0" err="1">
                <a:solidFill>
                  <a:schemeClr val="tx1"/>
                </a:solidFill>
              </a:rPr>
              <a:t>тільки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/>
              <a:t>у</a:t>
            </a:r>
            <a:r>
              <a:rPr lang="en-US" sz="2000" dirty="0">
                <a:solidFill>
                  <a:schemeClr val="tx1"/>
                </a:solidFill>
              </a:rPr>
              <a:t> вакуумі.</a:t>
            </a:r>
            <a:endParaRPr lang="en-US" sz="2000" dirty="0"/>
          </a:p>
        </p:txBody>
      </p:sp>
      <p:sp>
        <p:nvSpPr>
          <p:cNvPr id="7" name="q1_o3"/>
          <p:cNvSpPr/>
          <p:nvPr/>
        </p:nvSpPr>
        <p:spPr>
          <a:xfrm>
            <a:off x="411480" y="5608319"/>
            <a:ext cx="3655466" cy="958735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Сил</a:t>
            </a:r>
            <a:r>
              <a:rPr lang="uk-UA" sz="2000" dirty="0">
                <a:solidFill>
                  <a:schemeClr val="tx1"/>
                </a:solidFill>
              </a:rPr>
              <a:t>а</a:t>
            </a:r>
            <a:r>
              <a:rPr lang="en-US" sz="2000" dirty="0">
                <a:solidFill>
                  <a:schemeClr val="tx1"/>
                </a:solidFill>
              </a:rPr>
              <a:t> дії </a:t>
            </a:r>
            <a:r>
              <a:rPr lang="en-US" sz="2000" dirty="0" err="1">
                <a:solidFill>
                  <a:schemeClr val="tx1"/>
                </a:solidFill>
              </a:rPr>
              <a:t>завжди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більш</a:t>
            </a:r>
            <a:r>
              <a:rPr lang="uk-UA" sz="2000" dirty="0">
                <a:solidFill>
                  <a:schemeClr val="tx1"/>
                </a:solidFill>
              </a:rPr>
              <a:t>а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за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протидію</a:t>
            </a:r>
            <a:r>
              <a:rPr lang="uk-UA" sz="2000" dirty="0">
                <a:solidFill>
                  <a:schemeClr val="tx1"/>
                </a:solidFill>
              </a:rPr>
              <a:t> і тому тіла можуть рухатися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q1_ans"/>
          <p:cNvSpPr/>
          <p:nvPr/>
        </p:nvSpPr>
        <p:spPr>
          <a:xfrm>
            <a:off x="411479" y="2825496"/>
            <a:ext cx="3655466" cy="1404759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</a:t>
            </a:r>
            <a:r>
              <a:rPr lang="uk-UA" sz="2000" b="1" dirty="0">
                <a:solidFill>
                  <a:schemeClr val="bg1"/>
                </a:solidFill>
              </a:rPr>
              <a:t>С</a:t>
            </a:r>
            <a:r>
              <a:rPr lang="en-US" sz="2000" b="1" dirty="0" err="1">
                <a:solidFill>
                  <a:schemeClr val="bg1"/>
                </a:solidFill>
              </a:rPr>
              <a:t>или</a:t>
            </a:r>
            <a:r>
              <a:rPr lang="en-US" sz="2000" b="1" dirty="0">
                <a:solidFill>
                  <a:schemeClr val="bg1"/>
                </a:solidFill>
              </a:rPr>
              <a:t> дії та протидії прикладені </a:t>
            </a:r>
            <a:r>
              <a:rPr lang="en-US" sz="2000" b="1" dirty="0" err="1">
                <a:solidFill>
                  <a:schemeClr val="bg1"/>
                </a:solidFill>
              </a:rPr>
              <a:t>до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uk-UA" sz="2000" b="1" dirty="0">
                <a:solidFill>
                  <a:schemeClr val="bg1"/>
                </a:solidFill>
              </a:rPr>
              <a:t>різних </a:t>
            </a:r>
            <a:r>
              <a:rPr lang="en-US" sz="2000" b="1" dirty="0" err="1">
                <a:solidFill>
                  <a:schemeClr val="bg1"/>
                </a:solidFill>
              </a:rPr>
              <a:t>тіл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  <a:r>
              <a:rPr lang="uk-UA" sz="2000" b="1" dirty="0">
                <a:solidFill>
                  <a:schemeClr val="bg1"/>
                </a:solidFill>
              </a:rPr>
              <a:t>і </a:t>
            </a:r>
            <a:r>
              <a:rPr lang="en-US" sz="2000" b="1" dirty="0" err="1">
                <a:solidFill>
                  <a:schemeClr val="bg1"/>
                </a:solidFill>
              </a:rPr>
              <a:t>тому</a:t>
            </a:r>
            <a:r>
              <a:rPr lang="en-US" sz="2000" b="1" dirty="0">
                <a:solidFill>
                  <a:schemeClr val="bg1"/>
                </a:solidFill>
              </a:rPr>
              <a:t> вони ніколи не компенсують одна одну.</a:t>
            </a:r>
            <a:endParaRPr lang="en-US" sz="20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Запишіть потенціальну енергію тіла масою m в полі тяжіння на висоті h.</a:t>
            </a:r>
            <a:endParaRPr lang="en-US" sz="2000" dirty="0"/>
          </a:p>
        </p:txBody>
      </p:sp>
      <p:sp>
        <p:nvSpPr>
          <p:cNvPr id="10" name="q2_o0"/>
          <p:cNvSpPr/>
          <p:nvPr/>
        </p:nvSpPr>
        <p:spPr>
          <a:xfrm>
            <a:off x="4268114" y="19994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Ep = k x² / 2</a:t>
            </a:r>
            <a:endParaRPr lang="en-US" sz="2000" dirty="0"/>
          </a:p>
        </p:txBody>
      </p:sp>
      <p:sp>
        <p:nvSpPr>
          <p:cNvPr id="11" name="q2_o1"/>
          <p:cNvSpPr/>
          <p:nvPr/>
        </p:nvSpPr>
        <p:spPr>
          <a:xfrm>
            <a:off x="4268114" y="25206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Ep = m g h</a:t>
            </a:r>
            <a:endParaRPr lang="en-US" sz="2000" dirty="0"/>
          </a:p>
        </p:txBody>
      </p:sp>
      <p:sp>
        <p:nvSpPr>
          <p:cNvPr id="12" name="q2_o2"/>
          <p:cNvSpPr/>
          <p:nvPr/>
        </p:nvSpPr>
        <p:spPr>
          <a:xfrm>
            <a:off x="4268114" y="304190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Ep = m a t</a:t>
            </a:r>
            <a:endParaRPr lang="en-US" sz="2000" dirty="0"/>
          </a:p>
        </p:txBody>
      </p:sp>
      <p:sp>
        <p:nvSpPr>
          <p:cNvPr id="13" name="q2_o3"/>
          <p:cNvSpPr/>
          <p:nvPr/>
        </p:nvSpPr>
        <p:spPr>
          <a:xfrm>
            <a:off x="4268114" y="35631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Ep = (m v²) / 2</a:t>
            </a:r>
            <a:endParaRPr lang="en-US" sz="2000" dirty="0"/>
          </a:p>
        </p:txBody>
      </p:sp>
      <p:sp>
        <p:nvSpPr>
          <p:cNvPr id="14" name="q2_ans"/>
          <p:cNvSpPr/>
          <p:nvPr/>
        </p:nvSpPr>
        <p:spPr>
          <a:xfrm>
            <a:off x="4268114" y="25206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Ep = m g h</a:t>
            </a:r>
            <a:endParaRPr lang="en-US" sz="20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Яка швидкість молекул називається найбільш імовірною?</a:t>
            </a:r>
            <a:endParaRPr lang="en-US" sz="2000" dirty="0"/>
          </a:p>
        </p:txBody>
      </p:sp>
      <p:sp>
        <p:nvSpPr>
          <p:cNvPr id="16" name="q3_o0"/>
          <p:cNvSpPr/>
          <p:nvPr/>
        </p:nvSpPr>
        <p:spPr>
          <a:xfrm>
            <a:off x="8124749" y="1999487"/>
            <a:ext cx="3655466" cy="605167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 err="1">
                <a:solidFill>
                  <a:schemeClr val="tx1"/>
                </a:solidFill>
              </a:rPr>
              <a:t>Швидкість</a:t>
            </a:r>
            <a:r>
              <a:rPr lang="uk-UA" sz="2000" dirty="0">
                <a:solidFill>
                  <a:schemeClr val="tx1"/>
                </a:solidFill>
              </a:rPr>
              <a:t>, яка відповідає температурі газу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7" name="q3_o1"/>
          <p:cNvSpPr/>
          <p:nvPr/>
        </p:nvSpPr>
        <p:spPr>
          <a:xfrm>
            <a:off x="8124749" y="2668473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Середня арифметична швидкість.</a:t>
            </a:r>
            <a:endParaRPr lang="en-US" sz="2000" dirty="0"/>
          </a:p>
        </p:txBody>
      </p:sp>
      <p:sp>
        <p:nvSpPr>
          <p:cNvPr id="18" name="q3_o2"/>
          <p:cNvSpPr/>
          <p:nvPr/>
        </p:nvSpPr>
        <p:spPr>
          <a:xfrm>
            <a:off x="8124749" y="3494292"/>
            <a:ext cx="3655466" cy="994581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Швидкість, при якій функція розподілу Максвелла досягає </a:t>
            </a:r>
            <a:r>
              <a:rPr lang="en-US" sz="2000" dirty="0" err="1">
                <a:solidFill>
                  <a:schemeClr val="tx1"/>
                </a:solidFill>
              </a:rPr>
              <a:t>свого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максимуму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9" name="q3_o3"/>
          <p:cNvSpPr/>
          <p:nvPr/>
        </p:nvSpPr>
        <p:spPr>
          <a:xfrm>
            <a:off x="8124749" y="4572277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Найбільша можлива швидкість молекули.</a:t>
            </a:r>
            <a:endParaRPr lang="en-US" sz="2000" dirty="0"/>
          </a:p>
        </p:txBody>
      </p:sp>
      <p:sp>
        <p:nvSpPr>
          <p:cNvPr id="20" name="q3_ans"/>
          <p:cNvSpPr/>
          <p:nvPr/>
        </p:nvSpPr>
        <p:spPr>
          <a:xfrm>
            <a:off x="8124749" y="3499104"/>
            <a:ext cx="3655466" cy="989769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C) Швидкість, при якій функція розподілу Максвелла досягає </a:t>
            </a:r>
            <a:r>
              <a:rPr lang="en-US" sz="2000" b="1" dirty="0" err="1">
                <a:solidFill>
                  <a:schemeClr val="bg1"/>
                </a:solidFill>
              </a:rPr>
              <a:t>свого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максимуму</a:t>
            </a:r>
            <a:r>
              <a:rPr lang="uk-UA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q2_o2">
            <a:extLst>
              <a:ext uri="{FF2B5EF4-FFF2-40B4-BE49-F238E27FC236}">
                <a16:creationId xmlns:a16="http://schemas.microsoft.com/office/drawing/2014/main" id="{EBBD0B63-4459-9714-22E2-4BF0848C45C0}"/>
              </a:ext>
            </a:extLst>
          </p:cNvPr>
          <p:cNvSpPr/>
          <p:nvPr/>
        </p:nvSpPr>
        <p:spPr>
          <a:xfrm>
            <a:off x="4268114" y="2235569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/>
              <a:t>p</a:t>
            </a:r>
            <a:r>
              <a:rPr lang="en-US" sz="2000" dirty="0">
                <a:solidFill>
                  <a:schemeClr val="tx1"/>
                </a:solidFill>
              </a:rPr>
              <a:t> = m </a:t>
            </a:r>
            <a:r>
              <a:rPr lang="en-US" sz="2000" dirty="0"/>
              <a:t>V</a:t>
            </a:r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22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 із залежності S = C t² визначити прискорення a рівноприскореного руху?</a:t>
            </a:r>
            <a:endParaRPr lang="en-US" sz="2000" dirty="0"/>
          </a:p>
        </p:txBody>
      </p:sp>
      <p:sp>
        <p:nvSpPr>
          <p:cNvPr id="4" name="q1_o0"/>
          <p:cNvSpPr/>
          <p:nvPr/>
        </p:nvSpPr>
        <p:spPr>
          <a:xfrm>
            <a:off x="411480" y="19994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a = C²</a:t>
            </a:r>
            <a:endParaRPr lang="en-US" sz="2000" dirty="0"/>
          </a:p>
        </p:txBody>
      </p:sp>
      <p:sp>
        <p:nvSpPr>
          <p:cNvPr id="5" name="q1_o1"/>
          <p:cNvSpPr/>
          <p:nvPr/>
        </p:nvSpPr>
        <p:spPr>
          <a:xfrm>
            <a:off x="411480" y="25206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a = C / 2</a:t>
            </a:r>
            <a:endParaRPr lang="en-US" sz="2000" dirty="0"/>
          </a:p>
        </p:txBody>
      </p:sp>
      <p:sp>
        <p:nvSpPr>
          <p:cNvPr id="6" name="q1_o2"/>
          <p:cNvSpPr/>
          <p:nvPr/>
        </p:nvSpPr>
        <p:spPr>
          <a:xfrm>
            <a:off x="411480" y="3041904"/>
            <a:ext cx="3655466" cy="521208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a = 2 C</a:t>
            </a:r>
            <a:endParaRPr lang="en-US" sz="2000" dirty="0"/>
          </a:p>
        </p:txBody>
      </p:sp>
      <p:sp>
        <p:nvSpPr>
          <p:cNvPr id="7" name="q1_o3"/>
          <p:cNvSpPr/>
          <p:nvPr/>
        </p:nvSpPr>
        <p:spPr>
          <a:xfrm>
            <a:off x="411480" y="36393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a = C</a:t>
            </a:r>
            <a:endParaRPr lang="en-US" sz="2000" dirty="0"/>
          </a:p>
        </p:txBody>
      </p:sp>
      <p:sp>
        <p:nvSpPr>
          <p:cNvPr id="8" name="q1_ans"/>
          <p:cNvSpPr/>
          <p:nvPr/>
        </p:nvSpPr>
        <p:spPr>
          <a:xfrm>
            <a:off x="411480" y="3029712"/>
            <a:ext cx="3655466" cy="533400"/>
          </a:xfrm>
          <a:prstGeom prst="roundRect">
            <a:avLst>
              <a:gd name="adj" fmla="val 72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C) a = 2 C</a:t>
            </a:r>
            <a:endParaRPr lang="en-US" sz="20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738447"/>
          </a:xfrm>
          <a:prstGeom prst="roundRect">
            <a:avLst>
              <a:gd name="adj" fmla="val 2769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</a:t>
            </a:r>
            <a:r>
              <a:rPr lang="en-US" sz="2000" b="1" dirty="0"/>
              <a:t>p = m a</a:t>
            </a:r>
            <a:endParaRPr lang="en-US" sz="2000" dirty="0"/>
          </a:p>
        </p:txBody>
      </p:sp>
      <p:sp>
        <p:nvSpPr>
          <p:cNvPr id="10" name="q2_o0"/>
          <p:cNvSpPr/>
          <p:nvPr/>
        </p:nvSpPr>
        <p:spPr>
          <a:xfrm>
            <a:off x="4268114" y="169274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a= p/m</a:t>
            </a:r>
            <a:endParaRPr lang="en-US" sz="2000" dirty="0"/>
          </a:p>
        </p:txBody>
      </p:sp>
      <p:sp>
        <p:nvSpPr>
          <p:cNvPr id="11" name="q2_o1"/>
          <p:cNvSpPr/>
          <p:nvPr/>
        </p:nvSpPr>
        <p:spPr>
          <a:xfrm>
            <a:off x="4268114" y="3411543"/>
            <a:ext cx="3655466" cy="521208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/>
              <a:t>p = m V</a:t>
            </a:r>
          </a:p>
        </p:txBody>
      </p:sp>
      <p:sp>
        <p:nvSpPr>
          <p:cNvPr id="12" name="q2_o2"/>
          <p:cNvSpPr/>
          <p:nvPr/>
        </p:nvSpPr>
        <p:spPr>
          <a:xfrm>
            <a:off x="4268114" y="282309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F = p m</a:t>
            </a:r>
            <a:endParaRPr lang="en-US" sz="2000" dirty="0"/>
          </a:p>
        </p:txBody>
      </p:sp>
      <p:sp>
        <p:nvSpPr>
          <p:cNvPr id="13" name="q2_o3"/>
          <p:cNvSpPr/>
          <p:nvPr/>
        </p:nvSpPr>
        <p:spPr>
          <a:xfrm>
            <a:off x="4268114" y="3380416"/>
            <a:ext cx="3655466" cy="552335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M = m a</a:t>
            </a:r>
            <a:endParaRPr lang="en-US" sz="2000" dirty="0"/>
          </a:p>
        </p:txBody>
      </p:sp>
      <p:sp>
        <p:nvSpPr>
          <p:cNvPr id="14" name="q2_ans"/>
          <p:cNvSpPr/>
          <p:nvPr/>
        </p:nvSpPr>
        <p:spPr>
          <a:xfrm>
            <a:off x="4268114" y="2236724"/>
            <a:ext cx="3655466" cy="521208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p = m V</a:t>
            </a:r>
            <a:endParaRPr lang="en-US" sz="20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 виразити кількість речовини ν через масу m та молярну масу M?</a:t>
            </a:r>
            <a:endParaRPr lang="en-US" sz="2000" dirty="0"/>
          </a:p>
        </p:txBody>
      </p:sp>
      <p:sp>
        <p:nvSpPr>
          <p:cNvPr id="16" name="q3_o0"/>
          <p:cNvSpPr/>
          <p:nvPr/>
        </p:nvSpPr>
        <p:spPr>
          <a:xfrm>
            <a:off x="8124749" y="19994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ν = m / M</a:t>
            </a:r>
            <a:endParaRPr lang="en-US" sz="2000" dirty="0"/>
          </a:p>
        </p:txBody>
      </p:sp>
      <p:sp>
        <p:nvSpPr>
          <p:cNvPr id="17" name="q3_o1"/>
          <p:cNvSpPr/>
          <p:nvPr/>
        </p:nvSpPr>
        <p:spPr>
          <a:xfrm>
            <a:off x="8124749" y="25206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ν = m * M</a:t>
            </a:r>
            <a:endParaRPr lang="en-US" sz="2000" dirty="0"/>
          </a:p>
        </p:txBody>
      </p:sp>
      <p:sp>
        <p:nvSpPr>
          <p:cNvPr id="18" name="q3_o2"/>
          <p:cNvSpPr/>
          <p:nvPr/>
        </p:nvSpPr>
        <p:spPr>
          <a:xfrm>
            <a:off x="8124749" y="304190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ν = M / m</a:t>
            </a:r>
            <a:endParaRPr lang="en-US" sz="2000" dirty="0"/>
          </a:p>
        </p:txBody>
      </p:sp>
      <p:sp>
        <p:nvSpPr>
          <p:cNvPr id="19" name="q3_o3"/>
          <p:cNvSpPr/>
          <p:nvPr/>
        </p:nvSpPr>
        <p:spPr>
          <a:xfrm>
            <a:off x="8124749" y="35631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ν = m + M</a:t>
            </a:r>
            <a:endParaRPr lang="en-US" sz="2000" dirty="0"/>
          </a:p>
        </p:txBody>
      </p:sp>
      <p:sp>
        <p:nvSpPr>
          <p:cNvPr id="20" name="q3_ans"/>
          <p:cNvSpPr/>
          <p:nvPr/>
        </p:nvSpPr>
        <p:spPr>
          <a:xfrm>
            <a:off x="8124749" y="19994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A) ν = m / M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23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11368735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Тіло рухається по колу зі сталою за модулем швидкістю. Чи має воно прискорення?</a:t>
            </a:r>
            <a:endParaRPr lang="en-US" sz="1700" dirty="0"/>
          </a:p>
        </p:txBody>
      </p:sp>
      <p:sp>
        <p:nvSpPr>
          <p:cNvPr id="4" name="q1_o0"/>
          <p:cNvSpPr/>
          <p:nvPr/>
        </p:nvSpPr>
        <p:spPr>
          <a:xfrm>
            <a:off x="411480" y="1344168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Ні, прискорення дорівнює нулю.</a:t>
            </a:r>
            <a:endParaRPr lang="en-US" sz="1700" dirty="0"/>
          </a:p>
        </p:txBody>
      </p:sp>
      <p:sp>
        <p:nvSpPr>
          <p:cNvPr id="5" name="q1_o1"/>
          <p:cNvSpPr/>
          <p:nvPr/>
        </p:nvSpPr>
        <p:spPr>
          <a:xfrm>
            <a:off x="6127852" y="1344168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uk-UA" sz="1700" dirty="0"/>
              <a:t>М</a:t>
            </a:r>
            <a:r>
              <a:rPr lang="uk-UA" sz="1700" dirty="0">
                <a:solidFill>
                  <a:schemeClr val="tx1"/>
                </a:solidFill>
              </a:rPr>
              <a:t>ає, відцентрове прискорення</a:t>
            </a:r>
            <a:r>
              <a:rPr lang="uk-UA" sz="1700" dirty="0"/>
              <a:t>, </a:t>
            </a:r>
            <a:r>
              <a:rPr lang="en-US" sz="1700" dirty="0" err="1">
                <a:solidFill>
                  <a:schemeClr val="tx1"/>
                </a:solidFill>
              </a:rPr>
              <a:t>спрямоване</a:t>
            </a:r>
            <a:r>
              <a:rPr lang="en-US" sz="1700" dirty="0">
                <a:solidFill>
                  <a:schemeClr val="tx1"/>
                </a:solidFill>
              </a:rPr>
              <a:t> від центра.</a:t>
            </a:r>
            <a:endParaRPr lang="en-US" sz="1700" dirty="0"/>
          </a:p>
        </p:txBody>
      </p:sp>
      <p:sp>
        <p:nvSpPr>
          <p:cNvPr id="6" name="q1_o2"/>
          <p:cNvSpPr/>
          <p:nvPr/>
        </p:nvSpPr>
        <p:spPr>
          <a:xfrm>
            <a:off x="411480" y="1819656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 err="1">
                <a:solidFill>
                  <a:schemeClr val="tx1"/>
                </a:solidFill>
              </a:rPr>
              <a:t>Має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тангенціальне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прискорення</a:t>
            </a:r>
            <a:r>
              <a:rPr lang="uk-UA" sz="1700" dirty="0"/>
              <a:t>, спрямоване по дотичній до траєкторії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7" name="q1_o3"/>
          <p:cNvSpPr/>
          <p:nvPr/>
        </p:nvSpPr>
        <p:spPr>
          <a:xfrm>
            <a:off x="6127852" y="1819656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Так, має </a:t>
            </a:r>
            <a:r>
              <a:rPr lang="en-US" sz="1700" dirty="0" err="1">
                <a:solidFill>
                  <a:schemeClr val="tx1"/>
                </a:solidFill>
              </a:rPr>
              <a:t>доцентрове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прискорення</a:t>
            </a:r>
            <a:r>
              <a:rPr lang="en-US" sz="1700" dirty="0">
                <a:solidFill>
                  <a:schemeClr val="tx1"/>
                </a:solidFill>
              </a:rPr>
              <a:t>, спрямоване до центра кола.</a:t>
            </a:r>
            <a:endParaRPr lang="en-US" sz="1700" dirty="0"/>
          </a:p>
        </p:txBody>
      </p:sp>
      <p:sp>
        <p:nvSpPr>
          <p:cNvPr id="8" name="q1_ans"/>
          <p:cNvSpPr/>
          <p:nvPr/>
        </p:nvSpPr>
        <p:spPr>
          <a:xfrm>
            <a:off x="6127851" y="1816608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Так, має </a:t>
            </a:r>
            <a:r>
              <a:rPr lang="en-US" sz="1700" b="1" dirty="0" err="1">
                <a:solidFill>
                  <a:schemeClr val="bg1"/>
                </a:solidFill>
              </a:rPr>
              <a:t>доцентрове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прискорення</a:t>
            </a:r>
            <a:r>
              <a:rPr lang="en-US" sz="1700" b="1" dirty="0">
                <a:solidFill>
                  <a:schemeClr val="bg1"/>
                </a:solidFill>
              </a:rPr>
              <a:t>, спрямоване до центра кола.</a:t>
            </a:r>
            <a:endParaRPr lang="en-US" sz="1700" dirty="0"/>
          </a:p>
        </p:txBody>
      </p:sp>
      <p:pic>
        <p:nvPicPr>
          <p:cNvPr id="9" name="q2_img" descr="Рисунок до запитання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62678"/>
            <a:ext cx="3410621" cy="1772724"/>
          </a:xfrm>
          <a:prstGeom prst="rect">
            <a:avLst/>
          </a:prstGeom>
        </p:spPr>
      </p:pic>
      <p:sp>
        <p:nvSpPr>
          <p:cNvPr id="10" name="q2_q"/>
          <p:cNvSpPr/>
          <p:nvPr/>
        </p:nvSpPr>
        <p:spPr>
          <a:xfrm>
            <a:off x="4004981" y="2679192"/>
            <a:ext cx="7775235" cy="670560"/>
          </a:xfrm>
          <a:prstGeom prst="roundRect">
            <a:avLst>
              <a:gd name="adj" fmla="val 818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Якщо маса снаряда значно менша за масу гармати, що можна сказати про їхні швидкості після пострілу?</a:t>
            </a:r>
            <a:endParaRPr lang="en-US" sz="1700" dirty="0"/>
          </a:p>
        </p:txBody>
      </p:sp>
      <p:sp>
        <p:nvSpPr>
          <p:cNvPr id="11" name="q2_o0"/>
          <p:cNvSpPr/>
          <p:nvPr/>
        </p:nvSpPr>
        <p:spPr>
          <a:xfrm>
            <a:off x="4004981" y="3413760"/>
            <a:ext cx="3855613" cy="536448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Швидкості однакові.</a:t>
            </a:r>
            <a:endParaRPr lang="en-US" sz="1700" dirty="0"/>
          </a:p>
        </p:txBody>
      </p:sp>
      <p:sp>
        <p:nvSpPr>
          <p:cNvPr id="12" name="q2_o1"/>
          <p:cNvSpPr/>
          <p:nvPr/>
        </p:nvSpPr>
        <p:spPr>
          <a:xfrm>
            <a:off x="7924602" y="3413760"/>
            <a:ext cx="3855613" cy="600456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uk-UA" sz="1700" dirty="0">
                <a:solidFill>
                  <a:schemeClr val="tx1"/>
                </a:solidFill>
              </a:rPr>
              <a:t>Швидкість гармати не залежить від швидкості снаряду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3" name="q2_o2"/>
          <p:cNvSpPr/>
          <p:nvPr/>
        </p:nvSpPr>
        <p:spPr>
          <a:xfrm>
            <a:off x="4004981" y="4078224"/>
            <a:ext cx="3855613" cy="740664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Швидкість гармати значно менша за </a:t>
            </a:r>
            <a:r>
              <a:rPr lang="en-US" sz="1700" dirty="0" err="1">
                <a:solidFill>
                  <a:schemeClr val="tx1"/>
                </a:solidFill>
              </a:rPr>
              <a:t>швидкість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снаряда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q2_o3"/>
          <p:cNvSpPr/>
          <p:nvPr/>
        </p:nvSpPr>
        <p:spPr>
          <a:xfrm>
            <a:off x="7924602" y="4078224"/>
            <a:ext cx="3855613" cy="740664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uk-UA" sz="1700" dirty="0">
                <a:solidFill>
                  <a:schemeClr val="tx1"/>
                </a:solidFill>
              </a:rPr>
              <a:t>Якби не закріплення, г</a:t>
            </a:r>
            <a:r>
              <a:rPr lang="en-US" sz="1700" dirty="0" err="1">
                <a:solidFill>
                  <a:schemeClr val="tx1"/>
                </a:solidFill>
              </a:rPr>
              <a:t>армата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руха</a:t>
            </a:r>
            <a:r>
              <a:rPr lang="uk-UA" sz="1700" dirty="0" err="1">
                <a:solidFill>
                  <a:schemeClr val="tx1"/>
                </a:solidFill>
              </a:rPr>
              <a:t>лася</a:t>
            </a:r>
            <a:r>
              <a:rPr lang="uk-UA" sz="1700" dirty="0">
                <a:solidFill>
                  <a:schemeClr val="tx1"/>
                </a:solidFill>
              </a:rPr>
              <a:t> б </a:t>
            </a:r>
            <a:r>
              <a:rPr lang="en-US" sz="1700" dirty="0" err="1">
                <a:solidFill>
                  <a:schemeClr val="tx1"/>
                </a:solidFill>
              </a:rPr>
              <a:t>швидше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q2_ans"/>
          <p:cNvSpPr/>
          <p:nvPr/>
        </p:nvSpPr>
        <p:spPr>
          <a:xfrm>
            <a:off x="4004981" y="4078224"/>
            <a:ext cx="3855613" cy="740664"/>
          </a:xfrm>
          <a:prstGeom prst="roundRect">
            <a:avLst>
              <a:gd name="adj" fmla="val 590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C) Швидкість гармати значно менша за </a:t>
            </a:r>
            <a:r>
              <a:rPr lang="en-US" sz="1700" b="1" dirty="0" err="1">
                <a:solidFill>
                  <a:schemeClr val="bg1"/>
                </a:solidFill>
              </a:rPr>
              <a:t>швидкість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снаряда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16" name="q3_q"/>
          <p:cNvSpPr/>
          <p:nvPr/>
        </p:nvSpPr>
        <p:spPr>
          <a:xfrm>
            <a:off x="411480" y="5007864"/>
            <a:ext cx="11368735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Знайдіть та виправте помилку: середньоквадратична швидкість молекул прямо пропорційна температурі.</a:t>
            </a:r>
            <a:endParaRPr lang="en-US" sz="1700" dirty="0"/>
          </a:p>
        </p:txBody>
      </p:sp>
      <p:sp>
        <p:nvSpPr>
          <p:cNvPr id="17" name="q3_o0"/>
          <p:cNvSpPr/>
          <p:nvPr/>
        </p:nvSpPr>
        <p:spPr>
          <a:xfrm>
            <a:off x="411480" y="5483352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Вона прямо </a:t>
            </a:r>
            <a:r>
              <a:rPr lang="en-US" sz="1700" dirty="0" err="1">
                <a:solidFill>
                  <a:schemeClr val="tx1"/>
                </a:solidFill>
              </a:rPr>
              <a:t>пропорційна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квадратному кореню з </a:t>
            </a:r>
            <a:r>
              <a:rPr lang="en-US" sz="1700" dirty="0" err="1">
                <a:solidFill>
                  <a:schemeClr val="tx1"/>
                </a:solidFill>
              </a:rPr>
              <a:t>температури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8" name="q3_o1"/>
          <p:cNvSpPr/>
          <p:nvPr/>
        </p:nvSpPr>
        <p:spPr>
          <a:xfrm>
            <a:off x="6127852" y="5483352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Вона обернено пропорційна T.</a:t>
            </a:r>
            <a:endParaRPr lang="en-US" sz="1700" dirty="0"/>
          </a:p>
        </p:txBody>
      </p:sp>
      <p:sp>
        <p:nvSpPr>
          <p:cNvPr id="19" name="q3_o2"/>
          <p:cNvSpPr/>
          <p:nvPr/>
        </p:nvSpPr>
        <p:spPr>
          <a:xfrm>
            <a:off x="411480" y="621792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Вона не залежить від T.</a:t>
            </a:r>
            <a:endParaRPr lang="en-US" sz="1700" dirty="0"/>
          </a:p>
        </p:txBody>
      </p:sp>
      <p:sp>
        <p:nvSpPr>
          <p:cNvPr id="20" name="q3_o3"/>
          <p:cNvSpPr/>
          <p:nvPr/>
        </p:nvSpPr>
        <p:spPr>
          <a:xfrm>
            <a:off x="6127852" y="621792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Помилки немає.</a:t>
            </a:r>
            <a:endParaRPr lang="en-US" sz="1700" dirty="0"/>
          </a:p>
        </p:txBody>
      </p:sp>
      <p:sp>
        <p:nvSpPr>
          <p:cNvPr id="21" name="q3_ans"/>
          <p:cNvSpPr/>
          <p:nvPr/>
        </p:nvSpPr>
        <p:spPr>
          <a:xfrm>
            <a:off x="428396" y="5477256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A) Вона прямо </a:t>
            </a:r>
            <a:r>
              <a:rPr lang="en-US" sz="1700" b="1" dirty="0" err="1">
                <a:solidFill>
                  <a:schemeClr val="bg1"/>
                </a:solidFill>
              </a:rPr>
              <a:t>пропорційна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uk-UA" sz="1700" b="1" dirty="0">
                <a:solidFill>
                  <a:schemeClr val="bg1"/>
                </a:solidFill>
              </a:rPr>
              <a:t>квадратному кореню з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температури</a:t>
            </a:r>
            <a:r>
              <a:rPr lang="uk-UA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24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«Якщо тіло рухається рівномірно, на нього взагалі не діють сили». Чи правильне це твердження?</a:t>
            </a:r>
            <a:endParaRPr lang="en-US" sz="19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Яку роботу треба виконати, щоб швидкість тіла масою m збільшилася від v</a:t>
            </a:r>
            <a:r>
              <a:rPr lang="en-US" sz="1900" b="1" baseline="-40000" dirty="0">
                <a:solidFill>
                  <a:schemeClr val="tx1"/>
                </a:solidFill>
              </a:rPr>
              <a:t>1</a:t>
            </a:r>
            <a:r>
              <a:rPr lang="en-US" sz="1900" b="1" dirty="0">
                <a:solidFill>
                  <a:schemeClr val="tx1"/>
                </a:solidFill>
              </a:rPr>
              <a:t> до v</a:t>
            </a:r>
            <a:r>
              <a:rPr lang="en-US" sz="1900" b="1" baseline="-40000" dirty="0">
                <a:solidFill>
                  <a:schemeClr val="tx1"/>
                </a:solidFill>
              </a:rPr>
              <a:t>2</a:t>
            </a:r>
            <a:r>
              <a:rPr lang="en-US" sz="1900" b="1" dirty="0">
                <a:solidFill>
                  <a:schemeClr val="tx1"/>
                </a:solidFill>
              </a:rPr>
              <a:t> за відсутності тертя?</a:t>
            </a:r>
            <a:endParaRPr lang="en-US" sz="1900" dirty="0"/>
          </a:p>
        </p:txBody>
      </p:sp>
      <p:sp>
        <p:nvSpPr>
          <p:cNvPr id="10" name="q2_o0"/>
          <p:cNvSpPr/>
          <p:nvPr/>
        </p:nvSpPr>
        <p:spPr>
          <a:xfrm>
            <a:off x="4268114" y="2243328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/>
              <a:t>A = (1/2) m (v</a:t>
            </a:r>
            <a:r>
              <a:rPr lang="en-US" sz="1900" baseline="-40000" dirty="0"/>
              <a:t>2</a:t>
            </a:r>
            <a:r>
              <a:rPr lang="en-US" sz="1900" dirty="0"/>
              <a:t>² </a:t>
            </a:r>
            <a:r>
              <a:rPr lang="uk-UA" sz="1900" dirty="0"/>
              <a:t>+</a:t>
            </a:r>
            <a:r>
              <a:rPr lang="en-US" sz="1900" dirty="0"/>
              <a:t> v</a:t>
            </a:r>
            <a:r>
              <a:rPr lang="en-US" sz="1900" baseline="-40000" dirty="0"/>
              <a:t>1</a:t>
            </a:r>
            <a:r>
              <a:rPr lang="en-US" sz="1900" dirty="0"/>
              <a:t>²)</a:t>
            </a:r>
          </a:p>
        </p:txBody>
      </p:sp>
      <p:sp>
        <p:nvSpPr>
          <p:cNvPr id="11" name="q2_o1"/>
          <p:cNvSpPr/>
          <p:nvPr/>
        </p:nvSpPr>
        <p:spPr>
          <a:xfrm>
            <a:off x="4268114" y="274929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A = (1/2) m (v</a:t>
            </a:r>
            <a:r>
              <a:rPr lang="en-US" sz="1900" baseline="-40000" dirty="0">
                <a:solidFill>
                  <a:schemeClr val="tx1"/>
                </a:solidFill>
              </a:rPr>
              <a:t>2</a:t>
            </a:r>
            <a:r>
              <a:rPr lang="en-US" sz="1900" dirty="0">
                <a:solidFill>
                  <a:schemeClr val="tx1"/>
                </a:solidFill>
              </a:rPr>
              <a:t>² - v</a:t>
            </a:r>
            <a:r>
              <a:rPr lang="en-US" sz="1900" baseline="-40000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²)</a:t>
            </a:r>
            <a:endParaRPr lang="en-US" sz="1900" dirty="0"/>
          </a:p>
        </p:txBody>
      </p:sp>
      <p:sp>
        <p:nvSpPr>
          <p:cNvPr id="12" name="q2_o2"/>
          <p:cNvSpPr/>
          <p:nvPr/>
        </p:nvSpPr>
        <p:spPr>
          <a:xfrm>
            <a:off x="4268114" y="325526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A = (1/2) m (v</a:t>
            </a:r>
            <a:r>
              <a:rPr lang="en-US" sz="1900" baseline="-40000" dirty="0">
                <a:solidFill>
                  <a:schemeClr val="tx1"/>
                </a:solidFill>
              </a:rPr>
              <a:t>2</a:t>
            </a:r>
            <a:r>
              <a:rPr lang="en-US" sz="1900" dirty="0">
                <a:solidFill>
                  <a:schemeClr val="tx1"/>
                </a:solidFill>
              </a:rPr>
              <a:t> - v</a:t>
            </a:r>
            <a:r>
              <a:rPr lang="en-US" sz="1900" baseline="-40000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)²</a:t>
            </a:r>
            <a:endParaRPr lang="en-US" sz="1900" dirty="0"/>
          </a:p>
        </p:txBody>
      </p:sp>
      <p:sp>
        <p:nvSpPr>
          <p:cNvPr id="13" name="q2_o3"/>
          <p:cNvSpPr/>
          <p:nvPr/>
        </p:nvSpPr>
        <p:spPr>
          <a:xfrm>
            <a:off x="4268114" y="3761232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A = m g h</a:t>
            </a:r>
            <a:endParaRPr lang="en-US" sz="1900" dirty="0"/>
          </a:p>
        </p:txBody>
      </p:sp>
      <p:sp>
        <p:nvSpPr>
          <p:cNvPr id="14" name="q2_ans"/>
          <p:cNvSpPr/>
          <p:nvPr/>
        </p:nvSpPr>
        <p:spPr>
          <a:xfrm>
            <a:off x="4268114" y="274929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B) A = (1/2) m (v</a:t>
            </a:r>
            <a:r>
              <a:rPr lang="en-US" sz="1900" b="1" baseline="-40000" dirty="0">
                <a:solidFill>
                  <a:schemeClr val="bg1"/>
                </a:solidFill>
              </a:rPr>
              <a:t>2</a:t>
            </a:r>
            <a:r>
              <a:rPr lang="en-US" sz="1900" b="1" dirty="0">
                <a:solidFill>
                  <a:schemeClr val="bg1"/>
                </a:solidFill>
              </a:rPr>
              <a:t>² - v</a:t>
            </a:r>
            <a:r>
              <a:rPr lang="en-US" sz="1900" b="1" baseline="-40000" dirty="0">
                <a:solidFill>
                  <a:schemeClr val="bg1"/>
                </a:solidFill>
              </a:rPr>
              <a:t>1</a:t>
            </a:r>
            <a:r>
              <a:rPr lang="en-US" sz="1900" b="1" dirty="0">
                <a:solidFill>
                  <a:schemeClr val="bg1"/>
                </a:solidFill>
              </a:rPr>
              <a:t>²)</a:t>
            </a:r>
            <a:endParaRPr lang="en-US" sz="19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Знайдіть та виправте помилку: площа під кривою розподілу Максвелла збільшується при нагріванні газу.</a:t>
            </a:r>
            <a:endParaRPr lang="en-US" sz="1900" dirty="0"/>
          </a:p>
        </p:txBody>
      </p:sp>
      <p:sp>
        <p:nvSpPr>
          <p:cNvPr id="16" name="q3_o0"/>
          <p:cNvSpPr/>
          <p:nvPr/>
        </p:nvSpPr>
        <p:spPr>
          <a:xfrm>
            <a:off x="8124749" y="2532888"/>
            <a:ext cx="3655466" cy="896112"/>
          </a:xfrm>
          <a:prstGeom prst="roundRect">
            <a:avLst>
              <a:gd name="adj" fmla="val 290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Площа під кривою розподілу дорівнює </a:t>
            </a:r>
            <a:r>
              <a:rPr lang="en-US" sz="1900" dirty="0" err="1">
                <a:solidFill>
                  <a:schemeClr val="tx1"/>
                </a:solidFill>
              </a:rPr>
              <a:t>повній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ймовірності</a:t>
            </a:r>
            <a:r>
              <a:rPr lang="en-US" sz="1900" dirty="0">
                <a:solidFill>
                  <a:schemeClr val="tx1"/>
                </a:solidFill>
              </a:rPr>
              <a:t> і </a:t>
            </a:r>
            <a:r>
              <a:rPr lang="en-US" sz="1900" dirty="0" err="1">
                <a:solidFill>
                  <a:schemeClr val="tx1"/>
                </a:solidFill>
              </a:rPr>
              <a:t>залишається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постійною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endParaRPr lang="en-US" sz="1900" dirty="0"/>
          </a:p>
        </p:txBody>
      </p:sp>
      <p:sp>
        <p:nvSpPr>
          <p:cNvPr id="17" name="q3_o1"/>
          <p:cNvSpPr/>
          <p:nvPr/>
        </p:nvSpPr>
        <p:spPr>
          <a:xfrm>
            <a:off x="8124749" y="3525520"/>
            <a:ext cx="3655466" cy="5791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 err="1">
                <a:solidFill>
                  <a:schemeClr val="tx1"/>
                </a:solidFill>
              </a:rPr>
              <a:t>Площа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зменшується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8" name="q3_o2"/>
          <p:cNvSpPr/>
          <p:nvPr/>
        </p:nvSpPr>
        <p:spPr>
          <a:xfrm>
            <a:off x="8124749" y="4225544"/>
            <a:ext cx="3655466" cy="1176528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uk-UA" sz="1900" dirty="0">
                <a:solidFill>
                  <a:schemeClr val="tx1"/>
                </a:solidFill>
              </a:rPr>
              <a:t>Зміна площі залежить ще й від зміни </a:t>
            </a:r>
            <a:r>
              <a:rPr lang="en-US" sz="1900" dirty="0" err="1">
                <a:solidFill>
                  <a:schemeClr val="tx1"/>
                </a:solidFill>
              </a:rPr>
              <a:t>об’єму</a:t>
            </a:r>
            <a:r>
              <a:rPr lang="uk-UA" sz="1900" dirty="0"/>
              <a:t>, який займає газ і тому може як збільшуватися, так і зменшуватися</a:t>
            </a:r>
            <a:endParaRPr lang="en-US" sz="1900" dirty="0"/>
          </a:p>
        </p:txBody>
      </p:sp>
      <p:sp>
        <p:nvSpPr>
          <p:cNvPr id="19" name="q3_o3"/>
          <p:cNvSpPr/>
          <p:nvPr/>
        </p:nvSpPr>
        <p:spPr>
          <a:xfrm>
            <a:off x="8094574" y="5547360"/>
            <a:ext cx="3655466" cy="896112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uk-UA" sz="1900" dirty="0"/>
              <a:t>П</a:t>
            </a:r>
            <a:r>
              <a:rPr lang="uk-UA" sz="1900" dirty="0">
                <a:solidFill>
                  <a:schemeClr val="tx1"/>
                </a:solidFill>
              </a:rPr>
              <a:t>ри нагріванні газу збільшується площа над кривою розподілу Максвела</a:t>
            </a:r>
            <a:endParaRPr lang="en-US" sz="1900" dirty="0"/>
          </a:p>
        </p:txBody>
      </p:sp>
      <p:sp>
        <p:nvSpPr>
          <p:cNvPr id="20" name="q3_ans"/>
          <p:cNvSpPr/>
          <p:nvPr/>
        </p:nvSpPr>
        <p:spPr>
          <a:xfrm>
            <a:off x="8124749" y="2542032"/>
            <a:ext cx="3782771" cy="896112"/>
          </a:xfrm>
          <a:prstGeom prst="roundRect">
            <a:avLst>
              <a:gd name="adj" fmla="val 290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A) Площа під кривою розподілу дорівнює повній </a:t>
            </a:r>
            <a:r>
              <a:rPr lang="en-US" sz="1900" b="1" dirty="0" err="1">
                <a:solidFill>
                  <a:schemeClr val="bg1"/>
                </a:solidFill>
              </a:rPr>
              <a:t>ймовірності</a:t>
            </a:r>
            <a:r>
              <a:rPr lang="en-US" sz="1900" b="1" dirty="0">
                <a:solidFill>
                  <a:schemeClr val="bg1"/>
                </a:solidFill>
              </a:rPr>
              <a:t> і </a:t>
            </a:r>
            <a:r>
              <a:rPr lang="en-US" sz="1900" b="1" dirty="0" err="1">
                <a:solidFill>
                  <a:schemeClr val="bg1"/>
                </a:solidFill>
              </a:rPr>
              <a:t>залишається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постійною</a:t>
            </a:r>
            <a:r>
              <a:rPr lang="en-US" sz="1900" b="1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25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 виглядає графік залежності швидкості від часу v(t) при рівномірному гальмуванні тіла?</a:t>
            </a:r>
            <a:endParaRPr lang="en-US" sz="2000" dirty="0"/>
          </a:p>
        </p:txBody>
      </p:sp>
      <p:sp>
        <p:nvSpPr>
          <p:cNvPr id="4" name="q1_o0"/>
          <p:cNvSpPr/>
          <p:nvPr/>
        </p:nvSpPr>
        <p:spPr>
          <a:xfrm>
            <a:off x="411480" y="23042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Вертикальна лінія.</a:t>
            </a:r>
            <a:endParaRPr lang="en-US" sz="2000" dirty="0"/>
          </a:p>
        </p:txBody>
      </p:sp>
      <p:sp>
        <p:nvSpPr>
          <p:cNvPr id="5" name="q1_o1"/>
          <p:cNvSpPr/>
          <p:nvPr/>
        </p:nvSpPr>
        <p:spPr>
          <a:xfrm>
            <a:off x="411480" y="2825496"/>
            <a:ext cx="3655466" cy="842264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Пряма лінія, що спадає від початкового </a:t>
            </a:r>
            <a:r>
              <a:rPr lang="en-US" sz="2000" dirty="0" err="1">
                <a:solidFill>
                  <a:schemeClr val="tx1"/>
                </a:solidFill>
              </a:rPr>
              <a:t>значення</a:t>
            </a:r>
            <a:r>
              <a:rPr lang="en-US" sz="2000" dirty="0">
                <a:solidFill>
                  <a:schemeClr val="tx1"/>
                </a:solidFill>
              </a:rPr>
              <a:t> v</a:t>
            </a: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endParaRPr lang="en-US" sz="2000" dirty="0"/>
          </a:p>
        </p:txBody>
      </p:sp>
      <p:sp>
        <p:nvSpPr>
          <p:cNvPr id="6" name="q1_o2"/>
          <p:cNvSpPr/>
          <p:nvPr/>
        </p:nvSpPr>
        <p:spPr>
          <a:xfrm>
            <a:off x="411480" y="372567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Горизонтальна пряма.</a:t>
            </a:r>
            <a:endParaRPr lang="en-US" sz="2000" dirty="0"/>
          </a:p>
        </p:txBody>
      </p:sp>
      <p:sp>
        <p:nvSpPr>
          <p:cNvPr id="7" name="q1_o3"/>
          <p:cNvSpPr/>
          <p:nvPr/>
        </p:nvSpPr>
        <p:spPr>
          <a:xfrm>
            <a:off x="411480" y="4246880"/>
            <a:ext cx="3655466" cy="5791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 err="1">
                <a:solidFill>
                  <a:schemeClr val="tx1"/>
                </a:solidFill>
              </a:rPr>
              <a:t>Парабола</a:t>
            </a:r>
            <a:r>
              <a:rPr lang="uk-UA" sz="2000" dirty="0">
                <a:solidFill>
                  <a:schemeClr val="tx1"/>
                </a:solidFill>
              </a:rPr>
              <a:t> вітками вгору</a:t>
            </a:r>
            <a:endParaRPr lang="en-US" sz="2000" dirty="0"/>
          </a:p>
        </p:txBody>
      </p:sp>
      <p:sp>
        <p:nvSpPr>
          <p:cNvPr id="8" name="q1_ans"/>
          <p:cNvSpPr/>
          <p:nvPr/>
        </p:nvSpPr>
        <p:spPr>
          <a:xfrm>
            <a:off x="411480" y="2825496"/>
            <a:ext cx="3655466" cy="842264"/>
          </a:xfrm>
          <a:prstGeom prst="roundRect">
            <a:avLst>
              <a:gd name="adj" fmla="val 514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Пряма лінія, що спадає від початкового </a:t>
            </a:r>
            <a:r>
              <a:rPr lang="en-US" sz="2000" b="1" dirty="0" err="1">
                <a:solidFill>
                  <a:schemeClr val="bg1"/>
                </a:solidFill>
              </a:rPr>
              <a:t>значення</a:t>
            </a:r>
            <a:r>
              <a:rPr lang="en-US" sz="2000" b="1" dirty="0">
                <a:solidFill>
                  <a:schemeClr val="bg1"/>
                </a:solidFill>
              </a:rPr>
              <a:t> v</a:t>
            </a:r>
            <a:r>
              <a:rPr lang="en-US" sz="2000" b="1" baseline="-40000" dirty="0">
                <a:solidFill>
                  <a:schemeClr val="bg1"/>
                </a:solidFill>
              </a:rPr>
              <a:t>0</a:t>
            </a:r>
            <a:endParaRPr lang="en-US" sz="20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Запишіть основне рівняння динаміки обертального руху.</a:t>
            </a:r>
            <a:endParaRPr lang="en-US" sz="2000" dirty="0"/>
          </a:p>
        </p:txBody>
      </p:sp>
      <p:sp>
        <p:nvSpPr>
          <p:cNvPr id="10" name="q2_o0"/>
          <p:cNvSpPr/>
          <p:nvPr/>
        </p:nvSpPr>
        <p:spPr>
          <a:xfrm>
            <a:off x="4268114" y="16946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M = I ε</a:t>
            </a:r>
            <a:endParaRPr lang="en-US" sz="2000" dirty="0"/>
          </a:p>
        </p:txBody>
      </p:sp>
      <p:sp>
        <p:nvSpPr>
          <p:cNvPr id="11" name="q2_o1"/>
          <p:cNvSpPr/>
          <p:nvPr/>
        </p:nvSpPr>
        <p:spPr>
          <a:xfrm>
            <a:off x="4268114" y="22158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p = m v</a:t>
            </a:r>
            <a:endParaRPr lang="en-US" sz="2000" dirty="0"/>
          </a:p>
        </p:txBody>
      </p:sp>
      <p:sp>
        <p:nvSpPr>
          <p:cNvPr id="12" name="q2_o2"/>
          <p:cNvSpPr/>
          <p:nvPr/>
        </p:nvSpPr>
        <p:spPr>
          <a:xfrm>
            <a:off x="4268114" y="273710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L = I ω²</a:t>
            </a:r>
            <a:endParaRPr lang="en-US" sz="2000" dirty="0"/>
          </a:p>
        </p:txBody>
      </p:sp>
      <p:sp>
        <p:nvSpPr>
          <p:cNvPr id="13" name="q2_o3"/>
          <p:cNvSpPr/>
          <p:nvPr/>
        </p:nvSpPr>
        <p:spPr>
          <a:xfrm>
            <a:off x="4268114" y="32583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F = m a</a:t>
            </a:r>
            <a:endParaRPr lang="en-US" sz="2000" dirty="0"/>
          </a:p>
        </p:txBody>
      </p:sp>
      <p:sp>
        <p:nvSpPr>
          <p:cNvPr id="14" name="q2_ans"/>
          <p:cNvSpPr/>
          <p:nvPr/>
        </p:nvSpPr>
        <p:spPr>
          <a:xfrm>
            <a:off x="4268114" y="16946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A) M = I ε</a:t>
            </a:r>
            <a:endParaRPr lang="en-US" sz="20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153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</a:t>
            </a:r>
            <a:r>
              <a:rPr lang="uk-UA" sz="2000" b="1" dirty="0">
                <a:solidFill>
                  <a:schemeClr val="tx1"/>
                </a:solidFill>
              </a:rPr>
              <a:t>робота газу за цикл </a:t>
            </a:r>
            <a:r>
              <a:rPr lang="en-US" sz="2000" b="1" dirty="0" err="1">
                <a:solidFill>
                  <a:schemeClr val="tx1"/>
                </a:solidFill>
              </a:rPr>
              <a:t>завжди</a:t>
            </a:r>
            <a:r>
              <a:rPr lang="en-US" sz="2000" b="1" dirty="0">
                <a:solidFill>
                  <a:schemeClr val="tx1"/>
                </a:solidFill>
              </a:rPr>
              <a:t> дорівнює нулю.</a:t>
            </a:r>
            <a:endParaRPr lang="en-US" sz="2000" dirty="0"/>
          </a:p>
        </p:txBody>
      </p:sp>
      <p:sp>
        <p:nvSpPr>
          <p:cNvPr id="16" name="q3_o0"/>
          <p:cNvSpPr/>
          <p:nvPr/>
        </p:nvSpPr>
        <p:spPr>
          <a:xfrm>
            <a:off x="8124749" y="2126488"/>
            <a:ext cx="3655466" cy="860552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П</a:t>
            </a:r>
            <a:r>
              <a:rPr lang="uk-UA" sz="2000" dirty="0" err="1">
                <a:solidFill>
                  <a:schemeClr val="tx1"/>
                </a:solidFill>
              </a:rPr>
              <a:t>ередана</a:t>
            </a:r>
            <a:r>
              <a:rPr lang="uk-UA" sz="2000" dirty="0">
                <a:solidFill>
                  <a:schemeClr val="tx1"/>
                </a:solidFill>
              </a:rPr>
              <a:t> </a:t>
            </a:r>
            <a:r>
              <a:rPr lang="uk-UA" sz="2000" dirty="0"/>
              <a:t>газу за цикл теплота завжди </a:t>
            </a:r>
            <a:r>
              <a:rPr lang="uk-UA" sz="2000" dirty="0">
                <a:solidFill>
                  <a:schemeClr val="tx1"/>
                </a:solidFill>
              </a:rPr>
              <a:t>дорівнює нулеві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7" name="q3_o1"/>
          <p:cNvSpPr/>
          <p:nvPr/>
        </p:nvSpPr>
        <p:spPr>
          <a:xfrm>
            <a:off x="8124749" y="3130296"/>
            <a:ext cx="3655466" cy="595376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uk-UA" sz="2000" dirty="0">
                <a:solidFill>
                  <a:schemeClr val="tx1"/>
                </a:solidFill>
              </a:rPr>
              <a:t>Робота газу за цикл ніколи не дорівнює нулеві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8" name="q3_o2"/>
          <p:cNvSpPr/>
          <p:nvPr/>
        </p:nvSpPr>
        <p:spPr>
          <a:xfrm>
            <a:off x="8124749" y="3789680"/>
            <a:ext cx="3655466" cy="1145032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uk-UA" sz="2000" dirty="0"/>
              <a:t>З</a:t>
            </a:r>
            <a:r>
              <a:rPr lang="uk-UA" sz="2000" dirty="0">
                <a:solidFill>
                  <a:schemeClr val="tx1"/>
                </a:solidFill>
              </a:rPr>
              <a:t>міна внутрішньої енергії газу за цикл завжди дорівнює нулеві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9" name="q3_o3"/>
          <p:cNvSpPr/>
          <p:nvPr/>
        </p:nvSpPr>
        <p:spPr>
          <a:xfrm>
            <a:off x="8124749" y="4998720"/>
            <a:ext cx="3655466" cy="9906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uk-UA" sz="2000" dirty="0"/>
              <a:t>Робота газу за цикл завжди дорівнює нулеві при ізотермічному процесі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0" name="q3_ans"/>
          <p:cNvSpPr/>
          <p:nvPr/>
        </p:nvSpPr>
        <p:spPr>
          <a:xfrm>
            <a:off x="8124749" y="3789680"/>
            <a:ext cx="3655466" cy="1145032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✓ C) </a:t>
            </a:r>
            <a:r>
              <a:rPr lang="uk-UA" sz="2000" b="1" dirty="0">
                <a:solidFill>
                  <a:schemeClr val="bg1"/>
                </a:solidFill>
              </a:rPr>
              <a:t>Зміна внутрішньої енергії газу за цикл завжди дорівнює нулеві</a:t>
            </a:r>
            <a:r>
              <a:rPr lang="en-US" sz="2000" b="1" dirty="0">
                <a:solidFill>
                  <a:schemeClr val="bg1"/>
                </a:solidFill>
              </a:rPr>
              <a:t>.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26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Запишіть формулу шляху при рівноприскореному русі з нульовою початковою швидкістю (v</a:t>
            </a:r>
            <a:r>
              <a:rPr lang="en-US" sz="2000" b="1" baseline="-40000" dirty="0">
                <a:solidFill>
                  <a:schemeClr val="tx1"/>
                </a:solidFill>
              </a:rPr>
              <a:t>0</a:t>
            </a:r>
            <a:r>
              <a:rPr lang="en-US" sz="2000" b="1" dirty="0">
                <a:solidFill>
                  <a:schemeClr val="tx1"/>
                </a:solidFill>
              </a:rPr>
              <a:t> = 0).</a:t>
            </a:r>
            <a:endParaRPr lang="en-US" sz="2000" dirty="0"/>
          </a:p>
        </p:txBody>
      </p:sp>
      <p:sp>
        <p:nvSpPr>
          <p:cNvPr id="4" name="q1_o0"/>
          <p:cNvSpPr/>
          <p:nvPr/>
        </p:nvSpPr>
        <p:spPr>
          <a:xfrm>
            <a:off x="411480" y="23042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S = v t</a:t>
            </a:r>
            <a:endParaRPr lang="en-US" sz="2000" dirty="0"/>
          </a:p>
        </p:txBody>
      </p:sp>
      <p:sp>
        <p:nvSpPr>
          <p:cNvPr id="5" name="q1_o1"/>
          <p:cNvSpPr/>
          <p:nvPr/>
        </p:nvSpPr>
        <p:spPr>
          <a:xfrm>
            <a:off x="411480" y="2825496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S = a t</a:t>
            </a:r>
            <a:endParaRPr lang="en-US" sz="2000" dirty="0"/>
          </a:p>
        </p:txBody>
      </p:sp>
      <p:sp>
        <p:nvSpPr>
          <p:cNvPr id="6" name="q1_o2"/>
          <p:cNvSpPr/>
          <p:nvPr/>
        </p:nvSpPr>
        <p:spPr>
          <a:xfrm>
            <a:off x="411480" y="334670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S = (v t²) / 2</a:t>
            </a:r>
            <a:endParaRPr lang="en-US" sz="2000" dirty="0"/>
          </a:p>
        </p:txBody>
      </p:sp>
      <p:sp>
        <p:nvSpPr>
          <p:cNvPr id="7" name="q1_o3"/>
          <p:cNvSpPr/>
          <p:nvPr/>
        </p:nvSpPr>
        <p:spPr>
          <a:xfrm>
            <a:off x="411480" y="38679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S = (a t²) / 2</a:t>
            </a:r>
            <a:endParaRPr lang="en-US" sz="2000" dirty="0"/>
          </a:p>
        </p:txBody>
      </p:sp>
      <p:sp>
        <p:nvSpPr>
          <p:cNvPr id="8" name="q1_ans"/>
          <p:cNvSpPr/>
          <p:nvPr/>
        </p:nvSpPr>
        <p:spPr>
          <a:xfrm>
            <a:off x="411480" y="3867912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D) S = (a t²) / 2</a:t>
            </a:r>
            <a:endParaRPr lang="en-US" sz="2000" dirty="0"/>
          </a:p>
        </p:txBody>
      </p:sp>
      <p:sp>
        <p:nvSpPr>
          <p:cNvPr id="9" name="q2_q"/>
          <p:cNvSpPr/>
          <p:nvPr/>
        </p:nvSpPr>
        <p:spPr>
          <a:xfrm>
            <a:off x="4268114" y="868680"/>
            <a:ext cx="3655466" cy="1676400"/>
          </a:xfrm>
          <a:prstGeom prst="roundRect">
            <a:avLst>
              <a:gd name="adj" fmla="val 327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Знайдіть та виправте помилку: якщо швидкість тіла збільшилася вдвічі, його кінетична енергія збільшилася вдвічі.</a:t>
            </a:r>
            <a:endParaRPr lang="en-US" sz="2000" dirty="0"/>
          </a:p>
        </p:txBody>
      </p:sp>
      <p:sp>
        <p:nvSpPr>
          <p:cNvPr id="10" name="q2_o0"/>
          <p:cNvSpPr/>
          <p:nvPr/>
        </p:nvSpPr>
        <p:spPr>
          <a:xfrm>
            <a:off x="4268114" y="2609088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Вона зростає в 8 разів.</a:t>
            </a:r>
            <a:endParaRPr lang="en-US" sz="2000" dirty="0"/>
          </a:p>
        </p:txBody>
      </p:sp>
      <p:sp>
        <p:nvSpPr>
          <p:cNvPr id="11" name="q2_o1"/>
          <p:cNvSpPr/>
          <p:nvPr/>
        </p:nvSpPr>
        <p:spPr>
          <a:xfrm>
            <a:off x="4268114" y="3130296"/>
            <a:ext cx="3655466" cy="45720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Вона зростає в 4 </a:t>
            </a:r>
            <a:r>
              <a:rPr lang="en-US" sz="2000" dirty="0" err="1">
                <a:solidFill>
                  <a:schemeClr val="tx1"/>
                </a:solidFill>
              </a:rPr>
              <a:t>рази</a:t>
            </a:r>
            <a:r>
              <a:rPr lang="uk-UA" sz="2000" dirty="0"/>
              <a:t>.</a:t>
            </a:r>
            <a:endParaRPr lang="en-US" sz="2000" dirty="0"/>
          </a:p>
        </p:txBody>
      </p:sp>
      <p:sp>
        <p:nvSpPr>
          <p:cNvPr id="12" name="q2_o2"/>
          <p:cNvSpPr/>
          <p:nvPr/>
        </p:nvSpPr>
        <p:spPr>
          <a:xfrm>
            <a:off x="4253027" y="3677920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 err="1">
                <a:solidFill>
                  <a:schemeClr val="tx1"/>
                </a:solidFill>
              </a:rPr>
              <a:t>Вона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зростає в 0,5 разів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3" name="q2_o3"/>
          <p:cNvSpPr/>
          <p:nvPr/>
        </p:nvSpPr>
        <p:spPr>
          <a:xfrm>
            <a:off x="4268114" y="4225544"/>
            <a:ext cx="3655466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en-US" sz="2000" dirty="0">
                <a:solidFill>
                  <a:schemeClr val="tx1"/>
                </a:solidFill>
              </a:rPr>
              <a:t>Помилки немає.</a:t>
            </a:r>
            <a:endParaRPr lang="en-US" sz="2000" dirty="0"/>
          </a:p>
        </p:txBody>
      </p:sp>
      <p:sp>
        <p:nvSpPr>
          <p:cNvPr id="14" name="q2_ans"/>
          <p:cNvSpPr/>
          <p:nvPr/>
        </p:nvSpPr>
        <p:spPr>
          <a:xfrm>
            <a:off x="4268114" y="3146552"/>
            <a:ext cx="3655466" cy="440944"/>
          </a:xfrm>
          <a:prstGeom prst="roundRect">
            <a:avLst>
              <a:gd name="adj" fmla="val 514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Вона зростає в 4 </a:t>
            </a:r>
            <a:r>
              <a:rPr lang="en-US" sz="2000" b="1" dirty="0" err="1">
                <a:solidFill>
                  <a:schemeClr val="bg1"/>
                </a:solidFill>
              </a:rPr>
              <a:t>рази</a:t>
            </a:r>
            <a:r>
              <a:rPr lang="uk-UA" sz="2000" b="1" dirty="0">
                <a:solidFill>
                  <a:schemeClr val="bg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q3_q"/>
          <p:cNvSpPr/>
          <p:nvPr/>
        </p:nvSpPr>
        <p:spPr>
          <a:xfrm>
            <a:off x="8124749" y="868680"/>
            <a:ext cx="3655466" cy="1066800"/>
          </a:xfrm>
          <a:prstGeom prst="roundRect">
            <a:avLst>
              <a:gd name="adj" fmla="val 514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Як змінюється форма кривої розподілу Максвелла при підвищенні температури?</a:t>
            </a:r>
            <a:endParaRPr lang="en-US" sz="2000" dirty="0"/>
          </a:p>
        </p:txBody>
      </p:sp>
      <p:sp>
        <p:nvSpPr>
          <p:cNvPr id="16" name="q3_o0"/>
          <p:cNvSpPr/>
          <p:nvPr/>
        </p:nvSpPr>
        <p:spPr>
          <a:xfrm>
            <a:off x="8124749" y="1999488"/>
            <a:ext cx="3655466" cy="6096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A) </a:t>
            </a:r>
            <a:r>
              <a:rPr lang="en-US" sz="2000" dirty="0">
                <a:solidFill>
                  <a:schemeClr val="tx1"/>
                </a:solidFill>
              </a:rPr>
              <a:t>Форма кривої не змінюється.</a:t>
            </a:r>
            <a:endParaRPr lang="en-US" sz="2000" dirty="0"/>
          </a:p>
        </p:txBody>
      </p:sp>
      <p:sp>
        <p:nvSpPr>
          <p:cNvPr id="17" name="q3_o1"/>
          <p:cNvSpPr/>
          <p:nvPr/>
        </p:nvSpPr>
        <p:spPr>
          <a:xfrm>
            <a:off x="8124749" y="2681732"/>
            <a:ext cx="3655466" cy="905764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B) </a:t>
            </a:r>
            <a:r>
              <a:rPr lang="en-US" sz="2000" dirty="0">
                <a:solidFill>
                  <a:schemeClr val="tx1"/>
                </a:solidFill>
              </a:rPr>
              <a:t>Максимум кривої </a:t>
            </a:r>
            <a:r>
              <a:rPr lang="en-US" sz="2000" dirty="0" err="1">
                <a:solidFill>
                  <a:schemeClr val="tx1"/>
                </a:solidFill>
              </a:rPr>
              <a:t>зміщується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вправо</a:t>
            </a:r>
            <a:r>
              <a:rPr lang="uk-UA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крива</a:t>
            </a:r>
            <a:r>
              <a:rPr lang="en-US" sz="2000" dirty="0">
                <a:solidFill>
                  <a:schemeClr val="tx1"/>
                </a:solidFill>
              </a:rPr>
              <a:t> стає ширшою.</a:t>
            </a:r>
            <a:endParaRPr lang="en-US" sz="2000" dirty="0"/>
          </a:p>
        </p:txBody>
      </p:sp>
      <p:sp>
        <p:nvSpPr>
          <p:cNvPr id="18" name="q3_o2"/>
          <p:cNvSpPr/>
          <p:nvPr/>
        </p:nvSpPr>
        <p:spPr>
          <a:xfrm>
            <a:off x="8124749" y="3696208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C) </a:t>
            </a:r>
            <a:r>
              <a:rPr lang="en-US" sz="2000" dirty="0">
                <a:solidFill>
                  <a:schemeClr val="tx1"/>
                </a:solidFill>
              </a:rPr>
              <a:t>Крива зміщується вліво і стає вищою.</a:t>
            </a:r>
            <a:endParaRPr lang="en-US" sz="2000" dirty="0"/>
          </a:p>
        </p:txBody>
      </p:sp>
      <p:sp>
        <p:nvSpPr>
          <p:cNvPr id="19" name="q3_o3"/>
          <p:cNvSpPr/>
          <p:nvPr/>
        </p:nvSpPr>
        <p:spPr>
          <a:xfrm>
            <a:off x="8124749" y="4564888"/>
            <a:ext cx="3655466" cy="762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D) </a:t>
            </a:r>
            <a:r>
              <a:rPr lang="uk-UA" sz="2000" dirty="0">
                <a:solidFill>
                  <a:schemeClr val="tx1"/>
                </a:solidFill>
              </a:rPr>
              <a:t>Збільшується кількість максимумів на кривій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0" name="q3_ans"/>
          <p:cNvSpPr/>
          <p:nvPr/>
        </p:nvSpPr>
        <p:spPr>
          <a:xfrm>
            <a:off x="8124749" y="2675128"/>
            <a:ext cx="3655466" cy="914400"/>
          </a:xfrm>
          <a:prstGeom prst="roundRect">
            <a:avLst>
              <a:gd name="adj" fmla="val 327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 B) </a:t>
            </a:r>
            <a:r>
              <a:rPr lang="en-US" sz="2000" b="1" dirty="0" err="1">
                <a:solidFill>
                  <a:schemeClr val="bg1"/>
                </a:solidFill>
              </a:rPr>
              <a:t>Максимум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кривої</a:t>
            </a:r>
            <a:r>
              <a:rPr lang="uk-UA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зміщується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вправо</a:t>
            </a:r>
            <a:r>
              <a:rPr lang="uk-UA" sz="2000" b="1" dirty="0">
                <a:solidFill>
                  <a:schemeClr val="bg1"/>
                </a:solidFill>
              </a:rPr>
              <a:t>,</a:t>
            </a:r>
            <a:r>
              <a:rPr lang="en-US" sz="2000" b="1" dirty="0">
                <a:solidFill>
                  <a:schemeClr val="bg1"/>
                </a:solidFill>
              </a:rPr>
              <a:t> крива стає ширшою.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27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5" y="868680"/>
            <a:ext cx="3264555" cy="1737360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11480" y="2670048"/>
            <a:ext cx="3655466" cy="1112520"/>
          </a:xfrm>
          <a:prstGeom prst="roundRect">
            <a:avLst>
              <a:gd name="adj" fmla="val 493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Вкажіть усі сили, що діють на тіло, яке знаходиться на похилій площині.</a:t>
            </a:r>
            <a:endParaRPr lang="en-US" sz="2100" dirty="0"/>
          </a:p>
        </p:txBody>
      </p:sp>
      <p:sp>
        <p:nvSpPr>
          <p:cNvPr id="10" name="q2_q"/>
          <p:cNvSpPr/>
          <p:nvPr/>
        </p:nvSpPr>
        <p:spPr>
          <a:xfrm>
            <a:off x="4268114" y="868680"/>
            <a:ext cx="3655466" cy="1432560"/>
          </a:xfrm>
          <a:prstGeom prst="roundRect">
            <a:avLst>
              <a:gd name="adj" fmla="val 383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Знайдіть та виправте помилку: момент інерції тіла залежить тільки від його маси.</a:t>
            </a:r>
            <a:endParaRPr lang="en-US" sz="2100" dirty="0"/>
          </a:p>
        </p:txBody>
      </p:sp>
      <p:sp>
        <p:nvSpPr>
          <p:cNvPr id="11" name="q2_o0"/>
          <p:cNvSpPr/>
          <p:nvPr/>
        </p:nvSpPr>
        <p:spPr>
          <a:xfrm>
            <a:off x="4268114" y="2365248"/>
            <a:ext cx="3655466" cy="79248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A) </a:t>
            </a:r>
            <a:r>
              <a:rPr lang="en-US" sz="2100" dirty="0">
                <a:solidFill>
                  <a:schemeClr val="tx1"/>
                </a:solidFill>
              </a:rPr>
              <a:t>Він </a:t>
            </a:r>
            <a:r>
              <a:rPr lang="en-US" sz="2100" dirty="0" err="1">
                <a:solidFill>
                  <a:schemeClr val="tx1"/>
                </a:solidFill>
              </a:rPr>
              <a:t>залежить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uk-UA" sz="2100" dirty="0">
                <a:solidFill>
                  <a:schemeClr val="tx1"/>
                </a:solidFill>
              </a:rPr>
              <a:t>ще й </a:t>
            </a:r>
            <a:r>
              <a:rPr lang="en-US" sz="2100" dirty="0" err="1">
                <a:solidFill>
                  <a:schemeClr val="tx1"/>
                </a:solidFill>
              </a:rPr>
              <a:t>від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uk-UA" sz="2100" dirty="0">
                <a:solidFill>
                  <a:schemeClr val="tx1"/>
                </a:solidFill>
              </a:rPr>
              <a:t>кутової швидкості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2" name="q2_o1"/>
          <p:cNvSpPr/>
          <p:nvPr/>
        </p:nvSpPr>
        <p:spPr>
          <a:xfrm>
            <a:off x="4268114" y="3221736"/>
            <a:ext cx="3655466" cy="1112520"/>
          </a:xfrm>
          <a:prstGeom prst="roundRect">
            <a:avLst>
              <a:gd name="adj" fmla="val 493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B) </a:t>
            </a:r>
            <a:r>
              <a:rPr lang="en-US" sz="2100" dirty="0">
                <a:solidFill>
                  <a:schemeClr val="tx1"/>
                </a:solidFill>
              </a:rPr>
              <a:t>Він залежить від маси та її розподілу відносно </a:t>
            </a:r>
            <a:r>
              <a:rPr lang="en-US" sz="2100" dirty="0" err="1">
                <a:solidFill>
                  <a:schemeClr val="tx1"/>
                </a:solidFill>
              </a:rPr>
              <a:t>осі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en-US" sz="2100" dirty="0" err="1">
                <a:solidFill>
                  <a:schemeClr val="tx1"/>
                </a:solidFill>
              </a:rPr>
              <a:t>обертання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3" name="q2_o2"/>
          <p:cNvSpPr/>
          <p:nvPr/>
        </p:nvSpPr>
        <p:spPr>
          <a:xfrm>
            <a:off x="4268114" y="4398264"/>
            <a:ext cx="3655466" cy="47244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C) </a:t>
            </a:r>
            <a:r>
              <a:rPr lang="uk-UA" sz="2100" dirty="0">
                <a:solidFill>
                  <a:schemeClr val="tx1"/>
                </a:solidFill>
              </a:rPr>
              <a:t>Він не залежить від маси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4" name="q2_o3"/>
          <p:cNvSpPr/>
          <p:nvPr/>
        </p:nvSpPr>
        <p:spPr>
          <a:xfrm>
            <a:off x="4268114" y="4934712"/>
            <a:ext cx="3655466" cy="79248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D) </a:t>
            </a:r>
            <a:r>
              <a:rPr lang="en-US" sz="2100" dirty="0">
                <a:solidFill>
                  <a:schemeClr val="tx1"/>
                </a:solidFill>
              </a:rPr>
              <a:t>Він залежить </a:t>
            </a:r>
            <a:r>
              <a:rPr lang="en-US" sz="2100" dirty="0" err="1">
                <a:solidFill>
                  <a:schemeClr val="tx1"/>
                </a:solidFill>
              </a:rPr>
              <a:t>від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  <a:r>
              <a:rPr lang="uk-UA" sz="2100" dirty="0">
                <a:solidFill>
                  <a:schemeClr val="tx1"/>
                </a:solidFill>
              </a:rPr>
              <a:t>маси та сили, що діє на тіло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5" name="q2_ans"/>
          <p:cNvSpPr/>
          <p:nvPr/>
        </p:nvSpPr>
        <p:spPr>
          <a:xfrm>
            <a:off x="4268114" y="3221736"/>
            <a:ext cx="3655466" cy="1112520"/>
          </a:xfrm>
          <a:prstGeom prst="roundRect">
            <a:avLst>
              <a:gd name="adj" fmla="val 493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✓ B) Він залежить від маси та її розподілу відносно </a:t>
            </a:r>
            <a:r>
              <a:rPr lang="en-US" sz="2100" b="1" dirty="0" err="1">
                <a:solidFill>
                  <a:schemeClr val="bg1"/>
                </a:solidFill>
              </a:rPr>
              <a:t>осі</a:t>
            </a:r>
            <a:r>
              <a:rPr lang="en-US" sz="2100" b="1" dirty="0">
                <a:solidFill>
                  <a:schemeClr val="bg1"/>
                </a:solidFill>
              </a:rPr>
              <a:t> </a:t>
            </a:r>
            <a:r>
              <a:rPr lang="en-US" sz="2100" b="1" dirty="0" err="1">
                <a:solidFill>
                  <a:schemeClr val="bg1"/>
                </a:solidFill>
              </a:rPr>
              <a:t>обертання</a:t>
            </a:r>
            <a:r>
              <a:rPr lang="uk-UA" sz="2100" b="1" dirty="0">
                <a:solidFill>
                  <a:schemeClr val="bg1"/>
                </a:solidFill>
              </a:rPr>
              <a:t>.</a:t>
            </a:r>
            <a:endParaRPr lang="en-US" sz="21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1432560"/>
          </a:xfrm>
          <a:prstGeom prst="roundRect">
            <a:avLst>
              <a:gd name="adj" fmla="val 383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Для ізотермічного розширення студент записав: ΔU &gt; 0. Чи правильна його відповідь?</a:t>
            </a:r>
            <a:endParaRPr lang="en-US" sz="2100" dirty="0"/>
          </a:p>
        </p:txBody>
      </p:sp>
      <p:sp>
        <p:nvSpPr>
          <p:cNvPr id="17" name="q3_o0"/>
          <p:cNvSpPr/>
          <p:nvPr/>
        </p:nvSpPr>
        <p:spPr>
          <a:xfrm>
            <a:off x="8124749" y="2365248"/>
            <a:ext cx="3655466" cy="79248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A) </a:t>
            </a:r>
            <a:r>
              <a:rPr lang="en-US" sz="2100" dirty="0">
                <a:solidFill>
                  <a:schemeClr val="tx1"/>
                </a:solidFill>
              </a:rPr>
              <a:t>Так, </a:t>
            </a:r>
            <a:r>
              <a:rPr lang="uk-UA" sz="2100" dirty="0">
                <a:solidFill>
                  <a:schemeClr val="tx1"/>
                </a:solidFill>
              </a:rPr>
              <a:t>внутрішня енергія завжди зростає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18" name="q3_o1"/>
          <p:cNvSpPr/>
          <p:nvPr/>
        </p:nvSpPr>
        <p:spPr>
          <a:xfrm>
            <a:off x="8124749" y="3221736"/>
            <a:ext cx="3655466" cy="1112520"/>
          </a:xfrm>
          <a:prstGeom prst="roundRect">
            <a:avLst>
              <a:gd name="adj" fmla="val 493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B) </a:t>
            </a:r>
            <a:r>
              <a:rPr lang="en-US" sz="2100" dirty="0">
                <a:solidFill>
                  <a:schemeClr val="tx1"/>
                </a:solidFill>
              </a:rPr>
              <a:t>Ні, при ізотермічному процесі T = const, тому ΔU = 0.</a:t>
            </a:r>
            <a:endParaRPr lang="en-US" sz="2100" dirty="0"/>
          </a:p>
        </p:txBody>
      </p:sp>
      <p:sp>
        <p:nvSpPr>
          <p:cNvPr id="19" name="q3_o2"/>
          <p:cNvSpPr/>
          <p:nvPr/>
        </p:nvSpPr>
        <p:spPr>
          <a:xfrm>
            <a:off x="8124749" y="4398264"/>
            <a:ext cx="3655466" cy="79248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C) </a:t>
            </a:r>
            <a:r>
              <a:rPr lang="en-US" sz="2100" dirty="0">
                <a:solidFill>
                  <a:schemeClr val="tx1"/>
                </a:solidFill>
              </a:rPr>
              <a:t>Ні, ΔU має бути від'ємним.</a:t>
            </a:r>
            <a:endParaRPr lang="en-US" sz="2100" dirty="0"/>
          </a:p>
        </p:txBody>
      </p:sp>
      <p:sp>
        <p:nvSpPr>
          <p:cNvPr id="20" name="q3_o3"/>
          <p:cNvSpPr/>
          <p:nvPr/>
        </p:nvSpPr>
        <p:spPr>
          <a:xfrm>
            <a:off x="8124749" y="5254752"/>
            <a:ext cx="3655466" cy="79248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D) </a:t>
            </a:r>
            <a:r>
              <a:rPr lang="en-US" sz="2100" dirty="0">
                <a:solidFill>
                  <a:schemeClr val="tx1"/>
                </a:solidFill>
              </a:rPr>
              <a:t>Так, оскільки об'єм зростає.</a:t>
            </a:r>
            <a:endParaRPr lang="en-US" sz="2100" dirty="0"/>
          </a:p>
        </p:txBody>
      </p:sp>
      <p:sp>
        <p:nvSpPr>
          <p:cNvPr id="21" name="q3_ans"/>
          <p:cNvSpPr/>
          <p:nvPr/>
        </p:nvSpPr>
        <p:spPr>
          <a:xfrm>
            <a:off x="8124749" y="3221736"/>
            <a:ext cx="3655466" cy="1112520"/>
          </a:xfrm>
          <a:prstGeom prst="roundRect">
            <a:avLst>
              <a:gd name="adj" fmla="val 493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✓ B) Ні, при ізотермічному процесі T = const, тому ΔU = 0.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28</a:t>
            </a:r>
            <a:endParaRPr lang="en-US" sz="2600" dirty="0"/>
          </a:p>
        </p:txBody>
      </p:sp>
      <p:sp>
        <p:nvSpPr>
          <p:cNvPr id="3" name="q1_q"/>
          <p:cNvSpPr/>
          <p:nvPr/>
        </p:nvSpPr>
        <p:spPr>
          <a:xfrm>
            <a:off x="411480" y="868680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«Якщо тіло рухається, на нього обов'язково діє ненульова рівнодійна сила». Чи правильне це твердження?</a:t>
            </a:r>
            <a:endParaRPr lang="en-US" sz="1900" dirty="0"/>
          </a:p>
        </p:txBody>
      </p:sp>
      <p:sp>
        <p:nvSpPr>
          <p:cNvPr id="4" name="q1_o0"/>
          <p:cNvSpPr/>
          <p:nvPr/>
        </p:nvSpPr>
        <p:spPr>
          <a:xfrm>
            <a:off x="411480" y="2243328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Ні, </a:t>
            </a:r>
            <a:r>
              <a:rPr lang="uk-UA" sz="1900" dirty="0">
                <a:solidFill>
                  <a:schemeClr val="tx1"/>
                </a:solidFill>
              </a:rPr>
              <a:t>рівнодійна </a:t>
            </a:r>
            <a:r>
              <a:rPr lang="en-US" sz="1900" dirty="0" err="1">
                <a:solidFill>
                  <a:schemeClr val="tx1"/>
                </a:solidFill>
              </a:rPr>
              <a:t>сил</a:t>
            </a:r>
            <a:r>
              <a:rPr lang="uk-UA" sz="1900" dirty="0">
                <a:solidFill>
                  <a:schemeClr val="tx1"/>
                </a:solidFill>
              </a:rPr>
              <a:t>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uk-UA" sz="1900" dirty="0">
                <a:solidFill>
                  <a:schemeClr val="tx1"/>
                </a:solidFill>
              </a:rPr>
              <a:t>не впливає </a:t>
            </a:r>
            <a:r>
              <a:rPr lang="en-US" sz="1900" dirty="0" err="1">
                <a:solidFill>
                  <a:schemeClr val="tx1"/>
                </a:solidFill>
              </a:rPr>
              <a:t>на</a:t>
            </a:r>
            <a:r>
              <a:rPr lang="en-US" sz="1900" dirty="0">
                <a:solidFill>
                  <a:schemeClr val="tx1"/>
                </a:solidFill>
              </a:rPr>
              <a:t> рух.</a:t>
            </a:r>
            <a:endParaRPr lang="en-US" sz="1900" dirty="0"/>
          </a:p>
        </p:txBody>
      </p:sp>
      <p:sp>
        <p:nvSpPr>
          <p:cNvPr id="5" name="q1_o1"/>
          <p:cNvSpPr/>
          <p:nvPr/>
        </p:nvSpPr>
        <p:spPr>
          <a:xfrm>
            <a:off x="411480" y="3038856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Так, за 2-м законом Ньютона.</a:t>
            </a:r>
            <a:endParaRPr lang="en-US" sz="1900" dirty="0"/>
          </a:p>
        </p:txBody>
      </p:sp>
      <p:sp>
        <p:nvSpPr>
          <p:cNvPr id="6" name="q1_o2"/>
          <p:cNvSpPr/>
          <p:nvPr/>
        </p:nvSpPr>
        <p:spPr>
          <a:xfrm>
            <a:off x="411480" y="3834384"/>
            <a:ext cx="3655466" cy="839216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Ні, за 1-м законом Ньютона тіло може </a:t>
            </a:r>
            <a:r>
              <a:rPr lang="en-US" sz="1900" dirty="0" err="1">
                <a:solidFill>
                  <a:schemeClr val="tx1"/>
                </a:solidFill>
              </a:rPr>
              <a:t>рухатися</a:t>
            </a:r>
            <a:r>
              <a:rPr lang="en-US" sz="1900" dirty="0">
                <a:solidFill>
                  <a:schemeClr val="tx1"/>
                </a:solidFill>
              </a:rPr>
              <a:t> і </a:t>
            </a:r>
            <a:r>
              <a:rPr lang="en-US" sz="1900" dirty="0" err="1">
                <a:solidFill>
                  <a:schemeClr val="tx1"/>
                </a:solidFill>
              </a:rPr>
              <a:t>при</a:t>
            </a:r>
            <a:r>
              <a:rPr lang="en-US" sz="1900" dirty="0">
                <a:solidFill>
                  <a:schemeClr val="tx1"/>
                </a:solidFill>
              </a:rPr>
              <a:t> F</a:t>
            </a:r>
            <a:r>
              <a:rPr lang="en-US" sz="1900" baseline="-40000" dirty="0">
                <a:solidFill>
                  <a:schemeClr val="tx1"/>
                </a:solidFill>
              </a:rPr>
              <a:t>net</a:t>
            </a:r>
            <a:r>
              <a:rPr lang="en-US" sz="1900" dirty="0">
                <a:solidFill>
                  <a:schemeClr val="tx1"/>
                </a:solidFill>
              </a:rPr>
              <a:t> = 0.</a:t>
            </a:r>
            <a:endParaRPr lang="en-US" sz="1900" dirty="0"/>
          </a:p>
        </p:txBody>
      </p:sp>
      <p:sp>
        <p:nvSpPr>
          <p:cNvPr id="7" name="q1_o3"/>
          <p:cNvSpPr/>
          <p:nvPr/>
        </p:nvSpPr>
        <p:spPr>
          <a:xfrm>
            <a:off x="411479" y="4828032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Так, </a:t>
            </a:r>
            <a:r>
              <a:rPr lang="uk-UA" sz="1900" dirty="0">
                <a:solidFill>
                  <a:schemeClr val="tx1"/>
                </a:solidFill>
              </a:rPr>
              <a:t>інакше не можна подолати вплив тертя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8" name="q1_ans"/>
          <p:cNvSpPr/>
          <p:nvPr/>
        </p:nvSpPr>
        <p:spPr>
          <a:xfrm>
            <a:off x="411480" y="3834384"/>
            <a:ext cx="3655466" cy="839216"/>
          </a:xfrm>
          <a:prstGeom prst="roundRect">
            <a:avLst>
              <a:gd name="adj" fmla="val 4186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C) Ні, за 1-м законом Ньютона тіло може </a:t>
            </a:r>
            <a:r>
              <a:rPr lang="en-US" sz="1900" b="1" dirty="0" err="1">
                <a:solidFill>
                  <a:schemeClr val="bg1"/>
                </a:solidFill>
              </a:rPr>
              <a:t>рухатися</a:t>
            </a:r>
            <a:r>
              <a:rPr lang="en-US" sz="1900" b="1" dirty="0">
                <a:solidFill>
                  <a:schemeClr val="bg1"/>
                </a:solidFill>
              </a:rPr>
              <a:t> і </a:t>
            </a:r>
            <a:r>
              <a:rPr lang="en-US" sz="1900" b="1" dirty="0" err="1">
                <a:solidFill>
                  <a:schemeClr val="bg1"/>
                </a:solidFill>
              </a:rPr>
              <a:t>при</a:t>
            </a:r>
            <a:r>
              <a:rPr lang="en-US" sz="1900" b="1" dirty="0">
                <a:solidFill>
                  <a:schemeClr val="bg1"/>
                </a:solidFill>
              </a:rPr>
              <a:t> F</a:t>
            </a:r>
            <a:r>
              <a:rPr lang="en-US" sz="1900" b="1" baseline="-40000" dirty="0">
                <a:solidFill>
                  <a:schemeClr val="bg1"/>
                </a:solidFill>
              </a:rPr>
              <a:t>net</a:t>
            </a:r>
            <a:r>
              <a:rPr lang="en-US" sz="1900" b="1" dirty="0">
                <a:solidFill>
                  <a:schemeClr val="bg1"/>
                </a:solidFill>
              </a:rPr>
              <a:t> = 0.</a:t>
            </a:r>
            <a:endParaRPr lang="en-US" sz="1900" dirty="0"/>
          </a:p>
        </p:txBody>
      </p:sp>
      <p:pic>
        <p:nvPicPr>
          <p:cNvPr id="9" name="q2_img" descr="Рисунок до запитання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610" y="868680"/>
            <a:ext cx="2612475" cy="1737360"/>
          </a:xfrm>
          <a:prstGeom prst="rect">
            <a:avLst/>
          </a:prstGeom>
        </p:spPr>
      </p:pic>
      <p:sp>
        <p:nvSpPr>
          <p:cNvPr id="10" name="q2_q"/>
          <p:cNvSpPr/>
          <p:nvPr/>
        </p:nvSpPr>
        <p:spPr>
          <a:xfrm>
            <a:off x="4268114" y="2670048"/>
            <a:ext cx="3655466" cy="131064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Запишіть повну кінетичну енергію суцільного циліндра, що котиться зі швидкістю v без проковзування.</a:t>
            </a:r>
            <a:endParaRPr lang="en-US" sz="1900" dirty="0"/>
          </a:p>
        </p:txBody>
      </p:sp>
      <p:sp>
        <p:nvSpPr>
          <p:cNvPr id="11" name="q2_o0"/>
          <p:cNvSpPr/>
          <p:nvPr/>
        </p:nvSpPr>
        <p:spPr>
          <a:xfrm>
            <a:off x="4268114" y="4044696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A) </a:t>
            </a:r>
            <a:r>
              <a:rPr lang="en-US" sz="1900" dirty="0">
                <a:solidFill>
                  <a:schemeClr val="tx1"/>
                </a:solidFill>
              </a:rPr>
              <a:t>Ek = m v²</a:t>
            </a:r>
            <a:endParaRPr lang="en-US" sz="1900" dirty="0"/>
          </a:p>
        </p:txBody>
      </p:sp>
      <p:sp>
        <p:nvSpPr>
          <p:cNvPr id="12" name="q2_o1"/>
          <p:cNvSpPr/>
          <p:nvPr/>
        </p:nvSpPr>
        <p:spPr>
          <a:xfrm>
            <a:off x="4268114" y="4550664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B) </a:t>
            </a:r>
            <a:r>
              <a:rPr lang="en-US" sz="1900" dirty="0">
                <a:solidFill>
                  <a:schemeClr val="tx1"/>
                </a:solidFill>
              </a:rPr>
              <a:t>Ek = (1/4) m v²</a:t>
            </a:r>
            <a:endParaRPr lang="en-US" sz="1900" dirty="0"/>
          </a:p>
        </p:txBody>
      </p:sp>
      <p:sp>
        <p:nvSpPr>
          <p:cNvPr id="13" name="q2_o2"/>
          <p:cNvSpPr/>
          <p:nvPr/>
        </p:nvSpPr>
        <p:spPr>
          <a:xfrm>
            <a:off x="4268114" y="5056632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C) </a:t>
            </a:r>
            <a:r>
              <a:rPr lang="en-US" sz="1900" dirty="0">
                <a:solidFill>
                  <a:schemeClr val="tx1"/>
                </a:solidFill>
              </a:rPr>
              <a:t>Ek = (1/2) m v²</a:t>
            </a:r>
            <a:endParaRPr lang="en-US" sz="1900" dirty="0"/>
          </a:p>
        </p:txBody>
      </p:sp>
      <p:sp>
        <p:nvSpPr>
          <p:cNvPr id="14" name="q2_o3"/>
          <p:cNvSpPr/>
          <p:nvPr/>
        </p:nvSpPr>
        <p:spPr>
          <a:xfrm>
            <a:off x="4268114" y="5562600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D) </a:t>
            </a:r>
            <a:r>
              <a:rPr lang="en-US" sz="1900" dirty="0">
                <a:solidFill>
                  <a:schemeClr val="tx1"/>
                </a:solidFill>
              </a:rPr>
              <a:t>Ek = (3/4) m v²</a:t>
            </a:r>
            <a:endParaRPr lang="en-US" sz="1900" dirty="0"/>
          </a:p>
        </p:txBody>
      </p:sp>
      <p:sp>
        <p:nvSpPr>
          <p:cNvPr id="15" name="q2_ans"/>
          <p:cNvSpPr/>
          <p:nvPr/>
        </p:nvSpPr>
        <p:spPr>
          <a:xfrm>
            <a:off x="4268114" y="5562600"/>
            <a:ext cx="3655466" cy="441960"/>
          </a:xfrm>
          <a:prstGeom prst="roundRect">
            <a:avLst>
              <a:gd name="adj" fmla="val 12414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✓ D) Ek = (3/4) m v²</a:t>
            </a:r>
            <a:endParaRPr lang="en-US" sz="1900" dirty="0"/>
          </a:p>
        </p:txBody>
      </p:sp>
      <p:sp>
        <p:nvSpPr>
          <p:cNvPr id="16" name="q3_q"/>
          <p:cNvSpPr/>
          <p:nvPr/>
        </p:nvSpPr>
        <p:spPr>
          <a:xfrm>
            <a:off x="8124749" y="868680"/>
            <a:ext cx="3655466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Який вигляд має ізохора на (pV)-діаграмі?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29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30981"/>
            <a:ext cx="3410621" cy="1815094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4004981" y="868680"/>
            <a:ext cx="7775235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Розкладіть силу тяжіння mg на похилій площині з кутом α на складові.</a:t>
            </a:r>
            <a:endParaRPr lang="en-US" sz="1700" dirty="0"/>
          </a:p>
        </p:txBody>
      </p:sp>
      <p:sp>
        <p:nvSpPr>
          <p:cNvPr id="5" name="q1_o0"/>
          <p:cNvSpPr/>
          <p:nvPr/>
        </p:nvSpPr>
        <p:spPr>
          <a:xfrm>
            <a:off x="4004981" y="1344168"/>
            <a:ext cx="3855613" cy="92964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Паралельна площині: mg sin α; перпендикулярна площині: mg cos α.</a:t>
            </a:r>
            <a:endParaRPr lang="en-US" sz="1700" dirty="0"/>
          </a:p>
        </p:txBody>
      </p:sp>
      <p:sp>
        <p:nvSpPr>
          <p:cNvPr id="6" name="q1_o1"/>
          <p:cNvSpPr/>
          <p:nvPr/>
        </p:nvSpPr>
        <p:spPr>
          <a:xfrm>
            <a:off x="7924602" y="1344168"/>
            <a:ext cx="3855613" cy="929640"/>
          </a:xfrm>
          <a:prstGeom prst="roundRect">
            <a:avLst>
              <a:gd name="adj" fmla="val 590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Обидві </a:t>
            </a:r>
            <a:r>
              <a:rPr lang="en-US" sz="1700" dirty="0" err="1">
                <a:solidFill>
                  <a:schemeClr val="tx1"/>
                </a:solidFill>
              </a:rPr>
              <a:t>дорівнюють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0,5 </a:t>
            </a:r>
            <a:r>
              <a:rPr lang="en-US" sz="1700" dirty="0">
                <a:solidFill>
                  <a:schemeClr val="tx1"/>
                </a:solidFill>
              </a:rPr>
              <a:t>mg.</a:t>
            </a:r>
            <a:endParaRPr lang="en-US" sz="1700" dirty="0"/>
          </a:p>
        </p:txBody>
      </p:sp>
      <p:sp>
        <p:nvSpPr>
          <p:cNvPr id="7" name="q1_o2"/>
          <p:cNvSpPr/>
          <p:nvPr/>
        </p:nvSpPr>
        <p:spPr>
          <a:xfrm>
            <a:off x="4004981" y="2337816"/>
            <a:ext cx="3855613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Обидві дорівнюють mg sin α.</a:t>
            </a:r>
            <a:endParaRPr lang="en-US" sz="1700" dirty="0"/>
          </a:p>
        </p:txBody>
      </p:sp>
      <p:sp>
        <p:nvSpPr>
          <p:cNvPr id="8" name="q1_o3"/>
          <p:cNvSpPr/>
          <p:nvPr/>
        </p:nvSpPr>
        <p:spPr>
          <a:xfrm>
            <a:off x="7924602" y="2337816"/>
            <a:ext cx="3855613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Паралельна: mg cos α; перпендикулярна: mg sin α.</a:t>
            </a:r>
            <a:endParaRPr lang="en-US" sz="1700" dirty="0"/>
          </a:p>
        </p:txBody>
      </p:sp>
      <p:sp>
        <p:nvSpPr>
          <p:cNvPr id="9" name="q1_ans"/>
          <p:cNvSpPr/>
          <p:nvPr/>
        </p:nvSpPr>
        <p:spPr>
          <a:xfrm>
            <a:off x="4004981" y="1344168"/>
            <a:ext cx="3855613" cy="929640"/>
          </a:xfrm>
          <a:prstGeom prst="roundRect">
            <a:avLst>
              <a:gd name="adj" fmla="val 590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A) Паралельна площині: mg sin α; перпендикулярна площині: mg cos α.</a:t>
            </a:r>
            <a:endParaRPr lang="en-US" sz="1700" dirty="0"/>
          </a:p>
        </p:txBody>
      </p:sp>
      <p:sp>
        <p:nvSpPr>
          <p:cNvPr id="10" name="q2_q"/>
          <p:cNvSpPr/>
          <p:nvPr/>
        </p:nvSpPr>
        <p:spPr>
          <a:xfrm>
            <a:off x="411480" y="3326892"/>
            <a:ext cx="11368735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Що таке плече сили?</a:t>
            </a:r>
            <a:endParaRPr lang="en-US" sz="1700" dirty="0"/>
          </a:p>
        </p:txBody>
      </p:sp>
      <p:sp>
        <p:nvSpPr>
          <p:cNvPr id="11" name="q2_o0"/>
          <p:cNvSpPr/>
          <p:nvPr/>
        </p:nvSpPr>
        <p:spPr>
          <a:xfrm>
            <a:off x="411480" y="380238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Довжина всієї системи.</a:t>
            </a:r>
            <a:endParaRPr lang="en-US" sz="1700" dirty="0"/>
          </a:p>
        </p:txBody>
      </p:sp>
      <p:sp>
        <p:nvSpPr>
          <p:cNvPr id="12" name="q2_o1"/>
          <p:cNvSpPr/>
          <p:nvPr/>
        </p:nvSpPr>
        <p:spPr>
          <a:xfrm>
            <a:off x="6127852" y="380238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 err="1">
                <a:solidFill>
                  <a:schemeClr val="tx1"/>
                </a:solidFill>
              </a:rPr>
              <a:t>Вектор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між тілом і точкою прикладення сили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3" name="q2_o2"/>
          <p:cNvSpPr/>
          <p:nvPr/>
        </p:nvSpPr>
        <p:spPr>
          <a:xfrm>
            <a:off x="411480" y="4277868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>
                <a:solidFill>
                  <a:schemeClr val="tx1"/>
                </a:solidFill>
              </a:rPr>
              <a:t>Перпендикуляр, опущений з осі обертання на лінію дії сили.</a:t>
            </a:r>
            <a:endParaRPr lang="en-US" sz="1700" dirty="0"/>
          </a:p>
        </p:txBody>
      </p:sp>
      <p:sp>
        <p:nvSpPr>
          <p:cNvPr id="14" name="q2_o3"/>
          <p:cNvSpPr/>
          <p:nvPr/>
        </p:nvSpPr>
        <p:spPr>
          <a:xfrm>
            <a:off x="6127852" y="4277868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>
                <a:solidFill>
                  <a:schemeClr val="tx1"/>
                </a:solidFill>
              </a:rPr>
              <a:t>Відстань між точками прикладання двох сил.</a:t>
            </a:r>
            <a:endParaRPr lang="en-US" sz="1700" dirty="0"/>
          </a:p>
        </p:txBody>
      </p:sp>
      <p:sp>
        <p:nvSpPr>
          <p:cNvPr id="15" name="q2_ans"/>
          <p:cNvSpPr/>
          <p:nvPr/>
        </p:nvSpPr>
        <p:spPr>
          <a:xfrm>
            <a:off x="411480" y="4277868"/>
            <a:ext cx="5652364" cy="670560"/>
          </a:xfrm>
          <a:prstGeom prst="roundRect">
            <a:avLst>
              <a:gd name="adj" fmla="val 8182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C) Перпендикуляр, опущений з осі обертання на лінію дії сили.</a:t>
            </a:r>
            <a:endParaRPr lang="en-US" sz="1700" dirty="0"/>
          </a:p>
        </p:txBody>
      </p:sp>
      <p:sp>
        <p:nvSpPr>
          <p:cNvPr id="16" name="q3_q"/>
          <p:cNvSpPr/>
          <p:nvPr/>
        </p:nvSpPr>
        <p:spPr>
          <a:xfrm>
            <a:off x="411480" y="5266944"/>
            <a:ext cx="11368735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Як називається процес, під час якого газ отримує теплоту, але його температура не змінюється?</a:t>
            </a:r>
            <a:endParaRPr lang="en-US" sz="1700" dirty="0"/>
          </a:p>
        </p:txBody>
      </p:sp>
      <p:sp>
        <p:nvSpPr>
          <p:cNvPr id="17" name="q3_o0"/>
          <p:cNvSpPr/>
          <p:nvPr/>
        </p:nvSpPr>
        <p:spPr>
          <a:xfrm>
            <a:off x="411480" y="5742432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A) </a:t>
            </a:r>
            <a:r>
              <a:rPr lang="en-US" sz="1700" dirty="0">
                <a:solidFill>
                  <a:schemeClr val="tx1"/>
                </a:solidFill>
              </a:rPr>
              <a:t>Ізобарне охолодження.</a:t>
            </a:r>
            <a:endParaRPr lang="en-US" sz="1700" dirty="0"/>
          </a:p>
        </p:txBody>
      </p:sp>
      <p:sp>
        <p:nvSpPr>
          <p:cNvPr id="18" name="q3_o1"/>
          <p:cNvSpPr/>
          <p:nvPr/>
        </p:nvSpPr>
        <p:spPr>
          <a:xfrm>
            <a:off x="6127852" y="5742432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B) </a:t>
            </a:r>
            <a:r>
              <a:rPr lang="en-US" sz="1700" dirty="0">
                <a:solidFill>
                  <a:schemeClr val="tx1"/>
                </a:solidFill>
              </a:rPr>
              <a:t>Ізохорне нагрівання.</a:t>
            </a:r>
            <a:endParaRPr lang="en-US" sz="1700" dirty="0"/>
          </a:p>
        </p:txBody>
      </p:sp>
      <p:sp>
        <p:nvSpPr>
          <p:cNvPr id="19" name="q3_o2"/>
          <p:cNvSpPr/>
          <p:nvPr/>
        </p:nvSpPr>
        <p:spPr>
          <a:xfrm>
            <a:off x="411480" y="621792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C) </a:t>
            </a:r>
            <a:r>
              <a:rPr lang="en-US" sz="1700" dirty="0" err="1">
                <a:solidFill>
                  <a:schemeClr val="tx1"/>
                </a:solidFill>
              </a:rPr>
              <a:t>Адіабатне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uk-UA" sz="1700" dirty="0">
                <a:solidFill>
                  <a:schemeClr val="tx1"/>
                </a:solidFill>
              </a:rPr>
              <a:t>стиснення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q3_o3"/>
          <p:cNvSpPr/>
          <p:nvPr/>
        </p:nvSpPr>
        <p:spPr>
          <a:xfrm>
            <a:off x="6127852" y="621792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D) </a:t>
            </a:r>
            <a:r>
              <a:rPr lang="en-US" sz="1700" dirty="0" err="1">
                <a:solidFill>
                  <a:schemeClr val="tx1"/>
                </a:solidFill>
              </a:rPr>
              <a:t>Ізотермічне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dirty="0" err="1">
                <a:solidFill>
                  <a:schemeClr val="tx1"/>
                </a:solidFill>
              </a:rPr>
              <a:t>розширення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1" name="q3_ans"/>
          <p:cNvSpPr/>
          <p:nvPr/>
        </p:nvSpPr>
        <p:spPr>
          <a:xfrm>
            <a:off x="6127852" y="6217920"/>
            <a:ext cx="5652364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D) </a:t>
            </a:r>
            <a:r>
              <a:rPr lang="en-US" sz="1700" b="1" dirty="0" err="1">
                <a:solidFill>
                  <a:schemeClr val="bg1"/>
                </a:solidFill>
              </a:rPr>
              <a:t>Ізотермічне</a:t>
            </a:r>
            <a:r>
              <a:rPr lang="en-US" sz="1700" b="1" dirty="0">
                <a:solidFill>
                  <a:schemeClr val="bg1"/>
                </a:solidFill>
              </a:rPr>
              <a:t> </a:t>
            </a:r>
            <a:r>
              <a:rPr lang="en-US" sz="1700" b="1" dirty="0" err="1">
                <a:solidFill>
                  <a:schemeClr val="bg1"/>
                </a:solidFill>
              </a:rPr>
              <a:t>розширення</a:t>
            </a:r>
            <a:r>
              <a:rPr lang="en-US" sz="1700" b="1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Набір завдань № 30</a:t>
            </a:r>
            <a:endParaRPr lang="en-US" sz="2600" dirty="0"/>
          </a:p>
        </p:txBody>
      </p:sp>
      <p:pic>
        <p:nvPicPr>
          <p:cNvPr id="3" name="q1_img" descr="Рисунок до запитання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3369809" cy="1834896"/>
          </a:xfrm>
          <a:prstGeom prst="rect">
            <a:avLst/>
          </a:prstGeom>
        </p:spPr>
      </p:pic>
      <p:sp>
        <p:nvSpPr>
          <p:cNvPr id="4" name="q1_q"/>
          <p:cNvSpPr/>
          <p:nvPr/>
        </p:nvSpPr>
        <p:spPr>
          <a:xfrm>
            <a:off x="3964169" y="868680"/>
            <a:ext cx="7816046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Що можна сказати про горизонтальну компоненту швидкості v</a:t>
            </a:r>
            <a:r>
              <a:rPr lang="en-US" sz="1600" b="1" baseline="-40000" dirty="0">
                <a:solidFill>
                  <a:schemeClr val="tx1"/>
                </a:solidFill>
              </a:rPr>
              <a:t>x</a:t>
            </a:r>
            <a:r>
              <a:rPr lang="en-US" sz="1600" b="1" dirty="0">
                <a:solidFill>
                  <a:schemeClr val="tx1"/>
                </a:solidFill>
              </a:rPr>
              <a:t> при польоті тіла, кинутого під кутом до горизонту без опору повітря?</a:t>
            </a:r>
            <a:endParaRPr lang="en-US" sz="1600" dirty="0"/>
          </a:p>
        </p:txBody>
      </p:sp>
      <p:sp>
        <p:nvSpPr>
          <p:cNvPr id="5" name="q1_o0"/>
          <p:cNvSpPr/>
          <p:nvPr/>
        </p:nvSpPr>
        <p:spPr>
          <a:xfrm>
            <a:off x="3964169" y="1572768"/>
            <a:ext cx="3876019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A) </a:t>
            </a:r>
            <a:r>
              <a:rPr lang="en-US" sz="1600" dirty="0">
                <a:solidFill>
                  <a:schemeClr val="tx1"/>
                </a:solidFill>
              </a:rPr>
              <a:t>Вона </a:t>
            </a:r>
            <a:r>
              <a:rPr lang="en-US" sz="1600" dirty="0" err="1">
                <a:solidFill>
                  <a:schemeClr val="tx1"/>
                </a:solidFill>
              </a:rPr>
              <a:t>змінюється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uk-UA" sz="1600" dirty="0">
                <a:solidFill>
                  <a:schemeClr val="tx1"/>
                </a:solidFill>
              </a:rPr>
              <a:t>за лінійним законом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q1_o1"/>
          <p:cNvSpPr/>
          <p:nvPr/>
        </p:nvSpPr>
        <p:spPr>
          <a:xfrm>
            <a:off x="7904196" y="1572768"/>
            <a:ext cx="3876019" cy="883920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B) </a:t>
            </a:r>
            <a:r>
              <a:rPr lang="en-US" sz="1600" dirty="0">
                <a:solidFill>
                  <a:schemeClr val="tx1"/>
                </a:solidFill>
              </a:rPr>
              <a:t>Вона залишається постійною протягом </a:t>
            </a:r>
            <a:r>
              <a:rPr lang="en-US" sz="1600" dirty="0" err="1">
                <a:solidFill>
                  <a:schemeClr val="tx1"/>
                </a:solidFill>
              </a:rPr>
              <a:t>усього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польоту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q1_o2"/>
          <p:cNvSpPr/>
          <p:nvPr/>
        </p:nvSpPr>
        <p:spPr>
          <a:xfrm>
            <a:off x="3964169" y="2520696"/>
            <a:ext cx="3876019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C) </a:t>
            </a:r>
            <a:r>
              <a:rPr lang="en-US" sz="1600" dirty="0">
                <a:solidFill>
                  <a:schemeClr val="tx1"/>
                </a:solidFill>
              </a:rPr>
              <a:t>Вона зростає.</a:t>
            </a:r>
            <a:endParaRPr lang="en-US" sz="1600" dirty="0"/>
          </a:p>
        </p:txBody>
      </p:sp>
      <p:sp>
        <p:nvSpPr>
          <p:cNvPr id="8" name="q1_o3"/>
          <p:cNvSpPr/>
          <p:nvPr/>
        </p:nvSpPr>
        <p:spPr>
          <a:xfrm>
            <a:off x="7904196" y="2520696"/>
            <a:ext cx="3876019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D) </a:t>
            </a:r>
            <a:r>
              <a:rPr lang="en-US" sz="1600" dirty="0">
                <a:solidFill>
                  <a:schemeClr val="tx1"/>
                </a:solidFill>
              </a:rPr>
              <a:t>Вона зменшується до нуля у верхній точці.</a:t>
            </a:r>
            <a:endParaRPr lang="en-US" sz="1600" dirty="0"/>
          </a:p>
        </p:txBody>
      </p:sp>
      <p:sp>
        <p:nvSpPr>
          <p:cNvPr id="9" name="q1_ans"/>
          <p:cNvSpPr/>
          <p:nvPr/>
        </p:nvSpPr>
        <p:spPr>
          <a:xfrm>
            <a:off x="7904197" y="1572768"/>
            <a:ext cx="3876019" cy="883920"/>
          </a:xfrm>
          <a:prstGeom prst="roundRect">
            <a:avLst>
              <a:gd name="adj" fmla="val 620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B) Вона залишається постійною протягом </a:t>
            </a:r>
            <a:r>
              <a:rPr lang="en-US" sz="1600" b="1" dirty="0" err="1">
                <a:solidFill>
                  <a:schemeClr val="bg1"/>
                </a:solidFill>
              </a:rPr>
              <a:t>усього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польоту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q2_q"/>
          <p:cNvSpPr/>
          <p:nvPr/>
        </p:nvSpPr>
        <p:spPr>
          <a:xfrm>
            <a:off x="411480" y="3334512"/>
            <a:ext cx="11368735" cy="39624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Від чого залежить момент інерції тіла?</a:t>
            </a:r>
            <a:endParaRPr lang="en-US" sz="1600" dirty="0"/>
          </a:p>
        </p:txBody>
      </p:sp>
      <p:sp>
        <p:nvSpPr>
          <p:cNvPr id="11" name="q2_o0"/>
          <p:cNvSpPr/>
          <p:nvPr/>
        </p:nvSpPr>
        <p:spPr>
          <a:xfrm>
            <a:off x="411480" y="3794760"/>
            <a:ext cx="5652364" cy="39624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A) </a:t>
            </a:r>
            <a:r>
              <a:rPr lang="uk-UA" sz="1600" dirty="0">
                <a:solidFill>
                  <a:schemeClr val="tx1"/>
                </a:solidFill>
              </a:rPr>
              <a:t>В</a:t>
            </a:r>
            <a:r>
              <a:rPr lang="en-US" sz="1600" dirty="0" err="1">
                <a:solidFill>
                  <a:schemeClr val="tx1"/>
                </a:solidFill>
              </a:rPr>
              <a:t>ід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кутової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швидкості</a:t>
            </a:r>
            <a:r>
              <a:rPr lang="uk-UA" sz="1600" dirty="0">
                <a:solidFill>
                  <a:schemeClr val="tx1"/>
                </a:solidFill>
              </a:rPr>
              <a:t> обертання на моменту імпульсу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q2_o1"/>
          <p:cNvSpPr/>
          <p:nvPr/>
        </p:nvSpPr>
        <p:spPr>
          <a:xfrm>
            <a:off x="6127852" y="3794760"/>
            <a:ext cx="5652364" cy="39624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B) </a:t>
            </a:r>
            <a:r>
              <a:rPr lang="en-US" sz="1600" dirty="0" err="1">
                <a:solidFill>
                  <a:schemeClr val="tx1"/>
                </a:solidFill>
              </a:rPr>
              <a:t>Від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uk-UA" sz="1600" dirty="0">
                <a:solidFill>
                  <a:schemeClr val="tx1"/>
                </a:solidFill>
              </a:rPr>
              <a:t>маси тіла та його моменту імпульсу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q2_o2"/>
          <p:cNvSpPr/>
          <p:nvPr/>
        </p:nvSpPr>
        <p:spPr>
          <a:xfrm>
            <a:off x="411480" y="4255008"/>
            <a:ext cx="5652364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C) </a:t>
            </a:r>
            <a:r>
              <a:rPr lang="en-US" sz="1600" dirty="0">
                <a:solidFill>
                  <a:schemeClr val="tx1"/>
                </a:solidFill>
              </a:rPr>
              <a:t>Від </a:t>
            </a:r>
            <a:r>
              <a:rPr lang="en-US" sz="1600" dirty="0" err="1">
                <a:solidFill>
                  <a:schemeClr val="tx1"/>
                </a:solidFill>
              </a:rPr>
              <a:t>маси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тіла</a:t>
            </a:r>
            <a:r>
              <a:rPr lang="uk-UA" sz="1600" dirty="0">
                <a:solidFill>
                  <a:schemeClr val="tx1"/>
                </a:solidFill>
              </a:rPr>
              <a:t> та </a:t>
            </a:r>
            <a:r>
              <a:rPr lang="en-US" sz="1600" dirty="0" err="1">
                <a:solidFill>
                  <a:schemeClr val="tx1"/>
                </a:solidFill>
              </a:rPr>
              <a:t>її</a:t>
            </a:r>
            <a:r>
              <a:rPr lang="en-US" sz="1600" dirty="0">
                <a:solidFill>
                  <a:schemeClr val="tx1"/>
                </a:solidFill>
              </a:rPr>
              <a:t> розподілу відносно </a:t>
            </a:r>
            <a:r>
              <a:rPr lang="en-US" sz="1600" dirty="0" err="1">
                <a:solidFill>
                  <a:schemeClr val="tx1"/>
                </a:solidFill>
              </a:rPr>
              <a:t>осі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обертання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4" name="q2_o3"/>
          <p:cNvSpPr/>
          <p:nvPr/>
        </p:nvSpPr>
        <p:spPr>
          <a:xfrm>
            <a:off x="6127852" y="4255008"/>
            <a:ext cx="5652364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chemeClr val="accent6">
                <a:alpha val="50000"/>
              </a:schemeClr>
            </a:solidFill>
          </a:ln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D) </a:t>
            </a:r>
            <a:r>
              <a:rPr lang="en-US" sz="1600" dirty="0">
                <a:solidFill>
                  <a:schemeClr val="tx1"/>
                </a:solidFill>
              </a:rPr>
              <a:t>Тільки від сили тяжіння.</a:t>
            </a:r>
            <a:endParaRPr lang="en-US" sz="1600" dirty="0"/>
          </a:p>
        </p:txBody>
      </p:sp>
      <p:sp>
        <p:nvSpPr>
          <p:cNvPr id="15" name="q2_ans"/>
          <p:cNvSpPr/>
          <p:nvPr/>
        </p:nvSpPr>
        <p:spPr>
          <a:xfrm>
            <a:off x="411480" y="4255008"/>
            <a:ext cx="5652364" cy="64008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C) Від </a:t>
            </a:r>
            <a:r>
              <a:rPr lang="en-US" sz="1600" b="1" dirty="0" err="1">
                <a:solidFill>
                  <a:schemeClr val="bg1"/>
                </a:solidFill>
              </a:rPr>
              <a:t>маси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тіла</a:t>
            </a:r>
            <a:r>
              <a:rPr lang="uk-UA" sz="1600" b="1" dirty="0">
                <a:solidFill>
                  <a:schemeClr val="bg1"/>
                </a:solidFill>
              </a:rPr>
              <a:t> та </a:t>
            </a:r>
            <a:r>
              <a:rPr lang="en-US" sz="1600" b="1" dirty="0" err="1">
                <a:solidFill>
                  <a:schemeClr val="bg1"/>
                </a:solidFill>
              </a:rPr>
              <a:t>її</a:t>
            </a:r>
            <a:r>
              <a:rPr lang="en-US" sz="1600" b="1" dirty="0">
                <a:solidFill>
                  <a:schemeClr val="bg1"/>
                </a:solidFill>
              </a:rPr>
              <a:t> розподілу відносно </a:t>
            </a:r>
            <a:r>
              <a:rPr lang="en-US" sz="1600" b="1" dirty="0" err="1">
                <a:solidFill>
                  <a:schemeClr val="bg1"/>
                </a:solidFill>
              </a:rPr>
              <a:t>осі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обертання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16" name="q3_q"/>
          <p:cNvSpPr/>
          <p:nvPr/>
        </p:nvSpPr>
        <p:spPr>
          <a:xfrm>
            <a:off x="411480" y="5068824"/>
            <a:ext cx="11368735" cy="396240"/>
          </a:xfrm>
          <a:prstGeom prst="roundRect">
            <a:avLst>
              <a:gd name="adj" fmla="val 13846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Що таке молярна теплоємність газу при сталому тиску Cp? Від чого вона залежить?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Фізика">
  <a:themeElements>
    <a:clrScheme name="Фізика">
      <a:dk1>
        <a:srgbClr val="1F2937"/>
      </a:dk1>
      <a:lt1>
        <a:srgbClr val="FFFFFF"/>
      </a:lt1>
      <a:dk2>
        <a:srgbClr val="1B2A49"/>
      </a:dk2>
      <a:lt2>
        <a:srgbClr val="EAF0F8"/>
      </a:lt2>
      <a:accent1>
        <a:srgbClr val="C2410C"/>
      </a:accent1>
      <a:accent2>
        <a:srgbClr val="0F766E"/>
      </a:accent2>
      <a:accent3>
        <a:srgbClr val="1D4ED8"/>
      </a:accent3>
      <a:accent4>
        <a:srgbClr val="7C3AED"/>
      </a:accent4>
      <a:accent5>
        <a:srgbClr val="B45309"/>
      </a:accent5>
      <a:accent6>
        <a:srgbClr val="475569"/>
      </a:accent6>
      <a:hlink>
        <a:srgbClr val="1D4ED8"/>
      </a:hlink>
      <a:folHlink>
        <a:srgbClr val="7C3AED"/>
      </a:folHlink>
    </a:clrScheme>
    <a:fontScheme name="Фізика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5562</Words>
  <Application>Microsoft Office PowerPoint</Application>
  <PresentationFormat>Широкий екран</PresentationFormat>
  <Paragraphs>576</Paragraphs>
  <Slides>30</Slides>
  <Notes>30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30</vt:i4>
      </vt:variant>
    </vt:vector>
  </HeadingPairs>
  <TitlesOfParts>
    <vt:vector size="32" baseType="lpstr">
      <vt:lpstr>Arial</vt:lpstr>
      <vt:lpstr>Фізика</vt:lpstr>
      <vt:lpstr>Набір завдань № 1</vt:lpstr>
      <vt:lpstr>Набір завдань № 2</vt:lpstr>
      <vt:lpstr>Набір завдань № 3</vt:lpstr>
      <vt:lpstr>Набір завдань № 4</vt:lpstr>
      <vt:lpstr>Набір завдань № 5</vt:lpstr>
      <vt:lpstr>Набір завдань № 6</vt:lpstr>
      <vt:lpstr>Набір завдань № 7</vt:lpstr>
      <vt:lpstr>Набір завдань № 8</vt:lpstr>
      <vt:lpstr>Набір завдань № 9</vt:lpstr>
      <vt:lpstr>Набір завдань № 10</vt:lpstr>
      <vt:lpstr>Набір завдань № 11</vt:lpstr>
      <vt:lpstr>Набір завдань № 12</vt:lpstr>
      <vt:lpstr>Набір завдань № 13</vt:lpstr>
      <vt:lpstr>Набір завдань № 14</vt:lpstr>
      <vt:lpstr>Набір завдань № 15</vt:lpstr>
      <vt:lpstr>Набір завдань № 16</vt:lpstr>
      <vt:lpstr>Набір завдань № 17</vt:lpstr>
      <vt:lpstr>Набір завдань № 18</vt:lpstr>
      <vt:lpstr>Набір завдань № 19</vt:lpstr>
      <vt:lpstr>Набір завдань № 20</vt:lpstr>
      <vt:lpstr>Набір завдань № 21</vt:lpstr>
      <vt:lpstr>Набір завдань № 22</vt:lpstr>
      <vt:lpstr>Набір завдань № 23</vt:lpstr>
      <vt:lpstr>Набір завдань № 24</vt:lpstr>
      <vt:lpstr>Набір завдань № 25</vt:lpstr>
      <vt:lpstr>Набір завдань № 26</vt:lpstr>
      <vt:lpstr>Набір завдань № 27</vt:lpstr>
      <vt:lpstr>Набір завдань № 28</vt:lpstr>
      <vt:lpstr>Набір завдань № 29</vt:lpstr>
      <vt:lpstr>Набір завдань №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Набори завдань з фізики (тести)</dc:title>
  <dc:subject>PptxGenJS Presentation</dc:subject>
  <dc:creator>PptxGenJS</dc:creator>
  <cp:lastModifiedBy>oleg</cp:lastModifiedBy>
  <cp:revision>40</cp:revision>
  <dcterms:created xsi:type="dcterms:W3CDTF">2026-10-13T20:44:58Z</dcterms:created>
  <dcterms:modified xsi:type="dcterms:W3CDTF">2026-10-20T11:21:06Z</dcterms:modified>
</cp:coreProperties>
</file>